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4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6 — LIVE SITE SCREENSHOTS</a:t>
            </a:r>
          </a:p>
          <a:p>
            <a:endParaRPr/>
          </a:p>
          <a:p>
            <a:r>
              <a:t>How to capture each of the 4 placeholders on this slide. The deck is at</a:t>
            </a:r>
          </a:p>
          <a:p>
            <a:r>
              <a:t>docs/VitalScan_Group1_Backend_System_Architecture.pptx — drop screenshots in</a:t>
            </a:r>
          </a:p>
          <a:p>
            <a:r>
              <a:t>by right-clicking each placeholder → "Change Picture" → "From File".</a:t>
            </a:r>
          </a:p>
          <a:p>
            <a:endParaRPr/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1 · WEBCAM CAPTURE (30-second countdown + camera permission)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  a. Open Chrome → https://vitalscan.bkre8tive.com on a Mac/PC with webcam.</a:t>
            </a:r>
          </a:p>
          <a:p>
            <a:r>
              <a:t>  b. Click the "Scan live" button.</a:t>
            </a:r>
          </a:p>
          <a:p>
            <a:r>
              <a:t>  c. Allow camera permission when the browser asks.</a:t>
            </a:r>
          </a:p>
          <a:p>
            <a:r>
              <a:t>  d. The recording UI appears: face preview, corner viewfinder brackets,</a:t>
            </a:r>
          </a:p>
          <a:p>
            <a:r>
              <a:t>     red REC dot top-right, sweeping scan line, countdown ticking down.</a:t>
            </a:r>
          </a:p>
          <a:p>
            <a:r>
              <a:t>  e. Capture mid-recording (so the REC dot + countdown are both visible):</a:t>
            </a:r>
          </a:p>
          <a:p>
            <a:r>
              <a:t>       Cmd + Shift + 4   →   drag a rectangle around the camera modal</a:t>
            </a:r>
          </a:p>
          <a:p>
            <a:r>
              <a:t>     (or hit Space after Cmd+Shift+4 to switch to window-capture mode)</a:t>
            </a:r>
          </a:p>
          <a:p>
            <a:r>
              <a:t>  f. Saves to Desktop as "Screenshot YYYY-MM-DD at HH.MM.SS.png".</a:t>
            </a:r>
          </a:p>
          <a:p>
            <a:endParaRPr/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2 · DASHBOARD (body figure + biomarker cards — the hero shot)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  a. After a scan completes, OR just use the persisted state on first load.</a:t>
            </a:r>
          </a:p>
          <a:p>
            <a:r>
              <a:t>  b. Make sure all 4 biomarker cards show real values (HR, HRV, stress, BP)</a:t>
            </a:r>
          </a:p>
          <a:p>
            <a:r>
              <a:t>     and the body-figure markers are colored (green / amber / red).</a:t>
            </a:r>
          </a:p>
          <a:p>
            <a:r>
              <a:t>  c. Capture:</a:t>
            </a:r>
          </a:p>
          <a:p>
            <a:r>
              <a:t>       Cmd + Shift + 4   →   drag a rectangle around the WHOLE main panel:</a:t>
            </a:r>
          </a:p>
          <a:p>
            <a:r>
              <a:t>       body figure on the left + 4 biomarker cards on the right</a:t>
            </a:r>
          </a:p>
          <a:p>
            <a:r>
              <a:t>  d. Frame tight — don't include the bookmarks bar or browser chrome.</a:t>
            </a:r>
          </a:p>
          <a:p>
            <a:endParaRPr/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3 · BIOMARKERS (zoomed-in view of HR / HRV / stress / BP cards)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  Two ways to do this — pick whichever looks crisper:</a:t>
            </a:r>
          </a:p>
          <a:p>
            <a:r>
              <a:t>  Option A (preferred — sharper text):</a:t>
            </a:r>
          </a:p>
          <a:p>
            <a:r>
              <a:t>    a. In Chrome, press Cmd + Plus a couple of times to zoom to ~150 %.</a:t>
            </a:r>
          </a:p>
          <a:p>
            <a:r>
              <a:t>    b. Cmd + Shift + 4 → drag a rectangle around just the 4 cards.</a:t>
            </a:r>
          </a:p>
          <a:p>
            <a:r>
              <a:t>    c. Reset zoom with Cmd + 0 when done.</a:t>
            </a:r>
          </a:p>
          <a:p>
            <a:r>
              <a:t>  Option B (faster):</a:t>
            </a:r>
          </a:p>
          <a:p>
            <a:r>
              <a:t>    a. Cmd + Shift + 4 → drag a tight crop around just the 4 cards.</a:t>
            </a:r>
          </a:p>
          <a:p>
            <a:r>
              <a:t>  Make sure the status labels are visible ("Normal range", "Healthy</a:t>
            </a:r>
          </a:p>
          <a:p>
            <a:r>
              <a:t>  range", "Moderate", "Elevated") — those carry the meaning.</a:t>
            </a:r>
          </a:p>
          <a:p>
            <a:endParaRPr/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4 · JSON (/scan response in Chrome DevTools)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  a. On vitalscan.bkre8tive.com, open DevTools:  Cmd + Option + I  (or F12)</a:t>
            </a:r>
          </a:p>
          <a:p>
            <a:r>
              <a:t>  b. Click the "Network" tab.</a:t>
            </a:r>
          </a:p>
          <a:p>
            <a:r>
              <a:t>  c. In the filter box, type:  scan</a:t>
            </a:r>
          </a:p>
          <a:p>
            <a:r>
              <a:t>  d. Click "Scan live" or "Upload video" to trigger a scan request.</a:t>
            </a:r>
          </a:p>
          <a:p>
            <a:r>
              <a:t>  e. When the /scan POST completes, click the request row.</a:t>
            </a:r>
          </a:p>
          <a:p>
            <a:r>
              <a:t>  f. Click the "Response" tab in the DevTools right panel — you'll see:</a:t>
            </a:r>
          </a:p>
          <a:p>
            <a:r>
              <a:t>       {</a:t>
            </a:r>
          </a:p>
          <a:p>
            <a:r>
              <a:t>         "biomarkers": {</a:t>
            </a:r>
          </a:p>
          <a:p>
            <a:r>
              <a:t>           "heart_rate": 72,</a:t>
            </a:r>
          </a:p>
          <a:p>
            <a:r>
              <a:t>           "hrv_sdnn": 45,</a:t>
            </a:r>
          </a:p>
          <a:p>
            <a:r>
              <a:t>           "stress_index": 0.6,</a:t>
            </a:r>
          </a:p>
          <a:p>
            <a:r>
              <a:t>           "blood_pressure": { "systolic": 138, "diastolic": 88 }</a:t>
            </a:r>
          </a:p>
          <a:p>
            <a:r>
              <a:t>         }</a:t>
            </a:r>
          </a:p>
          <a:p>
            <a:r>
              <a:t>       }</a:t>
            </a:r>
          </a:p>
          <a:p>
            <a:r>
              <a:t>  g. Capture:</a:t>
            </a:r>
          </a:p>
          <a:p>
            <a:r>
              <a:t>       Cmd + Shift + 4   →   drag a rectangle around the DevTools panel,</a:t>
            </a:r>
          </a:p>
          <a:p>
            <a:r>
              <a:t>       framing BOTH the request row at the top and the JSON response below.</a:t>
            </a:r>
          </a:p>
          <a:p>
            <a:r>
              <a:t>  h. If the JSON is collapsed, click the disclosure triangles to expand it</a:t>
            </a:r>
          </a:p>
          <a:p>
            <a:r>
              <a:t>     before capturing — readability over completeness.</a:t>
            </a:r>
          </a:p>
          <a:p>
            <a:endParaRPr/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INSERTING INTO THIS SLIDE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  • Open this deck in PowerPoint or Keynote.</a:t>
            </a:r>
          </a:p>
          <a:p>
            <a:r>
              <a:t>  • Slide 6.</a:t>
            </a:r>
          </a:p>
          <a:p>
            <a:r>
              <a:t>  • For each placeholder: right-click → "Change Picture" → "From File"</a:t>
            </a:r>
          </a:p>
          <a:p>
            <a:r>
              <a:t>    → select the screenshot from your Desktop.</a:t>
            </a:r>
          </a:p>
          <a:p>
            <a:r>
              <a:t>  • Alternative: drag-and-drop the PNG file directly onto the placeholder.</a:t>
            </a:r>
          </a:p>
          <a:p>
            <a:r>
              <a:t>  • The placeholder boxes are pre-sized 6.0 × 2.5 inches — match that</a:t>
            </a:r>
          </a:p>
          <a:p>
            <a:r>
              <a:t>    aspect ratio (~12:5) on your screenshot crops so they don't distort.</a:t>
            </a:r>
          </a:p>
          <a:p>
            <a:endParaRPr/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TALKING POINTS WHILE PRESENTING THIS SLIDE (Germaine)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  1. The webcam capture screen — point out the in-browser recording, no</a:t>
            </a:r>
          </a:p>
          <a:p>
            <a:r>
              <a:t>     app to install, 30-second clip, the corner brackets + REC dot are</a:t>
            </a:r>
          </a:p>
          <a:p>
            <a:r>
              <a:t>     UI feedback we built to make the recording state obvious.</a:t>
            </a:r>
          </a:p>
          <a:p>
            <a:r>
              <a:t>  2. The dashboard — body figure with marker positions, four biomarker</a:t>
            </a:r>
          </a:p>
          <a:p>
            <a:r>
              <a:t>     cards showing values pulled live from the backend's JSON response.</a:t>
            </a:r>
          </a:p>
          <a:p>
            <a:r>
              <a:t>  3. The biomarkers up close — call out heart rate in BPM, HRV in ms,</a:t>
            </a:r>
          </a:p>
          <a:p>
            <a:r>
              <a:t>     stress on a 0–1 scale, and BP. Flag that BP is currently mocked</a:t>
            </a:r>
          </a:p>
          <a:p>
            <a:r>
              <a:t>     because classical rPPG can't derive it without cuff calibration.</a:t>
            </a:r>
          </a:p>
          <a:p>
            <a:r>
              <a:t>  4. The /scan JSON — for developers in the room: this is the shared</a:t>
            </a:r>
          </a:p>
          <a:p>
            <a:r>
              <a:t>     API contract any other group can consume. Multipart POST in,</a:t>
            </a:r>
          </a:p>
          <a:p>
            <a:r>
              <a:t>     biomarker JSON out, ~5 seconds end-to-end on real video.</a:t>
            </a:r>
          </a:p>
          <a:p>
            <a:endParaRPr/>
          </a:p>
          <a:p>
            <a:r>
              <a:t>  Close this slide by saying: "the site is live right now — open</a:t>
            </a:r>
          </a:p>
          <a:p>
            <a:r>
              <a:t>  vitalscan.bkre8tive.com on your phone."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italscan.bkre8tiv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141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101D"/>
          </a:solidFill>
          <a:ln w="12700">
            <a:solidFill>
              <a:srgbClr val="091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D17A"/>
                </a:solidFill>
              </a:rPr>
              <a:t>AIT 500 · WESTCLIFF UNIVERSITY · WEEK 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0515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VitalScan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0C8"/>
                </a:solidFill>
              </a:rPr>
              <a:t>Vital signs from a 30-second webcam video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722120" y="2382062"/>
            <a:ext cx="2651760" cy="310896"/>
          </a:xfrm>
          <a:prstGeom prst="roundRect">
            <a:avLst>
              <a:gd name="adj" fmla="val 20588"/>
            </a:avLst>
          </a:prstGeom>
          <a:solidFill>
            <a:srgbClr val="4CC9F0">
              <a:alpha val="92000"/>
            </a:srgbClr>
          </a:solidFill>
          <a:ln w="12700">
            <a:solidFill>
              <a:srgbClr val="4CC9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13560" y="245521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220"/>
                </a:solidFill>
              </a:rPr>
              <a:t>GROUP 1 · rPPG SIGNAL EXTRACTION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4206240" cy="4389120"/>
          </a:xfrm>
          <a:prstGeom prst="roundRect">
            <a:avLst>
              <a:gd name="adj" fmla="val 2609"/>
            </a:avLst>
          </a:prstGeom>
          <a:solidFill>
            <a:srgbClr val="0F1C2D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0" y="1417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F2FF"/>
                </a:solidFill>
              </a:rPr>
              <a:t>Face video → biomarker JSON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35240" y="2148840"/>
            <a:ext cx="2834640" cy="320040"/>
          </a:xfrm>
          <a:prstGeom prst="roundRect">
            <a:avLst>
              <a:gd name="adj" fmla="val 34286"/>
            </a:avLst>
          </a:prstGeom>
          <a:solidFill>
            <a:srgbClr val="16243A"/>
          </a:solidFill>
          <a:ln w="12700">
            <a:solidFill>
              <a:srgbClr val="31506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222199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</a:rPr>
              <a:t>Webcam capture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2651760"/>
            <a:ext cx="2834640" cy="320040"/>
          </a:xfrm>
          <a:prstGeom prst="roundRect">
            <a:avLst>
              <a:gd name="adj" fmla="val 34286"/>
            </a:avLst>
          </a:prstGeom>
          <a:solidFill>
            <a:srgbClr val="16243A"/>
          </a:solidFill>
          <a:ln w="12700">
            <a:solidFill>
              <a:srgbClr val="31506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272491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</a:rPr>
              <a:t>Face + ROI tracking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3154680"/>
            <a:ext cx="2834640" cy="320040"/>
          </a:xfrm>
          <a:prstGeom prst="roundRect">
            <a:avLst>
              <a:gd name="adj" fmla="val 34286"/>
            </a:avLst>
          </a:prstGeom>
          <a:solidFill>
            <a:srgbClr val="113A3B"/>
          </a:solidFill>
          <a:ln w="12700">
            <a:solidFill>
              <a:srgbClr val="31506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322783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3D17A"/>
                </a:solidFill>
              </a:rPr>
              <a:t>POS rPPG extraction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35240" y="3657600"/>
            <a:ext cx="2834640" cy="320040"/>
          </a:xfrm>
          <a:prstGeom prst="roundRect">
            <a:avLst>
              <a:gd name="adj" fmla="val 34286"/>
            </a:avLst>
          </a:prstGeom>
          <a:solidFill>
            <a:srgbClr val="16243A"/>
          </a:solidFill>
          <a:ln w="12700">
            <a:solidFill>
              <a:srgbClr val="31506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373075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</a:rPr>
              <a:t>HRV + stress index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4160520"/>
            <a:ext cx="2834640" cy="320040"/>
          </a:xfrm>
          <a:prstGeom prst="roundRect">
            <a:avLst>
              <a:gd name="adj" fmla="val 34286"/>
            </a:avLst>
          </a:prstGeom>
          <a:solidFill>
            <a:srgbClr val="16243A"/>
          </a:solidFill>
          <a:ln w="12700">
            <a:solidFill>
              <a:srgbClr val="31506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18120" y="423367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</a:rPr>
              <a:t>FastAPI /scan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3D17A"/>
                </a:solidFill>
                <a:hlinkClick r:id="rId3"/>
              </a:rPr>
              <a:t>vitalscan.bkre8tive.com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9808" y="6053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8"/>
                </a:solidFill>
              </a:rPr>
              <a:t>Germaine · Jason · Daray · Abner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101D"/>
          </a:solidFill>
          <a:ln w="12700">
            <a:solidFill>
              <a:srgbClr val="091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assignment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1381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8"/>
                </a:solidFill>
              </a:rPr>
              <a:t>What the project brief asked Group 1 to deliver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49640" y="38404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FB0C8"/>
                </a:solidFill>
              </a:rPr>
              <a:t>VitalScan · AIT 500 · Group 1 · Week 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835640" y="38404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3D17A"/>
                </a:solidFill>
              </a:rPr>
              <a:t>presented by Germaine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1143000"/>
            <a:ext cx="11155680" cy="0"/>
          </a:xfrm>
          <a:prstGeom prst="line">
            <a:avLst/>
          </a:prstGeom>
          <a:noFill/>
          <a:ln w="12700">
            <a:solidFill>
              <a:srgbClr val="31506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01B2D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02633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C9F0"/>
                </a:solidFill>
              </a:rPr>
              <a:t>GROUP 1 · rPPG SIGNAL EXTRACTION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44805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EAF2FF"/>
                </a:solidFill>
              </a:rPr>
              <a:t>Face detection on each video frame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ROI bounding boxes on forehead + cheeks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Extract a remote-PPG signal from ROIs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Output HR, HRV, stress index, BP placeholder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Return shared biomarker JSON contract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D17A"/>
                </a:solidFill>
              </a:rPr>
              <a:t>WHAT WE BUILT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2240280"/>
            <a:ext cx="44805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EAF2FF"/>
                </a:solidFill>
              </a:rPr>
              <a:t>Python rPPG pipeline: face + POS + HRV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FastAPI /scan endpoint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React dashboard + browser webcam capture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Live deployment behind Cloudflare Tunnel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Evaluation report with MAE / RMSE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9618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166"/>
                </a:solidFill>
              </a:rPr>
              <a:t>We took the minimum deliverable and turned it into a product demo that the class can open and test.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8"/>
                </a:solidFill>
              </a:rPr>
              <a:t>vitalscan.bkre8tive.com  ·  github.com/gbiz21/vitalscan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101D"/>
          </a:solidFill>
          <a:ln w="12700">
            <a:solidFill>
              <a:srgbClr val="091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 retrieved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1381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8"/>
                </a:solidFill>
              </a:rPr>
              <a:t>Pulled per the project brief — real + synthetic evaluation 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49640" y="38404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FB0C8"/>
                </a:solidFill>
              </a:rPr>
              <a:t>VitalScan · AIT 500 · Group 1 · Week 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835640" y="38404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3D17A"/>
                </a:solidFill>
              </a:rPr>
              <a:t>presented by Jason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1143000"/>
            <a:ext cx="11155680" cy="0"/>
          </a:xfrm>
          <a:prstGeom prst="line">
            <a:avLst/>
          </a:prstGeom>
          <a:noFill/>
          <a:ln w="12700">
            <a:solidFill>
              <a:srgbClr val="31506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50876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102033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102033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C9F0"/>
                </a:solidFill>
              </a:rPr>
              <a:t>UBFC-rPPG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8"/>
                </a:solidFill>
              </a:rPr>
              <a:t>Real human subjects · Univ. de Bourgogne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27432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3D17A"/>
                </a:solidFill>
              </a:rPr>
              <a:t>42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60120" y="327355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8"/>
                </a:solidFill>
              </a:rPr>
              <a:t>subjects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3D17A"/>
                </a:solidFill>
              </a:rPr>
              <a:t>30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331720" y="3273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8"/>
                </a:solidFill>
              </a:rPr>
              <a:t>fps webcam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27432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3D17A"/>
                </a:solidFill>
              </a:rPr>
              <a:t>GT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840480" y="327355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8"/>
                </a:solidFill>
              </a:rPr>
              <a:t>pulse-ox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840480"/>
            <a:ext cx="42976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EAF2FF"/>
                </a:solidFill>
              </a:rPr>
              <a:t>Primary real-world test set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Synchronized ground-truth heart rate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Used to evaluate pipeline accuracy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88FF"/>
                </a:solidFill>
              </a:rPr>
              <a:t>SCAMPS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37960" y="21488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8"/>
                </a:solidFill>
              </a:rPr>
              <a:t>Synthetic avatars · Microsoft Research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388FF"/>
                </a:solidFill>
              </a:rPr>
              <a:t>10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537960" y="3273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8"/>
                </a:solidFill>
              </a:rPr>
              <a:t>public examples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7532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388FF"/>
                </a:solidFill>
              </a:rPr>
              <a:t>PPG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275320" y="3273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8"/>
                </a:solidFill>
              </a:rPr>
              <a:t>simulated truth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27432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388FF"/>
                </a:solidFill>
              </a:rPr>
              <a:t>1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0058400" y="327355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8"/>
                </a:solidFill>
              </a:rPr>
              <a:t>shared reader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3840480"/>
            <a:ext cx="42976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EAF2FF"/>
                </a:solidFill>
              </a:rPr>
              <a:t>Synthetic baseline for testing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Same evaluation harness reads both datasets</a:t>
            </a:r>
            <a:endParaRPr lang="en-US" sz="1500" dirty="0"/>
          </a:p>
          <a:p>
            <a:r>
              <a:rPr lang="en-US" sz="1500" dirty="0">
                <a:solidFill>
                  <a:srgbClr val="EAF2FF"/>
                </a:solidFill>
              </a:rPr>
              <a:t>Full dataset access was limited publicly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" y="61447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</a:rPr>
              <a:t>Same code path reads both datasets, so our evaluation is consistent.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8"/>
                </a:solidFill>
              </a:rPr>
              <a:t>vitalscan.bkre8tive.com  ·  github.com/gbiz21/vitalscan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101D"/>
          </a:solidFill>
          <a:ln w="12700">
            <a:solidFill>
              <a:srgbClr val="091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rPPG extraction 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1381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8"/>
                </a:solidFill>
              </a:rPr>
              <a:t>Face → ROI → POS signal processing → BPM / HRV / stress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49640" y="38404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FB0C8"/>
                </a:solidFill>
              </a:rPr>
              <a:t>VitalScan · AIT 500 · Group 1 · Week 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835640" y="38404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3D17A"/>
                </a:solidFill>
              </a:rPr>
              <a:t>presented by Daray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1143000"/>
            <a:ext cx="11155680" cy="0"/>
          </a:xfrm>
          <a:prstGeom prst="line">
            <a:avLst/>
          </a:prstGeom>
          <a:noFill/>
          <a:ln w="12700">
            <a:solidFill>
              <a:srgbClr val="31506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2852928"/>
            <a:ext cx="685800" cy="502920"/>
          </a:xfrm>
          <a:prstGeom prst="chevron">
            <a:avLst/>
          </a:prstGeom>
          <a:solidFill>
            <a:srgbClr val="31506F">
              <a:alpha val="75000"/>
            </a:srgbClr>
          </a:solidFill>
          <a:ln w="12700">
            <a:solidFill>
              <a:srgbClr val="3150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664208"/>
            <a:ext cx="2240280" cy="3291840"/>
          </a:xfrm>
          <a:prstGeom prst="roundRect">
            <a:avLst>
              <a:gd name="adj" fmla="val 4898"/>
            </a:avLst>
          </a:prstGeom>
          <a:solidFill>
            <a:srgbClr val="101B2D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5528" y="1828800"/>
            <a:ext cx="292608" cy="292608"/>
          </a:xfrm>
          <a:prstGeom prst="rect">
            <a:avLst/>
          </a:prstGeom>
          <a:solidFill>
            <a:srgbClr val="4CC9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8105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C9F0"/>
                </a:solidFill>
              </a:rPr>
              <a:t>Detect face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852160" y="2852928"/>
            <a:ext cx="685800" cy="502920"/>
          </a:xfrm>
          <a:prstGeom prst="chevron">
            <a:avLst/>
          </a:prstGeom>
          <a:solidFill>
            <a:srgbClr val="31506F">
              <a:alpha val="75000"/>
            </a:srgbClr>
          </a:solidFill>
          <a:ln w="12700">
            <a:solidFill>
              <a:srgbClr val="3150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11880" y="1664208"/>
            <a:ext cx="2240280" cy="3291840"/>
          </a:xfrm>
          <a:prstGeom prst="roundRect">
            <a:avLst>
              <a:gd name="adj" fmla="val 4898"/>
            </a:avLst>
          </a:prstGeom>
          <a:solidFill>
            <a:srgbClr val="101B2D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21608" y="1828800"/>
            <a:ext cx="292608" cy="292608"/>
          </a:xfrm>
          <a:prstGeom prst="rect">
            <a:avLst/>
          </a:prstGeom>
          <a:solidFill>
            <a:srgbClr val="43D17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0" y="18105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3D17A"/>
                </a:solidFill>
              </a:rPr>
              <a:t>Pick ROIs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778240" y="2852928"/>
            <a:ext cx="685800" cy="502920"/>
          </a:xfrm>
          <a:prstGeom prst="chevron">
            <a:avLst/>
          </a:prstGeom>
          <a:solidFill>
            <a:srgbClr val="31506F">
              <a:alpha val="75000"/>
            </a:srgbClr>
          </a:solidFill>
          <a:ln w="12700">
            <a:solidFill>
              <a:srgbClr val="3150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37960" y="1664208"/>
            <a:ext cx="2240280" cy="3291840"/>
          </a:xfrm>
          <a:prstGeom prst="roundRect">
            <a:avLst>
              <a:gd name="adj" fmla="val 4898"/>
            </a:avLst>
          </a:prstGeom>
          <a:solidFill>
            <a:srgbClr val="101B2D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47688" y="1828800"/>
            <a:ext cx="292608" cy="292608"/>
          </a:xfrm>
          <a:prstGeom prst="rect">
            <a:avLst/>
          </a:prstGeom>
          <a:solidFill>
            <a:srgbClr val="FFD16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18105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166"/>
                </a:solidFill>
              </a:rPr>
              <a:t>Clean signal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464040" y="1664208"/>
            <a:ext cx="2240280" cy="3291840"/>
          </a:xfrm>
          <a:prstGeom prst="roundRect">
            <a:avLst>
              <a:gd name="adj" fmla="val 4898"/>
            </a:avLst>
          </a:prstGeom>
          <a:solidFill>
            <a:srgbClr val="101B2D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73768" y="1828800"/>
            <a:ext cx="292608" cy="292608"/>
          </a:xfrm>
          <a:prstGeom prst="rect">
            <a:avLst/>
          </a:prstGeom>
          <a:solidFill>
            <a:srgbClr val="B388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66960" y="18105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88FF"/>
                </a:solidFill>
              </a:rPr>
              <a:t>FFT → BPM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0120" y="2468880"/>
            <a:ext cx="1691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EAF2FF"/>
                </a:solidFill>
              </a:rPr>
              <a:t>MediaPipe FaceMesh</a:t>
            </a:r>
            <a:endParaRPr lang="en-US" sz="1350" dirty="0"/>
          </a:p>
          <a:p>
            <a:r>
              <a:rPr lang="en-US" sz="1350" dirty="0">
                <a:solidFill>
                  <a:srgbClr val="EAF2FF"/>
                </a:solidFill>
              </a:rPr>
              <a:t>468 landmarks / frame</a:t>
            </a:r>
            <a:endParaRPr lang="en-US" sz="1350" dirty="0"/>
          </a:p>
          <a:p>
            <a:r>
              <a:rPr lang="en-US" sz="1350" dirty="0">
                <a:solidFill>
                  <a:srgbClr val="EAF2FF"/>
                </a:solidFill>
              </a:rPr>
              <a:t>Real-time CPU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86200" y="2468880"/>
            <a:ext cx="1691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EAF2FF"/>
                </a:solidFill>
              </a:rPr>
              <a:t>Forehead + cheeks</a:t>
            </a:r>
            <a:endParaRPr lang="en-US" sz="1350" dirty="0"/>
          </a:p>
          <a:p>
            <a:r>
              <a:rPr lang="en-US" sz="1350" dirty="0">
                <a:solidFill>
                  <a:srgbClr val="EAF2FF"/>
                </a:solidFill>
              </a:rPr>
              <a:t>Better capillary signal</a:t>
            </a:r>
            <a:endParaRPr lang="en-US" sz="1350" dirty="0"/>
          </a:p>
          <a:p>
            <a:r>
              <a:rPr lang="en-US" sz="1350" dirty="0">
                <a:solidFill>
                  <a:srgbClr val="EAF2FF"/>
                </a:solidFill>
              </a:rPr>
              <a:t>Less motion artifact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12280" y="2468880"/>
            <a:ext cx="1691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EAF2FF"/>
                </a:solidFill>
              </a:rPr>
              <a:t>POS projection</a:t>
            </a:r>
            <a:endParaRPr lang="en-US" sz="1350" dirty="0"/>
          </a:p>
          <a:p>
            <a:r>
              <a:rPr lang="en-US" sz="1350" dirty="0">
                <a:solidFill>
                  <a:srgbClr val="EAF2FF"/>
                </a:solidFill>
              </a:rPr>
              <a:t>Bandpass 0.7–4 Hz</a:t>
            </a:r>
            <a:endParaRPr lang="en-US" sz="1350" dirty="0"/>
          </a:p>
          <a:p>
            <a:r>
              <a:rPr lang="en-US" sz="1350" dirty="0">
                <a:solidFill>
                  <a:srgbClr val="EAF2FF"/>
                </a:solidFill>
              </a:rPr>
              <a:t>Pulse up, noise down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38360" y="2468880"/>
            <a:ext cx="1691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EAF2FF"/>
                </a:solidFill>
              </a:rPr>
              <a:t>Search 60–210 BPM</a:t>
            </a:r>
            <a:endParaRPr lang="en-US" sz="1350" dirty="0"/>
          </a:p>
          <a:p>
            <a:r>
              <a:rPr lang="en-US" sz="1350" dirty="0">
                <a:solidFill>
                  <a:srgbClr val="EAF2FF"/>
                </a:solidFill>
              </a:rPr>
              <a:t>Peak × 60</a:t>
            </a:r>
            <a:endParaRPr lang="en-US" sz="1350" dirty="0"/>
          </a:p>
          <a:p>
            <a:r>
              <a:rPr lang="en-US" sz="1350" dirty="0">
                <a:solidFill>
                  <a:srgbClr val="EAF2FF"/>
                </a:solidFill>
              </a:rPr>
              <a:t>Reuse waveform for HRV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97280" y="5504688"/>
            <a:ext cx="10012680" cy="530352"/>
          </a:xfrm>
          <a:prstGeom prst="roundRect">
            <a:avLst>
              <a:gd name="adj" fmla="val 20690"/>
            </a:avLst>
          </a:prstGeom>
          <a:solidFill>
            <a:srgbClr val="0F2637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25880" y="56509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AF2FF"/>
                </a:solidFill>
              </a:rPr>
              <a:t>The same cleaned pulse waveform produces heart rate, HRV SDNN, and the stress-index calculation.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8"/>
                </a:solidFill>
              </a:rPr>
              <a:t>vitalscan.bkre8tive.com  ·  github.com/gbiz21/vitalscan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64592"/>
            <a:ext cx="75895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2200" b="1">
                <a:solidFill>
                  <a:srgbClr val="F5F8FF"/>
                </a:solidFill>
                <a:latin typeface="Aptos"/>
              </a:defRPr>
            </a:pPr>
            <a:r>
              <a:t>System architecture — full backend + rPPG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502920"/>
            <a:ext cx="804672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850" b="0">
                <a:solidFill>
                  <a:srgbClr val="A0AEC0"/>
                </a:solidFill>
                <a:latin typeface="Aptos"/>
              </a:defRPr>
            </a:pPr>
            <a:r>
              <a:t>Professor focus: system design, data flow, backend logic, and how the pieces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6840" y="219456"/>
            <a:ext cx="26517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defRPr sz="850" b="0">
                <a:solidFill>
                  <a:srgbClr val="A0AEC0"/>
                </a:solidFill>
                <a:latin typeface="Aptos"/>
              </a:defRPr>
            </a:pPr>
            <a:r>
              <a:t>VitalScan · Group 1 · AIT 500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22960"/>
            <a:ext cx="8001000" cy="4754880"/>
          </a:xfrm>
          <a:prstGeom prst="roundRect">
            <a:avLst/>
          </a:prstGeom>
          <a:solidFill>
            <a:srgbClr val="0B1424"/>
          </a:solidFill>
          <a:ln w="12700">
            <a:solidFill>
              <a:srgbClr val="22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978408"/>
            <a:ext cx="3017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000" b="1">
                <a:solidFill>
                  <a:srgbClr val="3ED97E"/>
                </a:solidFill>
                <a:latin typeface="Aptos"/>
              </a:defRPr>
            </a:pPr>
            <a:r>
              <a:rPr dirty="0"/>
              <a:t>LIVE DEMO REQUEST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914400"/>
            <a:ext cx="987552" cy="228600"/>
          </a:xfrm>
          <a:prstGeom prst="roundRect">
            <a:avLst/>
          </a:prstGeom>
          <a:solidFill>
            <a:srgbClr val="0A2337"/>
          </a:solidFill>
          <a:ln w="9525">
            <a:solidFill>
              <a:srgbClr val="35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12700" rIns="63500" bIns="12700" rtlCol="0" anchor="ctr"/>
          <a:lstStyle/>
          <a:p>
            <a:pPr algn="ctr">
              <a:defRPr sz="800" b="1">
                <a:solidFill>
                  <a:srgbClr val="35D6FF"/>
                </a:solidFill>
                <a:latin typeface="Aptos"/>
              </a:defRPr>
            </a:pPr>
            <a:r>
              <a:t>/scan POST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1691640" cy="868680"/>
          </a:xfrm>
          <a:prstGeom prst="roundRect">
            <a:avLst/>
          </a:prstGeom>
          <a:solidFill>
            <a:srgbClr val="142339"/>
          </a:solidFill>
          <a:ln w="15875">
            <a:solidFill>
              <a:srgbClr val="3ED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050" b="1">
                <a:solidFill>
                  <a:srgbClr val="F5F8FF"/>
                </a:solidFill>
                <a:latin typeface="Aptos Display"/>
              </a:defRPr>
            </a:pPr>
            <a:r>
              <a:t>1  User Browser</a:t>
            </a:r>
          </a:p>
          <a:p>
            <a:pPr>
              <a:spcBef>
                <a:spcPts val="300"/>
              </a:spcBef>
              <a:defRPr sz="670">
                <a:solidFill>
                  <a:srgbClr val="A0AEC0"/>
                </a:solidFill>
                <a:latin typeface="Aptos"/>
              </a:defRPr>
            </a:pPr>
            <a:r>
              <a:t>Webcam capture</a:t>
            </a:r>
            <a:br/>
            <a:r>
              <a:t>File upload</a:t>
            </a:r>
            <a:br/>
            <a:r>
              <a:t>30-sec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1298448"/>
            <a:ext cx="1691640" cy="868680"/>
          </a:xfrm>
          <a:prstGeom prst="roundRect">
            <a:avLst/>
          </a:prstGeom>
          <a:solidFill>
            <a:srgbClr val="142339"/>
          </a:solidFill>
          <a:ln w="15875">
            <a:solidFill>
              <a:srgbClr val="35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050" b="1">
                <a:solidFill>
                  <a:srgbClr val="F5F8FF"/>
                </a:solidFill>
                <a:latin typeface="Aptos Display"/>
              </a:defRPr>
            </a:pPr>
            <a:r>
              <a:t>2  React Frontend</a:t>
            </a:r>
          </a:p>
          <a:p>
            <a:pPr>
              <a:spcBef>
                <a:spcPts val="300"/>
              </a:spcBef>
              <a:defRPr sz="670">
                <a:solidFill>
                  <a:srgbClr val="A0AEC0"/>
                </a:solidFill>
                <a:latin typeface="Aptos"/>
              </a:defRPr>
            </a:pPr>
            <a:r>
              <a:t>Vite + TypeScript</a:t>
            </a:r>
            <a:br/>
            <a:r>
              <a:t>Dashboard + cards</a:t>
            </a:r>
            <a:br/>
            <a:r>
              <a:t>Body figure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298448"/>
            <a:ext cx="1691640" cy="868680"/>
          </a:xfrm>
          <a:prstGeom prst="roundRect">
            <a:avLst/>
          </a:prstGeom>
          <a:solidFill>
            <a:srgbClr val="142339"/>
          </a:solidFill>
          <a:ln w="15875">
            <a:solidFill>
              <a:srgbClr val="FFC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050" b="1">
                <a:solidFill>
                  <a:srgbClr val="F5F8FF"/>
                </a:solidFill>
                <a:latin typeface="Aptos Display"/>
              </a:defRPr>
            </a:pPr>
            <a:r>
              <a:t>3  Secure Edge</a:t>
            </a:r>
          </a:p>
          <a:p>
            <a:pPr>
              <a:spcBef>
                <a:spcPts val="300"/>
              </a:spcBef>
              <a:defRPr sz="670">
                <a:solidFill>
                  <a:srgbClr val="A0AEC0"/>
                </a:solidFill>
                <a:latin typeface="Aptos"/>
              </a:defRPr>
            </a:pPr>
            <a:r>
              <a:t>Cloudflare TLS</a:t>
            </a:r>
            <a:br/>
            <a:r>
              <a:t>WAF / DDoS</a:t>
            </a:r>
            <a:br/>
            <a:r>
              <a:t>Tunnel: no open 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298448"/>
            <a:ext cx="1691640" cy="868680"/>
          </a:xfrm>
          <a:prstGeom prst="roundRect">
            <a:avLst/>
          </a:prstGeom>
          <a:solidFill>
            <a:srgbClr val="142339"/>
          </a:solidFill>
          <a:ln w="15875">
            <a:solidFill>
              <a:srgbClr val="99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050" b="1">
                <a:solidFill>
                  <a:srgbClr val="F5F8FF"/>
                </a:solidFill>
                <a:latin typeface="Aptos Display"/>
              </a:defRPr>
            </a:pPr>
            <a:r>
              <a:t>4  FastAPI Backend</a:t>
            </a:r>
          </a:p>
          <a:p>
            <a:pPr>
              <a:spcBef>
                <a:spcPts val="300"/>
              </a:spcBef>
              <a:defRPr sz="670">
                <a:solidFill>
                  <a:srgbClr val="A0AEC0"/>
                </a:solidFill>
                <a:latin typeface="Aptos"/>
              </a:defRPr>
            </a:pPr>
            <a:r>
              <a:t>backend/main.py</a:t>
            </a:r>
            <a:br/>
            <a:r>
              <a:t>Validates video</a:t>
            </a:r>
            <a:br/>
            <a:r>
              <a:t>Runs /scan 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8568" y="1737360"/>
            <a:ext cx="210312" cy="0"/>
          </a:xfrm>
          <a:prstGeom prst="line">
            <a:avLst/>
          </a:prstGeom>
          <a:ln w="19050">
            <a:solidFill>
              <a:srgbClr val="35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78808" y="1737360"/>
            <a:ext cx="210312" cy="0"/>
          </a:xfrm>
          <a:prstGeom prst="line">
            <a:avLst/>
          </a:prstGeom>
          <a:ln w="19050">
            <a:solidFill>
              <a:srgbClr val="35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9048" y="1737360"/>
            <a:ext cx="210312" cy="0"/>
          </a:xfrm>
          <a:prstGeom prst="line">
            <a:avLst/>
          </a:prstGeom>
          <a:ln w="19050">
            <a:solidFill>
              <a:srgbClr val="35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2505456"/>
            <a:ext cx="22860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000" b="1">
                <a:solidFill>
                  <a:srgbClr val="35D6FF"/>
                </a:solidFill>
                <a:latin typeface="Aptos"/>
              </a:defRPr>
            </a:pPr>
            <a:r>
              <a:t>BACKEND AI PROCESSING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16352"/>
            <a:ext cx="1463040" cy="713232"/>
          </a:xfrm>
          <a:prstGeom prst="roundRect">
            <a:avLst/>
          </a:prstGeom>
          <a:solidFill>
            <a:srgbClr val="0D1F26"/>
          </a:solidFill>
          <a:ln w="15875">
            <a:solidFill>
              <a:srgbClr val="3ED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950" b="1">
                <a:solidFill>
                  <a:srgbClr val="F5F8FF"/>
                </a:solidFill>
                <a:latin typeface="Aptos Display"/>
              </a:defRPr>
            </a:pPr>
            <a:r>
              <a:t>FaceMesh</a:t>
            </a:r>
          </a:p>
          <a:p>
            <a:pPr>
              <a:spcBef>
                <a:spcPts val="300"/>
              </a:spcBef>
              <a:defRPr sz="630">
                <a:solidFill>
                  <a:srgbClr val="A0AEC0"/>
                </a:solidFill>
                <a:latin typeface="Aptos"/>
              </a:defRPr>
            </a:pPr>
            <a:r>
              <a:t>468 facial landmarks</a:t>
            </a:r>
            <a:br/>
            <a:r>
              <a:t>per frame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21992" y="2816352"/>
            <a:ext cx="1463040" cy="713232"/>
          </a:xfrm>
          <a:prstGeom prst="roundRect">
            <a:avLst/>
          </a:prstGeom>
          <a:solidFill>
            <a:srgbClr val="0D1F26"/>
          </a:solidFill>
          <a:ln w="15875">
            <a:solidFill>
              <a:srgbClr val="3ED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950" b="1">
                <a:solidFill>
                  <a:srgbClr val="F5F8FF"/>
                </a:solidFill>
                <a:latin typeface="Aptos Display"/>
              </a:defRPr>
            </a:pPr>
            <a:r>
              <a:t>ROI Extract</a:t>
            </a:r>
          </a:p>
          <a:p>
            <a:pPr>
              <a:spcBef>
                <a:spcPts val="300"/>
              </a:spcBef>
              <a:defRPr sz="630">
                <a:solidFill>
                  <a:srgbClr val="A0AEC0"/>
                </a:solidFill>
                <a:latin typeface="Aptos"/>
              </a:defRPr>
            </a:pPr>
            <a:r>
              <a:t>Forehead + cheeks</a:t>
            </a:r>
            <a:br/>
            <a:r>
              <a:t>mean RGB per frame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7056" y="2816352"/>
            <a:ext cx="1463040" cy="713232"/>
          </a:xfrm>
          <a:prstGeom prst="roundRect">
            <a:avLst/>
          </a:prstGeom>
          <a:solidFill>
            <a:srgbClr val="0D1F26"/>
          </a:solidFill>
          <a:ln w="15875">
            <a:solidFill>
              <a:srgbClr val="3ED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950" b="1">
                <a:solidFill>
                  <a:srgbClr val="F5F8FF"/>
                </a:solidFill>
                <a:latin typeface="Aptos Display"/>
              </a:defRPr>
            </a:pPr>
            <a:r>
              <a:t>POS Algorithm</a:t>
            </a:r>
          </a:p>
          <a:p>
            <a:pPr>
              <a:spcBef>
                <a:spcPts val="300"/>
              </a:spcBef>
              <a:defRPr sz="630">
                <a:solidFill>
                  <a:srgbClr val="A0AEC0"/>
                </a:solidFill>
                <a:latin typeface="Aptos"/>
              </a:defRPr>
            </a:pPr>
            <a:r>
              <a:t>Plane orthogonal</a:t>
            </a:r>
            <a:br/>
            <a:r>
              <a:t>to skin 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2816352"/>
            <a:ext cx="1463040" cy="713232"/>
          </a:xfrm>
          <a:prstGeom prst="roundRect">
            <a:avLst/>
          </a:prstGeom>
          <a:solidFill>
            <a:srgbClr val="0D1F26"/>
          </a:solidFill>
          <a:ln w="15875">
            <a:solidFill>
              <a:srgbClr val="3ED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950" b="1">
                <a:solidFill>
                  <a:srgbClr val="F5F8FF"/>
                </a:solidFill>
                <a:latin typeface="Aptos Display"/>
              </a:defRPr>
            </a:pPr>
            <a:r>
              <a:t>Filter + FFT</a:t>
            </a:r>
          </a:p>
          <a:p>
            <a:pPr>
              <a:spcBef>
                <a:spcPts val="300"/>
              </a:spcBef>
              <a:defRPr sz="630">
                <a:solidFill>
                  <a:srgbClr val="A0AEC0"/>
                </a:solidFill>
                <a:latin typeface="Aptos"/>
              </a:defRPr>
            </a:pPr>
            <a:r>
              <a:t>0.7–4.0 Hz</a:t>
            </a:r>
            <a:br/>
            <a:r>
              <a:t>peak → BPM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87184" y="2816352"/>
            <a:ext cx="914400" cy="713232"/>
          </a:xfrm>
          <a:prstGeom prst="roundRect">
            <a:avLst/>
          </a:prstGeom>
          <a:solidFill>
            <a:srgbClr val="0D1F26"/>
          </a:solidFill>
          <a:ln w="15875">
            <a:solidFill>
              <a:srgbClr val="3ED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950" b="1">
                <a:solidFill>
                  <a:srgbClr val="F5F8FF"/>
                </a:solidFill>
                <a:latin typeface="Aptos Display"/>
              </a:defRPr>
            </a:pPr>
            <a:r>
              <a:t>HRV / Stress</a:t>
            </a:r>
          </a:p>
          <a:p>
            <a:pPr>
              <a:spcBef>
                <a:spcPts val="300"/>
              </a:spcBef>
              <a:defRPr sz="630">
                <a:solidFill>
                  <a:srgbClr val="A0AEC0"/>
                </a:solidFill>
                <a:latin typeface="Aptos"/>
              </a:defRPr>
            </a:pPr>
            <a:r>
              <a:t>IBI + SDNN</a:t>
            </a:r>
            <a:br/>
            <a:r>
              <a:t>LF/HF ratio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29968" y="3172968"/>
            <a:ext cx="182880" cy="0"/>
          </a:xfrm>
          <a:prstGeom prst="line">
            <a:avLst/>
          </a:prstGeom>
          <a:ln w="19050">
            <a:solidFill>
              <a:srgbClr val="3ED9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85032" y="3172968"/>
            <a:ext cx="182880" cy="0"/>
          </a:xfrm>
          <a:prstGeom prst="line">
            <a:avLst/>
          </a:prstGeom>
          <a:ln w="19050">
            <a:solidFill>
              <a:srgbClr val="3ED9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40096" y="3172968"/>
            <a:ext cx="182880" cy="0"/>
          </a:xfrm>
          <a:prstGeom prst="line">
            <a:avLst/>
          </a:prstGeom>
          <a:ln w="19050">
            <a:solidFill>
              <a:srgbClr val="3ED9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95160" y="3172968"/>
            <a:ext cx="182880" cy="0"/>
          </a:xfrm>
          <a:prstGeom prst="line">
            <a:avLst/>
          </a:prstGeom>
          <a:ln w="19050">
            <a:solidFill>
              <a:srgbClr val="3ED9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6928" y="3977639"/>
            <a:ext cx="3657600" cy="960120"/>
          </a:xfrm>
          <a:prstGeom prst="roundRect">
            <a:avLst/>
          </a:prstGeom>
          <a:solidFill>
            <a:srgbClr val="061622"/>
          </a:solidFill>
          <a:ln w="13970">
            <a:solidFill>
              <a:srgbClr val="35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rtlCol="0" anchor="ctr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Shared JSON Contract</a:t>
            </a:r>
          </a:p>
          <a:p>
            <a:pPr>
              <a:defRPr sz="800">
                <a:solidFill>
                  <a:srgbClr val="BFE8FF"/>
                </a:solidFill>
                <a:latin typeface="Aptos"/>
              </a:defRPr>
            </a:pPr>
            <a:r>
              <a:t>{ heart_rate, hrv_sdnn, stress_index, blood_pressure }</a:t>
            </a:r>
          </a:p>
          <a:p>
            <a:pPr>
              <a:defRPr sz="730">
                <a:solidFill>
                  <a:srgbClr val="A0AEC0"/>
                </a:solidFill>
                <a:latin typeface="Aptos"/>
              </a:defRPr>
            </a:pPr>
            <a:r>
              <a:t>Returned to frontend and consumable by other VitalScan groups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89120" y="4453128"/>
            <a:ext cx="411480" cy="0"/>
          </a:xfrm>
          <a:prstGeom prst="line">
            <a:avLst/>
          </a:prstGeom>
          <a:ln w="19050">
            <a:solidFill>
              <a:srgbClr val="35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882896" y="3977639"/>
            <a:ext cx="3218688" cy="960120"/>
          </a:xfrm>
          <a:prstGeom prst="roundRect">
            <a:avLst/>
          </a:prstGeom>
          <a:solidFill>
            <a:srgbClr val="091C30"/>
          </a:solidFill>
          <a:ln w="15875">
            <a:solidFill>
              <a:srgbClr val="35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100" b="1">
                <a:solidFill>
                  <a:srgbClr val="F5F8FF"/>
                </a:solidFill>
                <a:latin typeface="Aptos Display"/>
              </a:defRPr>
            </a:pPr>
            <a:r>
              <a:t>Frontend Results UI</a:t>
            </a:r>
          </a:p>
          <a:p>
            <a:pPr>
              <a:spcBef>
                <a:spcPts val="300"/>
              </a:spcBef>
              <a:defRPr sz="720">
                <a:solidFill>
                  <a:srgbClr val="A0AEC0"/>
                </a:solidFill>
                <a:latin typeface="Aptos"/>
              </a:defRPr>
            </a:pPr>
            <a:r>
              <a:t>Biomarker cards + body figure + developer JSON view</a:t>
            </a:r>
            <a:br/>
            <a:r>
              <a:t>Makes the backend output easy to demo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822960"/>
            <a:ext cx="2880360" cy="4754880"/>
          </a:xfrm>
          <a:prstGeom prst="roundRect">
            <a:avLst/>
          </a:prstGeom>
          <a:solidFill>
            <a:srgbClr val="0A111F"/>
          </a:solidFill>
          <a:ln w="12700">
            <a:solidFill>
              <a:srgbClr val="22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59952" y="941832"/>
            <a:ext cx="2103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000" b="1">
                <a:solidFill>
                  <a:srgbClr val="FFC454"/>
                </a:solidFill>
                <a:latin typeface="Aptos"/>
              </a:defRPr>
            </a:pPr>
            <a:r>
              <a:t>PROJECT STRUCTURE PROOF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59952" y="1243584"/>
            <a:ext cx="2432304" cy="713232"/>
          </a:xfrm>
          <a:prstGeom prst="roundRect">
            <a:avLst/>
          </a:prstGeom>
          <a:solidFill>
            <a:srgbClr val="111B2D"/>
          </a:solidFill>
          <a:ln w="15875">
            <a:solidFill>
              <a:srgbClr val="35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030" b="1">
                <a:solidFill>
                  <a:srgbClr val="F5F8FF"/>
                </a:solidFill>
                <a:latin typeface="Aptos Display"/>
              </a:defRPr>
            </a:pPr>
            <a:r>
              <a:t>frontend/</a:t>
            </a:r>
          </a:p>
          <a:p>
            <a:pPr>
              <a:spcBef>
                <a:spcPts val="300"/>
              </a:spcBef>
              <a:defRPr sz="650">
                <a:solidFill>
                  <a:srgbClr val="A0AEC0"/>
                </a:solidFill>
                <a:latin typeface="Aptos"/>
              </a:defRPr>
            </a:pPr>
            <a:r>
              <a:t>React UI · browser capture ·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9952" y="2075688"/>
            <a:ext cx="2432304" cy="841248"/>
          </a:xfrm>
          <a:prstGeom prst="roundRect">
            <a:avLst/>
          </a:prstGeom>
          <a:solidFill>
            <a:srgbClr val="111B2D"/>
          </a:solidFill>
          <a:ln w="15875">
            <a:solidFill>
              <a:srgbClr val="99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030" b="1">
                <a:solidFill>
                  <a:srgbClr val="F5F8FF"/>
                </a:solidFill>
                <a:latin typeface="Aptos Display"/>
              </a:defRPr>
            </a:pPr>
            <a:r>
              <a:t>backend/</a:t>
            </a:r>
          </a:p>
          <a:p>
            <a:pPr>
              <a:spcBef>
                <a:spcPts val="300"/>
              </a:spcBef>
              <a:defRPr sz="650">
                <a:solidFill>
                  <a:srgbClr val="A0AEC0"/>
                </a:solidFill>
                <a:latin typeface="Aptos"/>
              </a:defRPr>
            </a:pPr>
            <a:r>
              <a:t>main.py · FastAPI /scan · rppg/</a:t>
            </a:r>
            <a:br/>
            <a:r>
              <a:t>Dockerfile + requirements.txt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9952" y="3026664"/>
            <a:ext cx="2432304" cy="841248"/>
          </a:xfrm>
          <a:prstGeom prst="roundRect">
            <a:avLst/>
          </a:prstGeom>
          <a:solidFill>
            <a:srgbClr val="111B2D"/>
          </a:solidFill>
          <a:ln w="15875">
            <a:solidFill>
              <a:srgbClr val="3ED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030" b="1">
                <a:solidFill>
                  <a:srgbClr val="F5F8FF"/>
                </a:solidFill>
                <a:latin typeface="Aptos Display"/>
              </a:defRPr>
            </a:pPr>
            <a:r>
              <a:t>data/</a:t>
            </a:r>
          </a:p>
          <a:p>
            <a:pPr>
              <a:spcBef>
                <a:spcPts val="300"/>
              </a:spcBef>
              <a:defRPr sz="650">
                <a:solidFill>
                  <a:srgbClr val="A0AEC0"/>
                </a:solidFill>
                <a:latin typeface="Aptos"/>
              </a:defRPr>
            </a:pPr>
            <a:r>
              <a:t>UBFC · UBFC_full · SCAMPS examples</a:t>
            </a:r>
            <a:br/>
            <a:r>
              <a:t>CSV evaluation outputs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9952" y="3977639"/>
            <a:ext cx="2432304" cy="749808"/>
          </a:xfrm>
          <a:prstGeom prst="roundRect">
            <a:avLst/>
          </a:prstGeom>
          <a:solidFill>
            <a:srgbClr val="111B2D"/>
          </a:solidFill>
          <a:ln w="15875">
            <a:solidFill>
              <a:srgbClr val="FFC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030" b="1">
                <a:solidFill>
                  <a:srgbClr val="F5F8FF"/>
                </a:solidFill>
                <a:latin typeface="Aptos Display"/>
              </a:defRPr>
            </a:pPr>
            <a:r>
              <a:t>docs/</a:t>
            </a:r>
          </a:p>
          <a:p>
            <a:pPr>
              <a:spcBef>
                <a:spcPts val="300"/>
              </a:spcBef>
              <a:defRPr sz="650">
                <a:solidFill>
                  <a:srgbClr val="A0AEC0"/>
                </a:solidFill>
                <a:latin typeface="Aptos"/>
              </a:defRPr>
            </a:pPr>
            <a:r>
              <a:t>technical_writeup.md</a:t>
            </a:r>
            <a:br/>
            <a:r>
              <a:t>evaluation_results.md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9952" y="4846320"/>
            <a:ext cx="2432304" cy="502920"/>
          </a:xfrm>
          <a:prstGeom prst="roundRect">
            <a:avLst/>
          </a:prstGeom>
          <a:solidFill>
            <a:srgbClr val="111B2D"/>
          </a:solidFill>
          <a:ln w="15875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88900" bIns="63500" rtlCol="0" anchor="ctr"/>
          <a:lstStyle/>
          <a:p>
            <a:pPr algn="ctr">
              <a:defRPr sz="1000" b="1">
                <a:solidFill>
                  <a:srgbClr val="F5F8FF"/>
                </a:solidFill>
                <a:latin typeface="Aptos Display"/>
              </a:defRPr>
            </a:pPr>
            <a:r>
              <a:t>deploy/</a:t>
            </a:r>
          </a:p>
          <a:p>
            <a:pPr>
              <a:spcBef>
                <a:spcPts val="300"/>
              </a:spcBef>
              <a:defRPr sz="630">
                <a:solidFill>
                  <a:srgbClr val="A0AEC0"/>
                </a:solidFill>
                <a:latin typeface="Aptos"/>
              </a:defRPr>
            </a:pPr>
            <a:r>
              <a:t>Docker / homelab / tunnel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5742432"/>
            <a:ext cx="11109960" cy="713232"/>
          </a:xfrm>
          <a:prstGeom prst="roundRect">
            <a:avLst/>
          </a:prstGeom>
          <a:solidFill>
            <a:srgbClr val="0E1827"/>
          </a:solidFill>
          <a:ln w="10160">
            <a:solidFill>
              <a:srgbClr val="2C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66928" y="5879592"/>
            <a:ext cx="960120" cy="256032"/>
          </a:xfrm>
          <a:prstGeom prst="roundRect">
            <a:avLst/>
          </a:prstGeom>
          <a:solidFill>
            <a:srgbClr val="2A1F08"/>
          </a:solidFill>
          <a:ln w="9525">
            <a:solidFill>
              <a:srgbClr val="FFC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12700" rIns="63500" bIns="12700" rtlCol="0" anchor="ctr"/>
          <a:lstStyle/>
          <a:p>
            <a:pPr algn="ctr">
              <a:defRPr sz="800" b="1">
                <a:solidFill>
                  <a:srgbClr val="FFC454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852160"/>
            <a:ext cx="90068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050" b="0">
                <a:solidFill>
                  <a:srgbClr val="F5F8FF"/>
                </a:solidFill>
                <a:latin typeface="Aptos"/>
              </a:defRPr>
            </a:pPr>
            <a:r>
              <a:t>UBFC + SCAMPS datasets → offline evaluation scripts → MAE / RMSE CSVs → evaluation_results.md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199632"/>
            <a:ext cx="10012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750" b="0">
                <a:solidFill>
                  <a:srgbClr val="A0AEC0"/>
                </a:solidFill>
                <a:latin typeface="Aptos"/>
              </a:defRPr>
            </a:pPr>
            <a:r>
              <a:t>Takeaway: the frontend is only the presentation layer; the graded core is the backend rPPG signal extraction and validation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088" y="246888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101D"/>
          </a:solidFill>
          <a:ln w="12700">
            <a:solidFill>
              <a:srgbClr val="091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live site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1381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8"/>
                </a:solidFill>
              </a:rPr>
              <a:t>Use screenshots here so the professor sees working progress, not just code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49640" y="38404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FB0C8"/>
                </a:solidFill>
              </a:rPr>
              <a:t>VitalScan · AIT 500 · Group 1 · Week 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835640" y="38404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3D17A"/>
                </a:solidFill>
              </a:rPr>
              <a:t>presented by Germaine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1143000"/>
            <a:ext cx="11155680" cy="0"/>
          </a:xfrm>
          <a:prstGeom prst="line">
            <a:avLst/>
          </a:prstGeom>
          <a:noFill/>
          <a:ln w="12700">
            <a:solidFill>
              <a:srgbClr val="31506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508760"/>
            <a:ext cx="2606040" cy="3017520"/>
          </a:xfrm>
          <a:prstGeom prst="roundRect">
            <a:avLst>
              <a:gd name="adj" fmla="val 5455"/>
            </a:avLst>
          </a:prstGeom>
          <a:solidFill>
            <a:srgbClr val="0E1828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95528" y="1645920"/>
            <a:ext cx="2386584" cy="1783080"/>
          </a:xfrm>
          <a:prstGeom prst="rect">
            <a:avLst/>
          </a:prstGeom>
          <a:solidFill>
            <a:srgbClr val="172338"/>
          </a:solidFill>
          <a:ln w="12700">
            <a:solidFill>
              <a:srgbClr val="31506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4505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8"/>
                </a:solidFill>
              </a:rPr>
              <a:t>Drop screenshot here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" y="361188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C9F0"/>
                </a:solidFill>
              </a:rPr>
              <a:t>1 · Webcam capture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0392" y="388620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0C8"/>
                </a:solidFill>
              </a:rPr>
              <a:t>30-second countdown + camera permission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11880" y="1508760"/>
            <a:ext cx="2606040" cy="3017520"/>
          </a:xfrm>
          <a:prstGeom prst="roundRect">
            <a:avLst>
              <a:gd name="adj" fmla="val 5455"/>
            </a:avLst>
          </a:prstGeom>
          <a:solidFill>
            <a:srgbClr val="0E1828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21608" y="1645920"/>
            <a:ext cx="2386584" cy="1783080"/>
          </a:xfrm>
          <a:prstGeom prst="rect">
            <a:avLst/>
          </a:prstGeom>
          <a:solidFill>
            <a:srgbClr val="172338"/>
          </a:solidFill>
          <a:ln w="12700">
            <a:solidFill>
              <a:srgbClr val="31506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77640" y="24505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8"/>
                </a:solidFill>
              </a:rPr>
              <a:t>Drop screenshot here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76472" y="361188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3D17A"/>
                </a:solidFill>
              </a:rPr>
              <a:t>2 · Dashboard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76472" y="388620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0C8"/>
                </a:solidFill>
              </a:rPr>
              <a:t>Body figure + biomarker cards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37960" y="1508760"/>
            <a:ext cx="2606040" cy="3017520"/>
          </a:xfrm>
          <a:prstGeom prst="roundRect">
            <a:avLst>
              <a:gd name="adj" fmla="val 5455"/>
            </a:avLst>
          </a:prstGeom>
          <a:solidFill>
            <a:srgbClr val="0E1828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47688" y="1645920"/>
            <a:ext cx="2386584" cy="1783080"/>
          </a:xfrm>
          <a:prstGeom prst="rect">
            <a:avLst/>
          </a:prstGeom>
          <a:solidFill>
            <a:srgbClr val="172338"/>
          </a:solidFill>
          <a:ln w="12700">
            <a:solidFill>
              <a:srgbClr val="31506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24505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8"/>
                </a:solidFill>
              </a:rPr>
              <a:t>Drop screenshot here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02552" y="361188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166"/>
                </a:solidFill>
              </a:rPr>
              <a:t>3 · Biomarkers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02552" y="388620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0C8"/>
                </a:solidFill>
              </a:rPr>
              <a:t>HR, HRV, stress, BP flag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464040" y="150876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0E1828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73768" y="1645920"/>
            <a:ext cx="1792224" cy="1783080"/>
          </a:xfrm>
          <a:prstGeom prst="rect">
            <a:avLst/>
          </a:prstGeom>
          <a:solidFill>
            <a:srgbClr val="172338"/>
          </a:solidFill>
          <a:ln w="12700">
            <a:solidFill>
              <a:srgbClr val="31506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29800" y="2450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8"/>
                </a:solidFill>
              </a:rPr>
              <a:t>Drop screenshot here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28632" y="36118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88FF"/>
                </a:solidFill>
              </a:rPr>
              <a:t>4 · JSON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28632" y="388620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0C8"/>
                </a:solidFill>
              </a:rPr>
              <a:t>/scan response view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97280" y="4709160"/>
            <a:ext cx="9966960" cy="822960"/>
          </a:xfrm>
          <a:prstGeom prst="roundRect">
            <a:avLst>
              <a:gd name="adj" fmla="val 13333"/>
            </a:avLst>
          </a:prstGeom>
          <a:solidFill>
            <a:srgbClr val="102633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17320" y="4965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2FF"/>
                </a:solidFill>
              </a:rPr>
              <a:t>Suggested proof screenshots: landing page → dashboard → biomarker values → network tab showing /scan and JSON.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292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8"/>
                </a:solidFill>
              </a:rPr>
              <a:t>vitalscan.bkre8tive.com  ·  github.com/gbiz21/vitalscan</a:t>
            </a:r>
            <a:endParaRPr lang="en-US" sz="8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F2659FC-D98F-BE74-5ECA-2FC4421E8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45920"/>
            <a:ext cx="1874520" cy="178308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03F85A9-3662-6F67-FBDD-1CC3AD7C4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105" y="1645920"/>
            <a:ext cx="2355589" cy="17830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89F9C66-1066-BC45-5BDE-265740F38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725601"/>
            <a:ext cx="2386584" cy="162371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7F2EF55-6F7F-CAA4-D8B4-CA53274601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3768" y="2009589"/>
            <a:ext cx="1792224" cy="1055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3891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1F7FF"/>
                </a:solidFill>
                <a:latin typeface="Aptos"/>
              </a:rPr>
              <a:t>Build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41248"/>
            <a:ext cx="64922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1">
                <a:solidFill>
                  <a:srgbClr val="97A8BE"/>
                </a:solidFill>
                <a:latin typeface="Aptos"/>
              </a:rPr>
              <a:t>From project brief → live product → evaluated rPPG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438912"/>
            <a:ext cx="2148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97A8BE"/>
                </a:solidFill>
                <a:latin typeface="Aptos"/>
              </a:rPr>
              <a:t>VitalScan · AIT 500 · Group 1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420624"/>
            <a:ext cx="105156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26CB7C"/>
                </a:solidFill>
                <a:latin typeface="Aptos"/>
              </a:rPr>
              <a:t>presented by
Germaine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124712"/>
            <a:ext cx="10698480" cy="0"/>
          </a:xfrm>
          <a:prstGeom prst="line">
            <a:avLst/>
          </a:prstGeom>
          <a:ln w="9525">
            <a:solidFill>
              <a:srgbClr val="223F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3925" y="1335024"/>
            <a:ext cx="10698480" cy="4315968"/>
          </a:xfrm>
          <a:prstGeom prst="roundRect">
            <a:avLst/>
          </a:prstGeom>
          <a:solidFill>
            <a:srgbClr val="081422"/>
          </a:solidFill>
          <a:ln w="12700"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20116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dirty="0">
                <a:solidFill>
                  <a:srgbClr val="26CB7C"/>
                </a:solidFill>
                <a:latin typeface="Aptos"/>
              </a:rPr>
              <a:t>BUILD SEQUENCE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60704" y="1874519"/>
            <a:ext cx="0" cy="3319273"/>
          </a:xfrm>
          <a:prstGeom prst="line">
            <a:avLst/>
          </a:prstGeom>
          <a:ln w="25400">
            <a:solidFill>
              <a:srgbClr val="1B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86384" y="1773936"/>
            <a:ext cx="6903720" cy="658368"/>
          </a:xfrm>
          <a:prstGeom prst="roundRect">
            <a:avLst/>
          </a:prstGeom>
          <a:solidFill>
            <a:srgbClr val="0E1E2F"/>
          </a:solidFill>
          <a:ln w="11430">
            <a:solidFill>
              <a:srgbClr val="2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05256" y="1947672"/>
            <a:ext cx="301752" cy="301752"/>
          </a:xfrm>
          <a:prstGeom prst="ellipse">
            <a:avLst/>
          </a:prstGeom>
          <a:solidFill>
            <a:srgbClr val="26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4692" y="1947672"/>
            <a:ext cx="1828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 dirty="0">
                <a:solidFill>
                  <a:srgbClr val="060F1B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1920240"/>
            <a:ext cx="78638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26CB7C"/>
                </a:solidFill>
                <a:latin typeface="Aptos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892807"/>
            <a:ext cx="2057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0" b="1">
                <a:solidFill>
                  <a:srgbClr val="F1F7FF"/>
                </a:solidFill>
                <a:latin typeface="Aptos"/>
              </a:rPr>
              <a:t>React UI mock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157984"/>
            <a:ext cx="4526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97A8BE"/>
                </a:solidFill>
                <a:latin typeface="Aptos"/>
              </a:rPr>
              <a:t>Dashboard, body figure, and biomarker cards
working first with sample JSON.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2487168"/>
            <a:ext cx="6903720" cy="658368"/>
          </a:xfrm>
          <a:prstGeom prst="roundRect">
            <a:avLst/>
          </a:prstGeom>
          <a:solidFill>
            <a:srgbClr val="0E1E2F"/>
          </a:solidFill>
          <a:ln w="11430">
            <a:solidFill>
              <a:srgbClr val="2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05256" y="2660903"/>
            <a:ext cx="301752" cy="301752"/>
          </a:xfrm>
          <a:prstGeom prst="ellipse">
            <a:avLst/>
          </a:prstGeom>
          <a:solidFill>
            <a:srgbClr val="26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" y="2660903"/>
            <a:ext cx="1828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60F1B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2633472"/>
            <a:ext cx="78638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6CB7C"/>
                </a:solidFill>
                <a:latin typeface="Aptos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606039"/>
            <a:ext cx="2057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0" b="1">
                <a:solidFill>
                  <a:srgbClr val="F1F7FF"/>
                </a:solidFill>
                <a:latin typeface="Aptos"/>
              </a:rPr>
              <a:t>FastAPI /scan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871215"/>
            <a:ext cx="4526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97A8BE"/>
                </a:solidFill>
                <a:latin typeface="Aptos"/>
              </a:rPr>
              <a:t>Backend endpoint receives video and returns
the shared biomarker JSON contract.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3200400"/>
            <a:ext cx="6903720" cy="658368"/>
          </a:xfrm>
          <a:prstGeom prst="roundRect">
            <a:avLst/>
          </a:prstGeom>
          <a:solidFill>
            <a:srgbClr val="0E1E2F"/>
          </a:solidFill>
          <a:ln w="11430">
            <a:solidFill>
              <a:srgbClr val="2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05256" y="3374136"/>
            <a:ext cx="301752" cy="301752"/>
          </a:xfrm>
          <a:prstGeom prst="ellipse">
            <a:avLst/>
          </a:prstGeom>
          <a:solidFill>
            <a:srgbClr val="37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2" y="3374136"/>
            <a:ext cx="1828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60F1B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3346704"/>
            <a:ext cx="78638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7D5DC"/>
                </a:solidFill>
                <a:latin typeface="Aptos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319272"/>
            <a:ext cx="2057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0" b="1">
                <a:solidFill>
                  <a:srgbClr val="F1F7FF"/>
                </a:solidFill>
                <a:latin typeface="Aptos"/>
              </a:rPr>
              <a:t>Real rPPG 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584448"/>
            <a:ext cx="4526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97A8BE"/>
                </a:solidFill>
                <a:latin typeface="Aptos"/>
              </a:rPr>
              <a:t>FaceMesh → ROI → RGB time series → POS
filter/FFT → BPM, HRV, stress.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" y="3913631"/>
            <a:ext cx="6903720" cy="658368"/>
          </a:xfrm>
          <a:prstGeom prst="roundRect">
            <a:avLst/>
          </a:prstGeom>
          <a:solidFill>
            <a:srgbClr val="0E1E2F"/>
          </a:solidFill>
          <a:ln w="11430">
            <a:solidFill>
              <a:srgbClr val="2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05256" y="4087368"/>
            <a:ext cx="301752" cy="301752"/>
          </a:xfrm>
          <a:prstGeom prst="ellipse">
            <a:avLst/>
          </a:prstGeom>
          <a:solidFill>
            <a:srgbClr val="26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4692" y="4087368"/>
            <a:ext cx="1828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60F1B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4059935"/>
            <a:ext cx="78638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6CB7C"/>
                </a:solidFill>
                <a:latin typeface="Aptos"/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032503"/>
            <a:ext cx="2057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0" b="1">
                <a:solidFill>
                  <a:srgbClr val="F1F7FF"/>
                </a:solidFill>
                <a:latin typeface="Aptos"/>
              </a:rPr>
              <a:t>Live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297679"/>
            <a:ext cx="4526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97A8BE"/>
                </a:solidFill>
                <a:latin typeface="Aptos"/>
              </a:rPr>
              <a:t>Docker + Cloudflare Tunnel on homelab;
TLS at edge, no open home ports.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" y="4626864"/>
            <a:ext cx="6903720" cy="658368"/>
          </a:xfrm>
          <a:prstGeom prst="roundRect">
            <a:avLst/>
          </a:prstGeom>
          <a:solidFill>
            <a:srgbClr val="0E1E2F"/>
          </a:solidFill>
          <a:ln w="11430">
            <a:solidFill>
              <a:srgbClr val="2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05256" y="4800600"/>
            <a:ext cx="301752" cy="301752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4692" y="4800600"/>
            <a:ext cx="1828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60F1B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2" y="4773168"/>
            <a:ext cx="78638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F80ED"/>
                </a:solidFill>
                <a:latin typeface="Aptos"/>
              </a:rPr>
              <a:t>Phase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745736"/>
            <a:ext cx="2057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50" b="1">
                <a:solidFill>
                  <a:srgbClr val="F1F7FF"/>
                </a:solidFill>
                <a:latin typeface="Aptos"/>
              </a:rPr>
              <a:t>Browser capture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010912"/>
            <a:ext cx="4526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97A8BE"/>
                </a:solidFill>
                <a:latin typeface="Aptos"/>
              </a:rPr>
              <a:t>30-second in-browser recording with
getUserMedia + MediaRecorder.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73568" y="1572768"/>
            <a:ext cx="2953512" cy="3273552"/>
          </a:xfrm>
          <a:prstGeom prst="roundRect">
            <a:avLst/>
          </a:prstGeom>
          <a:solidFill>
            <a:srgbClr val="0A1826"/>
          </a:solidFill>
          <a:ln w="12700">
            <a:solidFill>
              <a:srgbClr val="21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83879" y="1773936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26CB7C"/>
                </a:solidFill>
                <a:latin typeface="Aptos"/>
              </a:rPr>
              <a:t>WHAT THIS PROVES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2103120"/>
            <a:ext cx="7772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C444"/>
                </a:solidFill>
                <a:latin typeface="Aptos Mono"/>
              </a:rPr>
              <a:t>frontend/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2103120"/>
            <a:ext cx="16916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0" b="0">
                <a:solidFill>
                  <a:srgbClr val="97A8BE"/>
                </a:solidFill>
                <a:latin typeface="Aptos"/>
              </a:rPr>
              <a:t>React UI + webcam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2542032"/>
            <a:ext cx="7772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C444"/>
                </a:solidFill>
                <a:latin typeface="Aptos Mono"/>
              </a:rPr>
              <a:t>backend/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2542032"/>
            <a:ext cx="16916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0" b="0">
                <a:solidFill>
                  <a:srgbClr val="97A8BE"/>
                </a:solidFill>
                <a:latin typeface="Aptos"/>
              </a:rPr>
              <a:t>main.py + FastAPI + rppg/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1312" y="2980944"/>
            <a:ext cx="7772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C444"/>
                </a:solidFill>
                <a:latin typeface="Aptos Mono"/>
              </a:rPr>
              <a:t>data/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2980944"/>
            <a:ext cx="16916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0" b="0">
                <a:solidFill>
                  <a:srgbClr val="97A8BE"/>
                </a:solidFill>
                <a:latin typeface="Aptos"/>
              </a:rPr>
              <a:t>UBFC + SCAMPS evaluation files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3419856"/>
            <a:ext cx="7772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C444"/>
                </a:solidFill>
                <a:latin typeface="Aptos Mono"/>
              </a:rPr>
              <a:t>docs/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419856"/>
            <a:ext cx="16916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0" b="0">
                <a:solidFill>
                  <a:srgbClr val="97A8BE"/>
                </a:solidFill>
                <a:latin typeface="Aptos"/>
              </a:rPr>
              <a:t>writeup + evaluation 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1312" y="3858768"/>
            <a:ext cx="7772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C444"/>
                </a:solidFill>
                <a:latin typeface="Aptos Mono"/>
              </a:rPr>
              <a:t>deploy/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858768"/>
            <a:ext cx="16916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0" b="0">
                <a:solidFill>
                  <a:srgbClr val="97A8BE"/>
                </a:solidFill>
                <a:latin typeface="Aptos"/>
              </a:rPr>
              <a:t>Docker / tunnel deployment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83879" y="4434840"/>
            <a:ext cx="2514600" cy="713232"/>
          </a:xfrm>
          <a:prstGeom prst="roundRect">
            <a:avLst/>
          </a:prstGeom>
          <a:solidFill>
            <a:srgbClr val="0B252F"/>
          </a:solidFill>
          <a:ln w="10160">
            <a:solidFill>
              <a:srgbClr val="297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39327" y="4572000"/>
            <a:ext cx="594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6CB7C"/>
                </a:solidFill>
                <a:latin typeface="Aptos"/>
              </a:rPr>
              <a:t>Takeaway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9327" y="4754880"/>
            <a:ext cx="199339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F1F7FF"/>
                </a:solidFill>
                <a:latin typeface="Aptos"/>
              </a:rPr>
              <a:t>Frontend is the demo layer;
the graded core is backend rPPG.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870448"/>
            <a:ext cx="10744200" cy="301752"/>
          </a:xfrm>
          <a:prstGeom prst="roundRect">
            <a:avLst/>
          </a:prstGeom>
          <a:solidFill>
            <a:srgbClr val="0A1927"/>
          </a:solidFill>
          <a:ln w="9525">
            <a:solidFill>
              <a:srgbClr val="17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" y="5961888"/>
            <a:ext cx="466344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0" b="0">
                <a:solidFill>
                  <a:srgbClr val="97A8BE"/>
                </a:solidFill>
                <a:latin typeface="Aptos"/>
              </a:rPr>
              <a:t>vitalscan.bkre8tive.com  ·  github.com/gbiz21/vitalscan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38928" y="5943600"/>
            <a:ext cx="5815584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80" b="0">
                <a:solidFill>
                  <a:srgbClr val="97A8BE"/>
                </a:solidFill>
                <a:latin typeface="Aptos"/>
              </a:rPr>
              <a:t>Build progression shows controlled system engineering — mock first, backend next, then real signal processing and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101D"/>
          </a:solidFill>
          <a:ln w="12700">
            <a:solidFill>
              <a:srgbClr val="091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 and progress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1381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8"/>
                </a:solidFill>
              </a:rPr>
              <a:t>Where we are vs. the rubric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49640" y="38404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FB0C8"/>
                </a:solidFill>
              </a:rPr>
              <a:t>VitalScan · AIT 500 · Group 1 · Week 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835640" y="38404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3D17A"/>
                </a:solidFill>
              </a:rPr>
              <a:t>presented by Abner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1143000"/>
            <a:ext cx="11155680" cy="0"/>
          </a:xfrm>
          <a:prstGeom prst="line">
            <a:avLst/>
          </a:prstGeom>
          <a:noFill/>
          <a:ln w="12700">
            <a:solidFill>
              <a:srgbClr val="31506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4069080" cy="4480560"/>
          </a:xfrm>
          <a:prstGeom prst="roundRect">
            <a:avLst>
              <a:gd name="adj" fmla="val 2697"/>
            </a:avLst>
          </a:prstGeom>
          <a:solidFill>
            <a:srgbClr val="102033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D17A"/>
                </a:solidFill>
              </a:rPr>
              <a:t>HEADLINE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43D17A"/>
                </a:solidFill>
              </a:rPr>
              <a:t>4.06 BPM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2FF"/>
                </a:solidFill>
              </a:rPr>
              <a:t>Mean absolute error on 42 UBFC subjects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5661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D166"/>
                </a:solidFill>
              </a:rPr>
              <a:t>Rubric target: &lt; 10 BPM · Median: 1.05 BPM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4160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2FF"/>
                </a:solidFill>
              </a:rPr>
              <a:t>Distribution on UBFC: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AF2FF"/>
                </a:solidFill>
              </a:rPr>
              <a:t>50% within ±1 BPM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AF2FF"/>
                </a:solidFill>
              </a:rPr>
              <a:t>67% within ±3 BPM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AF2FF"/>
                </a:solidFill>
              </a:rPr>
              <a:t>90% within ±10 BPM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0" y="1508760"/>
            <a:ext cx="6172200" cy="4480560"/>
          </a:xfrm>
          <a:prstGeom prst="roundRect">
            <a:avLst>
              <a:gd name="adj" fmla="val 2449"/>
            </a:avLst>
          </a:prstGeom>
          <a:solidFill>
            <a:srgbClr val="101B2D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C9F0"/>
                </a:solidFill>
              </a:rPr>
              <a:t>PROGRESS CHECKLIST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15000" y="2267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D17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</a:rPr>
              <a:t>Datasets retrieved (UBFC + SCAMPS)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715000" y="27066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D17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270662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</a:rPr>
              <a:t>rPPG pipeline: face → POS → BPM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715000" y="31455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D17A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80760" y="31455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</a:rPr>
              <a:t>FastAPI /scan endpoint live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715000" y="35844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D17A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35844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</a:rPr>
              <a:t>React dashboard + webcam capture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715000" y="40233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D17A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80760" y="40233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</a:rPr>
              <a:t>Accuracy report: MAE / RMSE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715000" y="4462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80760" y="44622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</a:rPr>
              <a:t>Blood pressure is a flagged placeholder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715000" y="49011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80760" y="4901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</a:rPr>
              <a:t>Deep-learning upgrade is stretch only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292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8"/>
                </a:solidFill>
              </a:rPr>
              <a:t>vitalscan.bkre8tive.com  ·  github.com/gbiz21/vitalscan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101D"/>
          </a:solidFill>
          <a:ln w="12700">
            <a:solidFill>
              <a:srgbClr val="091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D17A"/>
                </a:solidFill>
              </a:rPr>
              <a:t>AIT 500 · WESTCLIFF UNIVERSITY · GROUP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5264" y="1335024"/>
            <a:ext cx="8910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</a:rPr>
              <a:t>Thank you! Any questions?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102633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C9F0"/>
                </a:solidFill>
              </a:rPr>
              <a:t>Try the site right now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D17A"/>
                </a:solidFill>
              </a:rPr>
              <a:t>vitalscan.bkre8tive.com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37960" y="2468880"/>
            <a:ext cx="4480560" cy="1188720"/>
          </a:xfrm>
          <a:prstGeom prst="roundRect">
            <a:avLst>
              <a:gd name="adj" fmla="val 9231"/>
            </a:avLst>
          </a:prstGeom>
          <a:solidFill>
            <a:srgbClr val="101B2D"/>
          </a:solidFill>
          <a:ln w="12700">
            <a:solidFill>
              <a:srgbClr val="31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0" y="2743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</a:rPr>
              <a:t>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3127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2FF"/>
                </a:solidFill>
              </a:rPr>
              <a:t>github.com/gbiz21/vitalscan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0C8"/>
                </a:solidFill>
              </a:rPr>
              <a:t>Group 1 — Germaine · Jason · Daray · Abner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6016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8"/>
                </a:solidFill>
              </a:rPr>
              <a:t>Recap: full rPPG pipeline, API, dashboard, live deployment, and evaluation loop.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2199</Words>
  <Application>Microsoft Macintosh PowerPoint</Application>
  <PresentationFormat>Widescreen</PresentationFormat>
  <Paragraphs>323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Westcliff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VitalScan Group 1 Presentation</dc:title>
  <dc:subject>VitalScan Group 1 Presentation Visual Refresh</dc:subject>
  <dc:creator>OpenAI</dc:creator>
  <cp:lastModifiedBy>Germaine beazer</cp:lastModifiedBy>
  <cp:revision>4</cp:revision>
  <dcterms:created xsi:type="dcterms:W3CDTF">2026-05-17T19:28:19Z</dcterms:created>
  <dcterms:modified xsi:type="dcterms:W3CDTF">2026-05-17T21:40:33Z</dcterms:modified>
</cp:coreProperties>
</file>