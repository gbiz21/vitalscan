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(45s):</a:t>
            </a:r>
          </a:p>
          <a:p/>
          <a:p>
            <a:r>
              <a:t>Good [morning/afternoon]. We are Group 1 for the VitalScan project — Germaine, Jason, Daray, and Abner. Our slice of the project is rPPG signal extraction.</a:t>
            </a:r>
          </a:p>
          <a:p/>
          <a:p>
            <a:r>
              <a:t>This deck is intentionally a planning checkpoint, not a results presentation. The professor asked us to focus on systems engineering rather than jumping straight into code — design the system first, then implement.</a:t>
            </a:r>
          </a:p>
          <a:p/>
          <a:p>
            <a:r>
              <a:t>So in the next ten minutes we'll walk through four things: the problem we're solving, the system architecture we've designed, the build phases we'll execute in order, and the risks we anticipate. We'll save the actual results for the Week 8 group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(90s):</a:t>
            </a:r>
          </a:p>
          <a:p/>
          <a:p>
            <a:r>
              <a:t>Two-column framing first — input and output. Our input is a 30-second video from any standard webcam, no special hardware required. Our output is a biomarker JSON object: heart rate in BPM, heart-rate variability in milliseconds, a stress index from zero to one, and blood pressure. Blood pressure we'll flag as a placeholder because classical rPPG can't actually derive it — more on that in the risks slide.</a:t>
            </a:r>
          </a:p>
          <a:p/>
          <a:p>
            <a:r>
              <a:t>The four numbered objectives below come straight from the project brief. Group 1's slice is the rPPG signal extraction — face detection, region-of-interest picking, the signal-recovery algorithm, and exposing the result as a JSON contract that the other groups can integrate against.</a:t>
            </a:r>
          </a:p>
          <a:p/>
          <a:p>
            <a:r>
              <a:t>The contract is the part worth emphasizing. The professor said "be systems engineers, not just programmers" — agreeing on the API shape early is the most concrete way to design before coding. Everything downstream of that contract can be built in isolation.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 ARCHITECTURE (2m):</a:t>
            </a:r>
          </a:p>
          <a:p/>
          <a:p>
            <a:r>
              <a:t>This is our system design end-to-end. Walking left-to-right, top-to-bottom.</a:t>
            </a:r>
          </a:p>
          <a:p/>
          <a:p>
            <a:r>
              <a:t>Top — the client. Any device with a browser. Three input modes we're planning: in-browser webcam capture using getUserMedia and MediaRecorder, file upload for users who recorded elsewhere, and the dashboard view that displays results. All in standard React running on the user's machine.</a:t>
            </a:r>
          </a:p>
          <a:p/>
          <a:p>
            <a:r>
              <a:t>Middle — Cloudflare. The professor emphasized data quality and security; this is how we handle TLS, DDoS protection, and edge routing without managing certificates ourselves. Cloudflare's named tunnel is outbound-only — our homelab firewall stays closed, no public IP exposed. This is a deliberate security-first design choice.</a:t>
            </a:r>
          </a:p>
          <a:p/>
          <a:p>
            <a:r>
              <a:t>Bottom — the homelab host. Three containers under docker-compose. The cloudflared container terminates the tunnel and routes to nginx, which serves the React build and reverse-proxies the /scan endpoint to the FastAPI backend. The backend is where the actual rPPG pipeline runs — face detection, POS algorithm, HRV calculation.</a:t>
            </a:r>
          </a:p>
          <a:p/>
          <a:p>
            <a:r>
              <a:t>Right side — the offline evaluation harness. Same Python code path as the runtime, so accuracy numbers we report are produced by the same code that serves real traffic. That's intentional — no "demo code vs production code" gap.</a:t>
            </a:r>
          </a:p>
          <a:p/>
          <a:p>
            <a:r>
              <a:t>Design rationale to emphasize: separation of concerns. The frontend doesn't know how rPPG works. The backend doesn't know what UI exists. The deployment doesn't know the algorithm. Each layer can be swapped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rPPG SIGNAL PIPELINE (2m):</a:t>
            </a:r>
          </a:p>
          <a:p/>
          <a:p>
            <a:r>
              <a:t>This is the algorithm we'll implement, designed before any code is written.</a:t>
            </a:r>
          </a:p>
          <a:p/>
          <a:p>
            <a:r>
              <a:t>The physics: a heartbeat pushes oxygenated blood through facial capillaries. Hemoglobin absorbs green light. So the amount of green reflected from skin dips slightly with each beat — about 0.1 to 1 percent of total reflected light. Invisible to the eye, recoverable from a webcam if we process enough pixels over enough frames.</a:t>
            </a:r>
          </a:p>
          <a:p/>
          <a:p>
            <a:r>
              <a:t>Stage 1 — face detection and ROI. We'll use MediaPipe FaceMesh, which puts 468 landmarks on a face in real time on CPU. We pick forehead and both cheeks — highest capillary density, lowest motion. Output is a time-series of average RGB values.</a:t>
            </a:r>
          </a:p>
          <a:p/>
          <a:p>
            <a:r>
              <a:t>Stage 2 — POS algorithm from Wang et al. 2017. The trick: lighting noise moves all three RGB channels together; the pulse signal lives mostly in green. So we project the data onto the plane orthogonal to the skin-tone vector. Noise drops out, pulse is amplified. Then bandpass filter at 0.7 to 4 Hz, take an FFT, find the dominant peak between 60 and 210 BPM.</a:t>
            </a:r>
          </a:p>
          <a:p/>
          <a:p>
            <a:r>
              <a:t>Stage 3 — HRV and stress. Peak-detect the cleaned waveform to get inter-beat intervals. Standard deviation of those intervals is SDNN. The low-frequency over high-frequency power ratio gives us the stress index.</a:t>
            </a:r>
          </a:p>
          <a:p/>
          <a:p>
            <a:r>
              <a:t>Stage 4 — wrap it in JSON matching the shared contract.</a:t>
            </a:r>
          </a:p>
          <a:p/>
          <a:p>
            <a:r>
              <a:t>This is the design. The validation strategy — covered on the data plan slide — is to run this against UBFC-rPPG with ground-truth pulse oximetry and confirm MAE under 10 BPM per the rubric.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 STACK (90s):</a:t>
            </a:r>
          </a:p>
          <a:p/>
          <a:p>
            <a:r>
              <a:t>Three columns — frontend, backend, deployment.</a:t>
            </a:r>
          </a:p>
          <a:p/>
          <a:p>
            <a:r>
              <a:t>Frontend: React with TypeScript. We could have used vanilla JS, but typed component models scale better when multiple people touch the code. Vite for builds because it's the modern standard and the dev server is instant. Tailwind for styling because it eliminates the "what should this button look like" conversation — utility classes encode the design system.</a:t>
            </a:r>
          </a:p>
          <a:p/>
          <a:p>
            <a:r>
              <a:t>Backend: Python 3.12 because that's what the rPPG and ML ecosystem speaks. FastAPI for the HTTP layer because it gives us async, automatic OpenAPI docs, and a 50-line endpoint. Numpy and scipy for the actual signal-chain math — vectorized, fast, well-tested. MediaPipe for face detection because it's the only library that runs at video framerate on CPU.</a:t>
            </a:r>
          </a:p>
          <a:p/>
          <a:p>
            <a:r>
              <a:t>Deployment: Docker Compose because three containers is the right granularity — frontend, backend, tunnel. Cloudflare Tunnel because it solves three problems at once: TLS termination, DDoS protection, and no port forwarding. Homelab because free and we iterate faster on hardware we own.</a:t>
            </a:r>
          </a:p>
          <a:p/>
          <a:p>
            <a:r>
              <a:t>Design principle we're applying throughout: keep it boring and keep it replaceable. No fancy frameworks, no novel tools. If any piece needs to swap out, it should be a one-day job.</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PHASES (2m):</a:t>
            </a:r>
          </a:p>
          <a:p/>
          <a:p>
            <a:r>
              <a:t>Five phases, executed in order. The critical design choice is the ordering — we're explicitly NOT building the rPPG pipeline first.</a:t>
            </a:r>
          </a:p>
          <a:p/>
          <a:p>
            <a:r>
              <a:t>Phase 1 — React UI against mock data. This sounds backwards but it's deliberate. By building the UI first, we lock in the user experience and the JSON contract simultaneously. Everything downstream has to fit this shape.</a:t>
            </a:r>
          </a:p>
          <a:p/>
          <a:p>
            <a:r>
              <a:t>Phase 2 — FastAPI backend returning a mock /scan response. Same contract, real HTTP service. The frontend swaps its data source from local to remote with zero UI changes. This validates the contract.</a:t>
            </a:r>
          </a:p>
          <a:p/>
          <a:p>
            <a:r>
              <a:t>Phase 3 — now we plug in the real rPPG pipeline behind the same endpoint. If the UI worked with mock data and the contract held with HTTP, then real biomarkers slot in cleanly. No UI breakage, no contract negotiation.</a:t>
            </a:r>
          </a:p>
          <a:p/>
          <a:p>
            <a:r>
              <a:t>Phase 4 — Dockerize and deploy through Cloudflare Tunnel. We don't deploy earlier because we want the algorithm validated locally first. Once deployed, the live URL becomes the canonical demo target.</a:t>
            </a:r>
          </a:p>
          <a:p/>
          <a:p>
            <a:r>
              <a:t>Phase 5 — browser webcam capture. Last because it's a UI feature that depends on a working backend pipeline. Doing it last means the capture flow can be tested against real biomarker output, not mocks.</a:t>
            </a:r>
          </a:p>
          <a:p/>
          <a:p>
            <a:r>
              <a:t>The professor's point about "design before code" maps onto this directly: we designed this ordering before writing any of the phases. The order minimizes integration risk — at each boundary, we know what works and what doesn't.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PLAN (90s):</a:t>
            </a:r>
          </a:p>
          <a:p/>
          <a:p>
            <a:r>
              <a:t>Two datasets — real and synthetic — and one evaluation harness that reads both.</a:t>
            </a:r>
          </a:p>
          <a:p/>
          <a:p>
            <a:r>
              <a:t>UBFC-rPPG is our primary dataset because it's real humans with real ground truth from a synchronized finger pulse-oximeter. Forty-two subjects. If we're going to claim our pipeline works on people, UBFC is where we prove it.</a:t>
            </a:r>
          </a:p>
          <a:p/>
          <a:p>
            <a:r>
              <a:t>SCAMPS is the secondary dataset — Microsoft's synthetic facial avatars. Useful as a synthetic-data baseline and stress test, but synthetic skin reflectance doesn't perfectly replicate real capillary blood-volume changes, so we don't treat it as the real bar.</a:t>
            </a:r>
          </a:p>
          <a:p/>
          <a:p>
            <a:r>
              <a:t>The bottom green callout is the rubric target — MAE under 10 BPM on real human data. That's our pass/fail criterion. We'll also report against CHROM, which is the canonical pre-POS classical algorithm from 2013, so the comparison is like-for-like.</a:t>
            </a:r>
          </a:p>
          <a:p/>
          <a:p>
            <a:r>
              <a:t>The professor specifically said "the system is as good as the data" — that's why we're being explicit about which dataset is primary and which is secondary. We're not going to game the average by mixing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RISKS &amp; MITIGATIONS (90s):</a:t>
            </a:r>
          </a:p>
          <a:p/>
          <a:p>
            <a:r>
              <a:t>Four risks we've identified up-front. Each one named, each one mitigated.</a:t>
            </a:r>
          </a:p>
          <a:p/>
          <a:p>
            <a:r>
              <a:t>First — the big one — blood pressure. Classical rPPG can't derive BP without a cuff-calibrated reference. This is a physical limit, not an engineering problem. We're going to return a flagged placeholder value and document it as a known limitation in the writeup. The honest answer is "this is what classical rPPG can do; getting BP would require a different technique."</a:t>
            </a:r>
          </a:p>
          <a:p/>
          <a:p>
            <a:r>
              <a:t>Second — head motion and lighting. The pulse signal is one percent of reflected light; head motion is much bigger. Three mitigations stack: we pick forehead and cheeks because they move less, we bandpass-filter the signal to the heart-rate band, and the POS algorithm itself is designed to suppress motion-correlated noise.</a:t>
            </a:r>
          </a:p>
          <a:p/>
          <a:p>
            <a:r>
              <a:t>Third — SCAMPS synthetic-data artifacts. The synthetic avatars have facial animation that puts strong artifacts in the low-frequency band where slow heart rates live. We're handling this by tightening the FFT search window to 60–210 BPM and treating UBFC as the primary benchmark — synthetic data is for stress-testing, not for the headline number.</a:t>
            </a:r>
          </a:p>
          <a:p/>
          <a:p>
            <a:r>
              <a:t>Fourth — the deep-learning extension was a stretch deliverable. We're explicitly scoping it out of the main five phases. If we have time after the classical pipeline clears the rubric, we'll come back to it. If we don't, we don't — the rubric doesn't require it.</a:t>
            </a:r>
          </a:p>
          <a:p/>
          <a:p>
            <a:r>
              <a:t>The pattern: every risk has a named mitigation. That's what "designing before coding" means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TIMELINE / NEXT STEPS (60s):</a:t>
            </a:r>
          </a:p>
          <a:p/>
          <a:p>
            <a:r>
              <a:t>Left column — what we've finished in the design phase. Six items. We've defined the API contract that other groups can consume, locked in the three-layer architecture, chosen the POS algorithm over alternatives (with rationale), justified every tech-stack pick, ordered our build phases to minimize integration risk, and named our risks with concrete mitigations.</a:t>
            </a:r>
          </a:p>
          <a:p/>
          <a:p>
            <a:r>
              <a:t>That's the planning deliverable. None of it is code. All of it is the foundation that makes the code straightforward.</a:t>
            </a:r>
          </a:p>
          <a:p/>
          <a:p>
            <a:r>
              <a:t>Right column — execution. Five phases in order. By Week 8 we'll come back with the results — accuracy numbers on UBFC, the live deployment, the integration with the other groups. That's a different presentation.</a:t>
            </a:r>
          </a:p>
          <a:p/>
          <a:p>
            <a:r>
              <a:t>The professor's point about being systems engineers, not coders — the left column is what systems engineers produce. The right column is what coders execute after the design is solid.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(30s):</a:t>
            </a:r>
          </a:p>
          <a:p/>
          <a:p>
            <a:r>
              <a:t>To summarize in one line: we designed before we coded.</a:t>
            </a:r>
          </a:p>
          <a:p/>
          <a:p>
            <a:r>
              <a:t>The architecture is three layers — client, Cloudflare edge, homelab backend. The algorithm is the four-stage POS-based signal chain. We have five build phases in a specific order that validates each boundary as we go. And we're aiming for under 10 BPM MAE on the real-human UBFC dataset, which is the rubric target.</a:t>
            </a:r>
          </a:p>
          <a:p/>
          <a:p>
            <a:r>
              <a:t>Happy to take questions on any of the design choices.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120640" cy="6858000"/>
          </a:xfrm>
          <a:prstGeom prst="rect">
            <a:avLst/>
          </a:prstGeom>
          <a:solidFill>
            <a:srgbClr val="0F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4389120" cy="365760"/>
          </a:xfrm>
          <a:prstGeom prst="rect">
            <a:avLst/>
          </a:prstGeom>
          <a:noFill/>
        </p:spPr>
        <p:txBody>
          <a:bodyPr wrap="square" lIns="0" rIns="0" tIns="0" bIns="0">
            <a:spAutoFit/>
          </a:bodyPr>
          <a:lstStyle/>
          <a:p>
            <a:pPr algn="l"/>
            <a:r>
              <a:rPr sz="1100" b="1">
                <a:solidFill>
                  <a:srgbClr val="1F6FEB"/>
                </a:solidFill>
                <a:latin typeface="Calibri"/>
              </a:rPr>
              <a:t>AIT 500 · WESTCLIFF UNIVERSITY</a:t>
            </a:r>
          </a:p>
        </p:txBody>
      </p:sp>
      <p:sp>
        <p:nvSpPr>
          <p:cNvPr id="5" name="TextBox 4"/>
          <p:cNvSpPr txBox="1"/>
          <p:nvPr/>
        </p:nvSpPr>
        <p:spPr>
          <a:xfrm>
            <a:off x="548640" y="1188720"/>
            <a:ext cx="4572000" cy="1463040"/>
          </a:xfrm>
          <a:prstGeom prst="rect">
            <a:avLst/>
          </a:prstGeom>
          <a:noFill/>
        </p:spPr>
        <p:txBody>
          <a:bodyPr wrap="square" lIns="0" rIns="0" tIns="0" bIns="0">
            <a:spAutoFit/>
          </a:bodyPr>
          <a:lstStyle/>
          <a:p>
            <a:pPr algn="l"/>
            <a:r>
              <a:rPr sz="6600" b="1">
                <a:solidFill>
                  <a:srgbClr val="FFFFFF"/>
                </a:solidFill>
                <a:latin typeface="Calibri"/>
              </a:rPr>
              <a:t>VitalScan</a:t>
            </a:r>
          </a:p>
        </p:txBody>
      </p:sp>
      <p:sp>
        <p:nvSpPr>
          <p:cNvPr id="6" name="TextBox 5"/>
          <p:cNvSpPr txBox="1"/>
          <p:nvPr/>
        </p:nvSpPr>
        <p:spPr>
          <a:xfrm>
            <a:off x="548640" y="2560320"/>
            <a:ext cx="4572000" cy="731520"/>
          </a:xfrm>
          <a:prstGeom prst="rect">
            <a:avLst/>
          </a:prstGeom>
          <a:noFill/>
        </p:spPr>
        <p:txBody>
          <a:bodyPr wrap="square" lIns="0" rIns="0" tIns="0" bIns="0">
            <a:spAutoFit/>
          </a:bodyPr>
          <a:lstStyle/>
          <a:p>
            <a:pPr algn="l"/>
            <a:r>
              <a:rPr sz="2200" b="0">
                <a:solidFill>
                  <a:srgbClr val="FFFFFF"/>
                </a:solidFill>
                <a:latin typeface="Calibri"/>
              </a:rPr>
              <a:t>Planning &amp;</a:t>
            </a:r>
          </a:p>
          <a:p>
            <a:pPr algn="l"/>
            <a:r>
              <a:rPr sz="2200" b="0">
                <a:solidFill>
                  <a:srgbClr val="FFFFFF"/>
                </a:solidFill>
                <a:latin typeface="Calibri"/>
              </a:rPr>
              <a:t>Architecture Blueprint</a:t>
            </a:r>
          </a:p>
        </p:txBody>
      </p:sp>
      <p:sp>
        <p:nvSpPr>
          <p:cNvPr id="7" name="TextBox 6"/>
          <p:cNvSpPr txBox="1"/>
          <p:nvPr/>
        </p:nvSpPr>
        <p:spPr>
          <a:xfrm>
            <a:off x="548640" y="4206240"/>
            <a:ext cx="4389120" cy="365760"/>
          </a:xfrm>
          <a:prstGeom prst="rect">
            <a:avLst/>
          </a:prstGeom>
          <a:noFill/>
        </p:spPr>
        <p:txBody>
          <a:bodyPr wrap="square" lIns="0" rIns="0" tIns="0" bIns="0">
            <a:spAutoFit/>
          </a:bodyPr>
          <a:lstStyle/>
          <a:p>
            <a:pPr algn="l"/>
            <a:r>
              <a:rPr sz="1200" b="1">
                <a:solidFill>
                  <a:srgbClr val="1F6FEB"/>
                </a:solidFill>
                <a:latin typeface="Calibri"/>
              </a:rPr>
              <a:t>GROUP 1 · rPPG SIGNAL EXTRACTION</a:t>
            </a:r>
          </a:p>
        </p:txBody>
      </p:sp>
      <p:sp>
        <p:nvSpPr>
          <p:cNvPr id="8" name="TextBox 7"/>
          <p:cNvSpPr txBox="1"/>
          <p:nvPr/>
        </p:nvSpPr>
        <p:spPr>
          <a:xfrm>
            <a:off x="548640" y="6035040"/>
            <a:ext cx="4389120" cy="365760"/>
          </a:xfrm>
          <a:prstGeom prst="rect">
            <a:avLst/>
          </a:prstGeom>
          <a:noFill/>
        </p:spPr>
        <p:txBody>
          <a:bodyPr wrap="square" lIns="0" rIns="0" tIns="0" bIns="0">
            <a:spAutoFit/>
          </a:bodyPr>
          <a:lstStyle/>
          <a:p>
            <a:pPr algn="l"/>
            <a:r>
              <a:rPr sz="1300" b="1">
                <a:solidFill>
                  <a:srgbClr val="1F6FEB"/>
                </a:solidFill>
                <a:latin typeface="Calibri"/>
              </a:rPr>
              <a:t>Class planning checkpoint</a:t>
            </a:r>
          </a:p>
        </p:txBody>
      </p:sp>
      <p:sp>
        <p:nvSpPr>
          <p:cNvPr id="9" name="TextBox 8"/>
          <p:cNvSpPr txBox="1"/>
          <p:nvPr/>
        </p:nvSpPr>
        <p:spPr>
          <a:xfrm>
            <a:off x="5669280" y="822960"/>
            <a:ext cx="5943600" cy="365760"/>
          </a:xfrm>
          <a:prstGeom prst="rect">
            <a:avLst/>
          </a:prstGeom>
          <a:noFill/>
        </p:spPr>
        <p:txBody>
          <a:bodyPr wrap="square" lIns="0" rIns="0" tIns="0" bIns="0">
            <a:spAutoFit/>
          </a:bodyPr>
          <a:lstStyle/>
          <a:p>
            <a:pPr algn="l"/>
            <a:r>
              <a:rPr sz="1200" b="1">
                <a:solidFill>
                  <a:srgbClr val="55667A"/>
                </a:solidFill>
                <a:latin typeface="Calibri"/>
              </a:rPr>
              <a:t>WHAT THIS DECK COVERS</a:t>
            </a:r>
          </a:p>
        </p:txBody>
      </p:sp>
      <p:sp>
        <p:nvSpPr>
          <p:cNvPr id="10" name="TextBox 9"/>
          <p:cNvSpPr txBox="1"/>
          <p:nvPr/>
        </p:nvSpPr>
        <p:spPr>
          <a:xfrm>
            <a:off x="5669280" y="1234440"/>
            <a:ext cx="5943600" cy="640080"/>
          </a:xfrm>
          <a:prstGeom prst="rect">
            <a:avLst/>
          </a:prstGeom>
          <a:noFill/>
        </p:spPr>
        <p:txBody>
          <a:bodyPr wrap="square" lIns="0" rIns="0" tIns="0" bIns="0">
            <a:spAutoFit/>
          </a:bodyPr>
          <a:lstStyle/>
          <a:p>
            <a:pPr algn="l"/>
            <a:r>
              <a:rPr sz="3000" b="1">
                <a:solidFill>
                  <a:srgbClr val="0F1F44"/>
                </a:solidFill>
                <a:latin typeface="Calibri"/>
              </a:rPr>
              <a:t>Designing before coding</a:t>
            </a:r>
          </a:p>
        </p:txBody>
      </p:sp>
      <p:sp>
        <p:nvSpPr>
          <p:cNvPr id="11" name="Rounded Rectangle 10"/>
          <p:cNvSpPr/>
          <p:nvPr/>
        </p:nvSpPr>
        <p:spPr>
          <a:xfrm>
            <a:off x="5669280" y="2331720"/>
            <a:ext cx="5760720" cy="777240"/>
          </a:xfrm>
          <a:prstGeom prst="roundRect">
            <a:avLst>
              <a:gd name="adj" fmla="val 18000"/>
            </a:avLst>
          </a:prstGeom>
          <a:solidFill>
            <a:srgbClr val="EEF3FA"/>
          </a:solidFill>
          <a:ln w="1270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97880" y="2441448"/>
            <a:ext cx="2377440" cy="365760"/>
          </a:xfrm>
          <a:prstGeom prst="rect">
            <a:avLst/>
          </a:prstGeom>
          <a:noFill/>
        </p:spPr>
        <p:txBody>
          <a:bodyPr wrap="square" lIns="0" rIns="0" tIns="0" bIns="0">
            <a:spAutoFit/>
          </a:bodyPr>
          <a:lstStyle/>
          <a:p>
            <a:pPr algn="l"/>
            <a:r>
              <a:rPr sz="1400" b="1">
                <a:solidFill>
                  <a:srgbClr val="0F1F44"/>
                </a:solidFill>
                <a:latin typeface="Calibri"/>
              </a:rPr>
              <a:t>1 · The problem</a:t>
            </a:r>
          </a:p>
        </p:txBody>
      </p:sp>
      <p:sp>
        <p:nvSpPr>
          <p:cNvPr id="13" name="TextBox 12"/>
          <p:cNvSpPr txBox="1"/>
          <p:nvPr/>
        </p:nvSpPr>
        <p:spPr>
          <a:xfrm>
            <a:off x="5897880" y="2743200"/>
            <a:ext cx="5212080" cy="365760"/>
          </a:xfrm>
          <a:prstGeom prst="rect">
            <a:avLst/>
          </a:prstGeom>
          <a:noFill/>
        </p:spPr>
        <p:txBody>
          <a:bodyPr wrap="square" lIns="0" rIns="0" tIns="0" bIns="0">
            <a:spAutoFit/>
          </a:bodyPr>
          <a:lstStyle/>
          <a:p>
            <a:pPr algn="l"/>
            <a:r>
              <a:rPr sz="1100" b="0">
                <a:solidFill>
                  <a:srgbClr val="33445C"/>
                </a:solidFill>
                <a:latin typeface="Calibri"/>
              </a:rPr>
              <a:t>What Group 1 must deliver and why</a:t>
            </a:r>
          </a:p>
        </p:txBody>
      </p:sp>
      <p:sp>
        <p:nvSpPr>
          <p:cNvPr id="14" name="Rounded Rectangle 13"/>
          <p:cNvSpPr/>
          <p:nvPr/>
        </p:nvSpPr>
        <p:spPr>
          <a:xfrm>
            <a:off x="5669280" y="3200400"/>
            <a:ext cx="5760720" cy="777240"/>
          </a:xfrm>
          <a:prstGeom prst="roundRect">
            <a:avLst>
              <a:gd name="adj" fmla="val 18000"/>
            </a:avLst>
          </a:prstGeom>
          <a:solidFill>
            <a:srgbClr val="EEF3FA"/>
          </a:solidFill>
          <a:ln w="1270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97880" y="3310128"/>
            <a:ext cx="2377440" cy="365760"/>
          </a:xfrm>
          <a:prstGeom prst="rect">
            <a:avLst/>
          </a:prstGeom>
          <a:noFill/>
        </p:spPr>
        <p:txBody>
          <a:bodyPr wrap="square" lIns="0" rIns="0" tIns="0" bIns="0">
            <a:spAutoFit/>
          </a:bodyPr>
          <a:lstStyle/>
          <a:p>
            <a:pPr algn="l"/>
            <a:r>
              <a:rPr sz="1400" b="1">
                <a:solidFill>
                  <a:srgbClr val="0F1F44"/>
                </a:solidFill>
                <a:latin typeface="Calibri"/>
              </a:rPr>
              <a:t>2 · System architecture</a:t>
            </a:r>
          </a:p>
        </p:txBody>
      </p:sp>
      <p:sp>
        <p:nvSpPr>
          <p:cNvPr id="16" name="TextBox 15"/>
          <p:cNvSpPr txBox="1"/>
          <p:nvPr/>
        </p:nvSpPr>
        <p:spPr>
          <a:xfrm>
            <a:off x="5897880" y="3611880"/>
            <a:ext cx="5212080" cy="365760"/>
          </a:xfrm>
          <a:prstGeom prst="rect">
            <a:avLst/>
          </a:prstGeom>
          <a:noFill/>
        </p:spPr>
        <p:txBody>
          <a:bodyPr wrap="square" lIns="0" rIns="0" tIns="0" bIns="0">
            <a:spAutoFit/>
          </a:bodyPr>
          <a:lstStyle/>
          <a:p>
            <a:pPr algn="l"/>
            <a:r>
              <a:rPr sz="1100" b="0">
                <a:solidFill>
                  <a:srgbClr val="33445C"/>
                </a:solidFill>
                <a:latin typeface="Calibri"/>
              </a:rPr>
              <a:t>Components, layers, data flow</a:t>
            </a:r>
          </a:p>
        </p:txBody>
      </p:sp>
      <p:sp>
        <p:nvSpPr>
          <p:cNvPr id="17" name="Rounded Rectangle 16"/>
          <p:cNvSpPr/>
          <p:nvPr/>
        </p:nvSpPr>
        <p:spPr>
          <a:xfrm>
            <a:off x="5669280" y="4069080"/>
            <a:ext cx="5760720" cy="777240"/>
          </a:xfrm>
          <a:prstGeom prst="roundRect">
            <a:avLst>
              <a:gd name="adj" fmla="val 18000"/>
            </a:avLst>
          </a:prstGeom>
          <a:solidFill>
            <a:srgbClr val="EEF3FA"/>
          </a:solidFill>
          <a:ln w="1270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97880" y="4178808"/>
            <a:ext cx="2377440" cy="365760"/>
          </a:xfrm>
          <a:prstGeom prst="rect">
            <a:avLst/>
          </a:prstGeom>
          <a:noFill/>
        </p:spPr>
        <p:txBody>
          <a:bodyPr wrap="square" lIns="0" rIns="0" tIns="0" bIns="0">
            <a:spAutoFit/>
          </a:bodyPr>
          <a:lstStyle/>
          <a:p>
            <a:pPr algn="l"/>
            <a:r>
              <a:rPr sz="1400" b="1">
                <a:solidFill>
                  <a:srgbClr val="0F1F44"/>
                </a:solidFill>
                <a:latin typeface="Calibri"/>
              </a:rPr>
              <a:t>3 · Build roadmap</a:t>
            </a:r>
          </a:p>
        </p:txBody>
      </p:sp>
      <p:sp>
        <p:nvSpPr>
          <p:cNvPr id="19" name="TextBox 18"/>
          <p:cNvSpPr txBox="1"/>
          <p:nvPr/>
        </p:nvSpPr>
        <p:spPr>
          <a:xfrm>
            <a:off x="5897880" y="4480560"/>
            <a:ext cx="5212080" cy="365760"/>
          </a:xfrm>
          <a:prstGeom prst="rect">
            <a:avLst/>
          </a:prstGeom>
          <a:noFill/>
        </p:spPr>
        <p:txBody>
          <a:bodyPr wrap="square" lIns="0" rIns="0" tIns="0" bIns="0">
            <a:spAutoFit/>
          </a:bodyPr>
          <a:lstStyle/>
          <a:p>
            <a:pPr algn="l"/>
            <a:r>
              <a:rPr sz="1100" b="0">
                <a:solidFill>
                  <a:srgbClr val="33445C"/>
                </a:solidFill>
                <a:latin typeface="Calibri"/>
              </a:rPr>
              <a:t>Phase 1 – 5, planned in order</a:t>
            </a:r>
          </a:p>
        </p:txBody>
      </p:sp>
      <p:sp>
        <p:nvSpPr>
          <p:cNvPr id="20" name="Rounded Rectangle 19"/>
          <p:cNvSpPr/>
          <p:nvPr/>
        </p:nvSpPr>
        <p:spPr>
          <a:xfrm>
            <a:off x="5669280" y="4937760"/>
            <a:ext cx="5760720" cy="777240"/>
          </a:xfrm>
          <a:prstGeom prst="roundRect">
            <a:avLst>
              <a:gd name="adj" fmla="val 18000"/>
            </a:avLst>
          </a:prstGeom>
          <a:solidFill>
            <a:srgbClr val="EEF3FA"/>
          </a:solidFill>
          <a:ln w="12700">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97880" y="5047488"/>
            <a:ext cx="2377440" cy="365760"/>
          </a:xfrm>
          <a:prstGeom prst="rect">
            <a:avLst/>
          </a:prstGeom>
          <a:noFill/>
        </p:spPr>
        <p:txBody>
          <a:bodyPr wrap="square" lIns="0" rIns="0" tIns="0" bIns="0">
            <a:spAutoFit/>
          </a:bodyPr>
          <a:lstStyle/>
          <a:p>
            <a:pPr algn="l"/>
            <a:r>
              <a:rPr sz="1400" b="1">
                <a:solidFill>
                  <a:srgbClr val="0F1F44"/>
                </a:solidFill>
                <a:latin typeface="Calibri"/>
              </a:rPr>
              <a:t>4 · Risks &amp; next steps</a:t>
            </a:r>
          </a:p>
        </p:txBody>
      </p:sp>
      <p:sp>
        <p:nvSpPr>
          <p:cNvPr id="22" name="TextBox 21"/>
          <p:cNvSpPr txBox="1"/>
          <p:nvPr/>
        </p:nvSpPr>
        <p:spPr>
          <a:xfrm>
            <a:off x="5897880" y="5349240"/>
            <a:ext cx="5212080" cy="365760"/>
          </a:xfrm>
          <a:prstGeom prst="rect">
            <a:avLst/>
          </a:prstGeom>
          <a:noFill/>
        </p:spPr>
        <p:txBody>
          <a:bodyPr wrap="square" lIns="0" rIns="0" tIns="0" bIns="0">
            <a:spAutoFit/>
          </a:bodyPr>
          <a:lstStyle/>
          <a:p>
            <a:pPr algn="l"/>
            <a:r>
              <a:rPr sz="1100" b="0">
                <a:solidFill>
                  <a:srgbClr val="33445C"/>
                </a:solidFill>
                <a:latin typeface="Calibri"/>
              </a:rPr>
              <a:t>What could go wrong, what we do next</a:t>
            </a:r>
          </a:p>
        </p:txBody>
      </p:sp>
      <p:sp>
        <p:nvSpPr>
          <p:cNvPr id="23" name="TextBox 22"/>
          <p:cNvSpPr txBox="1"/>
          <p:nvPr/>
        </p:nvSpPr>
        <p:spPr>
          <a:xfrm>
            <a:off x="5669280" y="5989320"/>
            <a:ext cx="5943600" cy="365760"/>
          </a:xfrm>
          <a:prstGeom prst="rect">
            <a:avLst/>
          </a:prstGeom>
          <a:noFill/>
        </p:spPr>
        <p:txBody>
          <a:bodyPr wrap="square" lIns="0" rIns="0" tIns="0" bIns="0">
            <a:spAutoFit/>
          </a:bodyPr>
          <a:lstStyle/>
          <a:p>
            <a:pPr algn="l"/>
            <a:r>
              <a:rPr sz="1200" b="0">
                <a:solidFill>
                  <a:srgbClr val="55667A"/>
                </a:solidFill>
                <a:latin typeface="Calibri"/>
              </a:rPr>
              <a:t>Germaine · Jason · Daray · Abner   ·   AIT 500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11247120" cy="640080"/>
          </a:xfrm>
          <a:prstGeom prst="rect">
            <a:avLst/>
          </a:prstGeom>
          <a:noFill/>
        </p:spPr>
        <p:txBody>
          <a:bodyPr wrap="square" lIns="0" rIns="0" tIns="0" bIns="0">
            <a:spAutoFit/>
          </a:bodyPr>
          <a:lstStyle/>
          <a:p>
            <a:pPr algn="l"/>
            <a:r>
              <a:rPr sz="2800" b="1">
                <a:solidFill>
                  <a:srgbClr val="0F1F44"/>
                </a:solidFill>
                <a:latin typeface="Calibri"/>
              </a:rPr>
              <a:t>The problem we're solving</a:t>
            </a:r>
          </a:p>
        </p:txBody>
      </p:sp>
      <p:sp>
        <p:nvSpPr>
          <p:cNvPr id="5" name="TextBox 4"/>
          <p:cNvSpPr txBox="1"/>
          <p:nvPr/>
        </p:nvSpPr>
        <p:spPr>
          <a:xfrm>
            <a:off x="457200" y="868680"/>
            <a:ext cx="11247120" cy="365760"/>
          </a:xfrm>
          <a:prstGeom prst="rect">
            <a:avLst/>
          </a:prstGeom>
          <a:noFill/>
        </p:spPr>
        <p:txBody>
          <a:bodyPr wrap="square" lIns="0" rIns="0" tIns="0" bIns="0">
            <a:spAutoFit/>
          </a:bodyPr>
          <a:lstStyle/>
          <a:p>
            <a:pPr algn="l"/>
            <a:r>
              <a:rPr sz="1400" b="0">
                <a:solidFill>
                  <a:srgbClr val="55667A"/>
                </a:solidFill>
                <a:latin typeface="Calibri"/>
              </a:rPr>
              <a:t>Group 1's assignment from the project brief — what we must deliver</a:t>
            </a:r>
          </a:p>
        </p:txBody>
      </p:sp>
      <p:sp>
        <p:nvSpPr>
          <p:cNvPr id="6" name="TextBox 5"/>
          <p:cNvSpPr txBox="1"/>
          <p:nvPr/>
        </p:nvSpPr>
        <p:spPr>
          <a:xfrm>
            <a:off x="457200" y="6446520"/>
            <a:ext cx="11247120" cy="274320"/>
          </a:xfrm>
          <a:prstGeom prst="rect">
            <a:avLst/>
          </a:prstGeom>
          <a:noFill/>
        </p:spPr>
        <p:txBody>
          <a:bodyPr wrap="square" lIns="0" rIns="0" tIns="0" bIns="0">
            <a:spAutoFit/>
          </a:bodyPr>
          <a:lstStyle/>
          <a:p>
            <a:pPr algn="l"/>
            <a:r>
              <a:rPr sz="1000" b="0">
                <a:solidFill>
                  <a:srgbClr val="55667A"/>
                </a:solidFill>
                <a:latin typeface="Calibri"/>
              </a:rPr>
              <a:t>VitalScan · AIT 500 · Group 1 · Planning checkpoint</a:t>
            </a:r>
          </a:p>
        </p:txBody>
      </p:sp>
      <p:sp>
        <p:nvSpPr>
          <p:cNvPr id="7" name="Rounded Rectangle 6"/>
          <p:cNvSpPr/>
          <p:nvPr/>
        </p:nvSpPr>
        <p:spPr>
          <a:xfrm>
            <a:off x="457200" y="1554480"/>
            <a:ext cx="5486400" cy="2286000"/>
          </a:xfrm>
          <a:prstGeom prst="roundRect">
            <a:avLst>
              <a:gd name="adj" fmla="val 6000"/>
            </a:avLst>
          </a:prstGeom>
          <a:solidFill>
            <a:srgbClr val="F6F8FB"/>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91640"/>
            <a:ext cx="5029200" cy="365760"/>
          </a:xfrm>
          <a:prstGeom prst="rect">
            <a:avLst/>
          </a:prstGeom>
          <a:noFill/>
        </p:spPr>
        <p:txBody>
          <a:bodyPr wrap="square" lIns="0" rIns="0" tIns="0" bIns="0">
            <a:spAutoFit/>
          </a:bodyPr>
          <a:lstStyle/>
          <a:p>
            <a:pPr algn="l"/>
            <a:r>
              <a:rPr sz="1200" b="1">
                <a:solidFill>
                  <a:srgbClr val="55667A"/>
                </a:solidFill>
                <a:latin typeface="Calibri"/>
              </a:rPr>
              <a:t>INPUT</a:t>
            </a:r>
          </a:p>
        </p:txBody>
      </p:sp>
      <p:sp>
        <p:nvSpPr>
          <p:cNvPr id="9" name="TextBox 8"/>
          <p:cNvSpPr txBox="1"/>
          <p:nvPr/>
        </p:nvSpPr>
        <p:spPr>
          <a:xfrm>
            <a:off x="685800" y="2057400"/>
            <a:ext cx="5029200" cy="457200"/>
          </a:xfrm>
          <a:prstGeom prst="rect">
            <a:avLst/>
          </a:prstGeom>
          <a:noFill/>
        </p:spPr>
        <p:txBody>
          <a:bodyPr wrap="square" lIns="0" rIns="0" tIns="0" bIns="0">
            <a:spAutoFit/>
          </a:bodyPr>
          <a:lstStyle/>
          <a:p>
            <a:pPr algn="l"/>
            <a:r>
              <a:rPr sz="2000" b="1">
                <a:solidFill>
                  <a:srgbClr val="0F1F44"/>
                </a:solidFill>
                <a:latin typeface="Calibri"/>
              </a:rPr>
              <a:t>A 30-second facial video</a:t>
            </a:r>
          </a:p>
        </p:txBody>
      </p:sp>
      <p:sp>
        <p:nvSpPr>
          <p:cNvPr id="10" name="TextBox 9"/>
          <p:cNvSpPr txBox="1"/>
          <p:nvPr/>
        </p:nvSpPr>
        <p:spPr>
          <a:xfrm>
            <a:off x="685800" y="2606040"/>
            <a:ext cx="5029200" cy="1188720"/>
          </a:xfrm>
          <a:prstGeom prst="rect">
            <a:avLst/>
          </a:prstGeom>
          <a:noFill/>
        </p:spPr>
        <p:txBody>
          <a:bodyPr wrap="square">
            <a:spAutoFit/>
          </a:bodyPr>
          <a:lstStyle/>
          <a:p>
            <a:pPr algn="l">
              <a:spcAft>
                <a:spcPts val="600"/>
              </a:spcAft>
            </a:pPr>
            <a:r>
              <a:rPr sz="1400">
                <a:solidFill>
                  <a:srgbClr val="1A1A1A"/>
                </a:solidFill>
                <a:latin typeface="Calibri"/>
              </a:rPr>
              <a:t>•  Standard webcam · phone or laptop</a:t>
            </a:r>
          </a:p>
          <a:p>
            <a:pPr algn="l">
              <a:spcAft>
                <a:spcPts val="600"/>
              </a:spcAft>
            </a:pPr>
            <a:r>
              <a:rPr sz="1400">
                <a:solidFill>
                  <a:srgbClr val="1A1A1A"/>
                </a:solidFill>
                <a:latin typeface="Calibri"/>
              </a:rPr>
              <a:t>•  30 fps · no special hardware</a:t>
            </a:r>
          </a:p>
          <a:p>
            <a:pPr algn="l">
              <a:spcAft>
                <a:spcPts val="600"/>
              </a:spcAft>
            </a:pPr>
            <a:r>
              <a:rPr sz="1400">
                <a:solidFill>
                  <a:srgbClr val="1A1A1A"/>
                </a:solidFill>
                <a:latin typeface="Calibri"/>
              </a:rPr>
              <a:t>•  User in front of the camera, well-lit</a:t>
            </a:r>
          </a:p>
        </p:txBody>
      </p:sp>
      <p:sp>
        <p:nvSpPr>
          <p:cNvPr id="11" name="Rounded Rectangle 10"/>
          <p:cNvSpPr/>
          <p:nvPr/>
        </p:nvSpPr>
        <p:spPr>
          <a:xfrm>
            <a:off x="6217920" y="1554480"/>
            <a:ext cx="5486400" cy="2286000"/>
          </a:xfrm>
          <a:prstGeom prst="roundRect">
            <a:avLst>
              <a:gd name="adj" fmla="val 6000"/>
            </a:avLst>
          </a:prstGeom>
          <a:solidFill>
            <a:srgbClr val="E9F5EC"/>
          </a:solidFill>
          <a:ln w="15875">
            <a:solidFill>
              <a:srgbClr val="1E88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691640"/>
            <a:ext cx="5029200" cy="365760"/>
          </a:xfrm>
          <a:prstGeom prst="rect">
            <a:avLst/>
          </a:prstGeom>
          <a:noFill/>
        </p:spPr>
        <p:txBody>
          <a:bodyPr wrap="square" lIns="0" rIns="0" tIns="0" bIns="0">
            <a:spAutoFit/>
          </a:bodyPr>
          <a:lstStyle/>
          <a:p>
            <a:pPr algn="l"/>
            <a:r>
              <a:rPr sz="1200" b="1">
                <a:solidFill>
                  <a:srgbClr val="1E884F"/>
                </a:solidFill>
                <a:latin typeface="Calibri"/>
              </a:rPr>
              <a:t>OUTPUT</a:t>
            </a:r>
          </a:p>
        </p:txBody>
      </p:sp>
      <p:sp>
        <p:nvSpPr>
          <p:cNvPr id="13" name="TextBox 12"/>
          <p:cNvSpPr txBox="1"/>
          <p:nvPr/>
        </p:nvSpPr>
        <p:spPr>
          <a:xfrm>
            <a:off x="6446520" y="2057400"/>
            <a:ext cx="5029200" cy="457200"/>
          </a:xfrm>
          <a:prstGeom prst="rect">
            <a:avLst/>
          </a:prstGeom>
          <a:noFill/>
        </p:spPr>
        <p:txBody>
          <a:bodyPr wrap="square" lIns="0" rIns="0" tIns="0" bIns="0">
            <a:spAutoFit/>
          </a:bodyPr>
          <a:lstStyle/>
          <a:p>
            <a:pPr algn="l"/>
            <a:r>
              <a:rPr sz="2000" b="1">
                <a:solidFill>
                  <a:srgbClr val="0F1F44"/>
                </a:solidFill>
                <a:latin typeface="Calibri"/>
              </a:rPr>
              <a:t>Biomarker JSON contract</a:t>
            </a:r>
          </a:p>
        </p:txBody>
      </p:sp>
      <p:sp>
        <p:nvSpPr>
          <p:cNvPr id="14" name="TextBox 13"/>
          <p:cNvSpPr txBox="1"/>
          <p:nvPr/>
        </p:nvSpPr>
        <p:spPr>
          <a:xfrm>
            <a:off x="6446520" y="2606040"/>
            <a:ext cx="5029200" cy="1188720"/>
          </a:xfrm>
          <a:prstGeom prst="rect">
            <a:avLst/>
          </a:prstGeom>
          <a:noFill/>
        </p:spPr>
        <p:txBody>
          <a:bodyPr wrap="square">
            <a:spAutoFit/>
          </a:bodyPr>
          <a:lstStyle/>
          <a:p>
            <a:pPr algn="l">
              <a:spcAft>
                <a:spcPts val="600"/>
              </a:spcAft>
            </a:pPr>
            <a:r>
              <a:rPr sz="1400">
                <a:solidFill>
                  <a:srgbClr val="1A1A1A"/>
                </a:solidFill>
                <a:latin typeface="Calibri"/>
              </a:rPr>
              <a:t>•  Heart rate (BPM) · HRV (SDNN, ms)</a:t>
            </a:r>
          </a:p>
          <a:p>
            <a:pPr algn="l">
              <a:spcAft>
                <a:spcPts val="600"/>
              </a:spcAft>
            </a:pPr>
            <a:r>
              <a:rPr sz="1400">
                <a:solidFill>
                  <a:srgbClr val="1A1A1A"/>
                </a:solidFill>
                <a:latin typeface="Calibri"/>
              </a:rPr>
              <a:t>•  Stress index (0 – 1)</a:t>
            </a:r>
          </a:p>
          <a:p>
            <a:pPr algn="l">
              <a:spcAft>
                <a:spcPts val="600"/>
              </a:spcAft>
            </a:pPr>
            <a:r>
              <a:rPr sz="1400">
                <a:solidFill>
                  <a:srgbClr val="1A1A1A"/>
                </a:solidFill>
                <a:latin typeface="Calibri"/>
              </a:rPr>
              <a:t>•  Blood pressure (placeholder, flagged)</a:t>
            </a:r>
          </a:p>
        </p:txBody>
      </p:sp>
      <p:sp>
        <p:nvSpPr>
          <p:cNvPr id="15" name="TextBox 14"/>
          <p:cNvSpPr txBox="1"/>
          <p:nvPr/>
        </p:nvSpPr>
        <p:spPr>
          <a:xfrm>
            <a:off x="457200" y="4023360"/>
            <a:ext cx="11247120" cy="365760"/>
          </a:xfrm>
          <a:prstGeom prst="rect">
            <a:avLst/>
          </a:prstGeom>
          <a:noFill/>
        </p:spPr>
        <p:txBody>
          <a:bodyPr wrap="square" lIns="0" rIns="0" tIns="0" bIns="0">
            <a:spAutoFit/>
          </a:bodyPr>
          <a:lstStyle/>
          <a:p>
            <a:pPr algn="l"/>
            <a:r>
              <a:rPr sz="1200" b="1">
                <a:solidFill>
                  <a:srgbClr val="55667A"/>
                </a:solidFill>
                <a:latin typeface="Calibri"/>
              </a:rPr>
              <a:t>OBJECTIVES (per the project brief)</a:t>
            </a:r>
          </a:p>
        </p:txBody>
      </p:sp>
      <p:sp>
        <p:nvSpPr>
          <p:cNvPr id="16" name="Rounded Rectangle 15"/>
          <p:cNvSpPr/>
          <p:nvPr/>
        </p:nvSpPr>
        <p:spPr>
          <a:xfrm>
            <a:off x="457200" y="4434840"/>
            <a:ext cx="2697480" cy="1691640"/>
          </a:xfrm>
          <a:prstGeom prst="roundRect">
            <a:avLst>
              <a:gd name="adj" fmla="val 6000"/>
            </a:avLst>
          </a:prstGeom>
          <a:solidFill>
            <a:srgbClr val="F6F8FB"/>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572000"/>
            <a:ext cx="548640" cy="411480"/>
          </a:xfrm>
          <a:prstGeom prst="rect">
            <a:avLst/>
          </a:prstGeom>
          <a:noFill/>
        </p:spPr>
        <p:txBody>
          <a:bodyPr wrap="square" lIns="0" rIns="0" tIns="0" bIns="0">
            <a:spAutoFit/>
          </a:bodyPr>
          <a:lstStyle/>
          <a:p>
            <a:pPr algn="l"/>
            <a:r>
              <a:rPr sz="2400" b="1">
                <a:solidFill>
                  <a:srgbClr val="1F6FEB"/>
                </a:solidFill>
                <a:latin typeface="Calibri"/>
              </a:rPr>
              <a:t>1</a:t>
            </a:r>
          </a:p>
        </p:txBody>
      </p:sp>
      <p:sp>
        <p:nvSpPr>
          <p:cNvPr id="18" name="TextBox 17"/>
          <p:cNvSpPr txBox="1"/>
          <p:nvPr/>
        </p:nvSpPr>
        <p:spPr>
          <a:xfrm>
            <a:off x="640080" y="5029200"/>
            <a:ext cx="2331720" cy="365760"/>
          </a:xfrm>
          <a:prstGeom prst="rect">
            <a:avLst/>
          </a:prstGeom>
          <a:noFill/>
        </p:spPr>
        <p:txBody>
          <a:bodyPr wrap="square" lIns="0" rIns="0" tIns="0" bIns="0">
            <a:spAutoFit/>
          </a:bodyPr>
          <a:lstStyle/>
          <a:p>
            <a:pPr algn="l"/>
            <a:r>
              <a:rPr sz="1400" b="1">
                <a:solidFill>
                  <a:srgbClr val="0F1F44"/>
                </a:solidFill>
                <a:latin typeface="Calibri"/>
              </a:rPr>
              <a:t>Face detection</a:t>
            </a:r>
          </a:p>
        </p:txBody>
      </p:sp>
      <p:sp>
        <p:nvSpPr>
          <p:cNvPr id="19" name="TextBox 18"/>
          <p:cNvSpPr txBox="1"/>
          <p:nvPr/>
        </p:nvSpPr>
        <p:spPr>
          <a:xfrm>
            <a:off x="640080" y="5349240"/>
            <a:ext cx="2331720" cy="777240"/>
          </a:xfrm>
          <a:prstGeom prst="rect">
            <a:avLst/>
          </a:prstGeom>
          <a:noFill/>
        </p:spPr>
        <p:txBody>
          <a:bodyPr wrap="square" lIns="0" rIns="0" tIns="0" bIns="0">
            <a:spAutoFit/>
          </a:bodyPr>
          <a:lstStyle/>
          <a:p>
            <a:pPr algn="l"/>
            <a:r>
              <a:rPr sz="1100" b="0">
                <a:solidFill>
                  <a:srgbClr val="33445C"/>
                </a:solidFill>
                <a:latin typeface="Calibri"/>
              </a:rPr>
              <a:t>Detect the user's face on every video frame.</a:t>
            </a:r>
          </a:p>
        </p:txBody>
      </p:sp>
      <p:sp>
        <p:nvSpPr>
          <p:cNvPr id="20" name="Rounded Rectangle 19"/>
          <p:cNvSpPr/>
          <p:nvPr/>
        </p:nvSpPr>
        <p:spPr>
          <a:xfrm>
            <a:off x="3337560" y="4434840"/>
            <a:ext cx="2697480" cy="1691640"/>
          </a:xfrm>
          <a:prstGeom prst="roundRect">
            <a:avLst>
              <a:gd name="adj" fmla="val 6000"/>
            </a:avLst>
          </a:prstGeom>
          <a:solidFill>
            <a:srgbClr val="F6F8FB"/>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20440" y="4572000"/>
            <a:ext cx="548640" cy="411480"/>
          </a:xfrm>
          <a:prstGeom prst="rect">
            <a:avLst/>
          </a:prstGeom>
          <a:noFill/>
        </p:spPr>
        <p:txBody>
          <a:bodyPr wrap="square" lIns="0" rIns="0" tIns="0" bIns="0">
            <a:spAutoFit/>
          </a:bodyPr>
          <a:lstStyle/>
          <a:p>
            <a:pPr algn="l"/>
            <a:r>
              <a:rPr sz="2400" b="1">
                <a:solidFill>
                  <a:srgbClr val="1F6FEB"/>
                </a:solidFill>
                <a:latin typeface="Calibri"/>
              </a:rPr>
              <a:t>2</a:t>
            </a:r>
          </a:p>
        </p:txBody>
      </p:sp>
      <p:sp>
        <p:nvSpPr>
          <p:cNvPr id="22" name="TextBox 21"/>
          <p:cNvSpPr txBox="1"/>
          <p:nvPr/>
        </p:nvSpPr>
        <p:spPr>
          <a:xfrm>
            <a:off x="3520440" y="5029200"/>
            <a:ext cx="2331720" cy="365760"/>
          </a:xfrm>
          <a:prstGeom prst="rect">
            <a:avLst/>
          </a:prstGeom>
          <a:noFill/>
        </p:spPr>
        <p:txBody>
          <a:bodyPr wrap="square" lIns="0" rIns="0" tIns="0" bIns="0">
            <a:spAutoFit/>
          </a:bodyPr>
          <a:lstStyle/>
          <a:p>
            <a:pPr algn="l"/>
            <a:r>
              <a:rPr sz="1400" b="1">
                <a:solidFill>
                  <a:srgbClr val="0F1F44"/>
                </a:solidFill>
                <a:latin typeface="Calibri"/>
              </a:rPr>
              <a:t>ROI extraction</a:t>
            </a:r>
          </a:p>
        </p:txBody>
      </p:sp>
      <p:sp>
        <p:nvSpPr>
          <p:cNvPr id="23" name="TextBox 22"/>
          <p:cNvSpPr txBox="1"/>
          <p:nvPr/>
        </p:nvSpPr>
        <p:spPr>
          <a:xfrm>
            <a:off x="3520440" y="5349240"/>
            <a:ext cx="2331720" cy="777240"/>
          </a:xfrm>
          <a:prstGeom prst="rect">
            <a:avLst/>
          </a:prstGeom>
          <a:noFill/>
        </p:spPr>
        <p:txBody>
          <a:bodyPr wrap="square" lIns="0" rIns="0" tIns="0" bIns="0">
            <a:spAutoFit/>
          </a:bodyPr>
          <a:lstStyle/>
          <a:p>
            <a:pPr algn="l"/>
            <a:r>
              <a:rPr sz="1100" b="0">
                <a:solidFill>
                  <a:srgbClr val="33445C"/>
                </a:solidFill>
                <a:latin typeface="Calibri"/>
              </a:rPr>
              <a:t>Pick skin patches — forehead + cheeks — with the best signal.</a:t>
            </a:r>
          </a:p>
        </p:txBody>
      </p:sp>
      <p:sp>
        <p:nvSpPr>
          <p:cNvPr id="24" name="Rounded Rectangle 23"/>
          <p:cNvSpPr/>
          <p:nvPr/>
        </p:nvSpPr>
        <p:spPr>
          <a:xfrm>
            <a:off x="6217920" y="4434840"/>
            <a:ext cx="2697480" cy="1691640"/>
          </a:xfrm>
          <a:prstGeom prst="roundRect">
            <a:avLst>
              <a:gd name="adj" fmla="val 6000"/>
            </a:avLst>
          </a:prstGeom>
          <a:solidFill>
            <a:srgbClr val="F6F8FB"/>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0" y="4572000"/>
            <a:ext cx="548640" cy="411480"/>
          </a:xfrm>
          <a:prstGeom prst="rect">
            <a:avLst/>
          </a:prstGeom>
          <a:noFill/>
        </p:spPr>
        <p:txBody>
          <a:bodyPr wrap="square" lIns="0" rIns="0" tIns="0" bIns="0">
            <a:spAutoFit/>
          </a:bodyPr>
          <a:lstStyle/>
          <a:p>
            <a:pPr algn="l"/>
            <a:r>
              <a:rPr sz="2400" b="1">
                <a:solidFill>
                  <a:srgbClr val="1F6FEB"/>
                </a:solidFill>
                <a:latin typeface="Calibri"/>
              </a:rPr>
              <a:t>3</a:t>
            </a:r>
          </a:p>
        </p:txBody>
      </p:sp>
      <p:sp>
        <p:nvSpPr>
          <p:cNvPr id="26" name="TextBox 25"/>
          <p:cNvSpPr txBox="1"/>
          <p:nvPr/>
        </p:nvSpPr>
        <p:spPr>
          <a:xfrm>
            <a:off x="6400800" y="5029200"/>
            <a:ext cx="2331720" cy="365760"/>
          </a:xfrm>
          <a:prstGeom prst="rect">
            <a:avLst/>
          </a:prstGeom>
          <a:noFill/>
        </p:spPr>
        <p:txBody>
          <a:bodyPr wrap="square" lIns="0" rIns="0" tIns="0" bIns="0">
            <a:spAutoFit/>
          </a:bodyPr>
          <a:lstStyle/>
          <a:p>
            <a:pPr algn="l"/>
            <a:r>
              <a:rPr sz="1400" b="1">
                <a:solidFill>
                  <a:srgbClr val="0F1F44"/>
                </a:solidFill>
                <a:latin typeface="Calibri"/>
              </a:rPr>
              <a:t>rPPG signal</a:t>
            </a:r>
          </a:p>
        </p:txBody>
      </p:sp>
      <p:sp>
        <p:nvSpPr>
          <p:cNvPr id="27" name="TextBox 26"/>
          <p:cNvSpPr txBox="1"/>
          <p:nvPr/>
        </p:nvSpPr>
        <p:spPr>
          <a:xfrm>
            <a:off x="6400800" y="5349240"/>
            <a:ext cx="2331720" cy="777240"/>
          </a:xfrm>
          <a:prstGeom prst="rect">
            <a:avLst/>
          </a:prstGeom>
          <a:noFill/>
        </p:spPr>
        <p:txBody>
          <a:bodyPr wrap="square" lIns="0" rIns="0" tIns="0" bIns="0">
            <a:spAutoFit/>
          </a:bodyPr>
          <a:lstStyle/>
          <a:p>
            <a:pPr algn="l"/>
            <a:r>
              <a:rPr sz="1100" b="0">
                <a:solidFill>
                  <a:srgbClr val="33445C"/>
                </a:solidFill>
                <a:latin typeface="Calibri"/>
              </a:rPr>
              <a:t>Recover heart rate, HRV, and stress from the ROI color.</a:t>
            </a:r>
          </a:p>
        </p:txBody>
      </p:sp>
      <p:sp>
        <p:nvSpPr>
          <p:cNvPr id="28" name="Rounded Rectangle 27"/>
          <p:cNvSpPr/>
          <p:nvPr/>
        </p:nvSpPr>
        <p:spPr>
          <a:xfrm>
            <a:off x="9098280" y="4434840"/>
            <a:ext cx="2697480" cy="1691640"/>
          </a:xfrm>
          <a:prstGeom prst="roundRect">
            <a:avLst>
              <a:gd name="adj" fmla="val 6000"/>
            </a:avLst>
          </a:prstGeom>
          <a:solidFill>
            <a:srgbClr val="F6F8FB"/>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81160" y="4572000"/>
            <a:ext cx="548640" cy="411480"/>
          </a:xfrm>
          <a:prstGeom prst="rect">
            <a:avLst/>
          </a:prstGeom>
          <a:noFill/>
        </p:spPr>
        <p:txBody>
          <a:bodyPr wrap="square" lIns="0" rIns="0" tIns="0" bIns="0">
            <a:spAutoFit/>
          </a:bodyPr>
          <a:lstStyle/>
          <a:p>
            <a:pPr algn="l"/>
            <a:r>
              <a:rPr sz="2400" b="1">
                <a:solidFill>
                  <a:srgbClr val="1F6FEB"/>
                </a:solidFill>
                <a:latin typeface="Calibri"/>
              </a:rPr>
              <a:t>4</a:t>
            </a:r>
          </a:p>
        </p:txBody>
      </p:sp>
      <p:sp>
        <p:nvSpPr>
          <p:cNvPr id="30" name="TextBox 29"/>
          <p:cNvSpPr txBox="1"/>
          <p:nvPr/>
        </p:nvSpPr>
        <p:spPr>
          <a:xfrm>
            <a:off x="9281160" y="5029200"/>
            <a:ext cx="2331720" cy="365760"/>
          </a:xfrm>
          <a:prstGeom prst="rect">
            <a:avLst/>
          </a:prstGeom>
          <a:noFill/>
        </p:spPr>
        <p:txBody>
          <a:bodyPr wrap="square" lIns="0" rIns="0" tIns="0" bIns="0">
            <a:spAutoFit/>
          </a:bodyPr>
          <a:lstStyle/>
          <a:p>
            <a:pPr algn="l"/>
            <a:r>
              <a:rPr sz="1400" b="1">
                <a:solidFill>
                  <a:srgbClr val="0F1F44"/>
                </a:solidFill>
                <a:latin typeface="Calibri"/>
              </a:rPr>
              <a:t>API contract</a:t>
            </a:r>
          </a:p>
        </p:txBody>
      </p:sp>
      <p:sp>
        <p:nvSpPr>
          <p:cNvPr id="31" name="TextBox 30"/>
          <p:cNvSpPr txBox="1"/>
          <p:nvPr/>
        </p:nvSpPr>
        <p:spPr>
          <a:xfrm>
            <a:off x="9281160" y="5349240"/>
            <a:ext cx="2331720" cy="777240"/>
          </a:xfrm>
          <a:prstGeom prst="rect">
            <a:avLst/>
          </a:prstGeom>
          <a:noFill/>
        </p:spPr>
        <p:txBody>
          <a:bodyPr wrap="square" lIns="0" rIns="0" tIns="0" bIns="0">
            <a:spAutoFit/>
          </a:bodyPr>
          <a:lstStyle/>
          <a:p>
            <a:pPr algn="l"/>
            <a:r>
              <a:rPr sz="1100" b="0">
                <a:solidFill>
                  <a:srgbClr val="33445C"/>
                </a:solidFill>
                <a:latin typeface="Calibri"/>
              </a:rPr>
              <a:t>Expose results as JSON so other groups can consume them.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11247120" cy="640080"/>
          </a:xfrm>
          <a:prstGeom prst="rect">
            <a:avLst/>
          </a:prstGeom>
          <a:noFill/>
        </p:spPr>
        <p:txBody>
          <a:bodyPr wrap="square" lIns="0" rIns="0" tIns="0" bIns="0">
            <a:spAutoFit/>
          </a:bodyPr>
          <a:lstStyle/>
          <a:p>
            <a:pPr algn="l"/>
            <a:r>
              <a:rPr sz="2800" b="1">
                <a:solidFill>
                  <a:srgbClr val="0F1F44"/>
                </a:solidFill>
                <a:latin typeface="Calibri"/>
              </a:rPr>
              <a:t>System architecture — the blueprint</a:t>
            </a:r>
          </a:p>
        </p:txBody>
      </p:sp>
      <p:sp>
        <p:nvSpPr>
          <p:cNvPr id="5" name="TextBox 4"/>
          <p:cNvSpPr txBox="1"/>
          <p:nvPr/>
        </p:nvSpPr>
        <p:spPr>
          <a:xfrm>
            <a:off x="457200" y="868680"/>
            <a:ext cx="11247120" cy="365760"/>
          </a:xfrm>
          <a:prstGeom prst="rect">
            <a:avLst/>
          </a:prstGeom>
          <a:noFill/>
        </p:spPr>
        <p:txBody>
          <a:bodyPr wrap="square" lIns="0" rIns="0" tIns="0" bIns="0">
            <a:spAutoFit/>
          </a:bodyPr>
          <a:lstStyle/>
          <a:p>
            <a:pPr algn="l"/>
            <a:r>
              <a:rPr sz="1400" b="0">
                <a:solidFill>
                  <a:srgbClr val="55667A"/>
                </a:solidFill>
                <a:latin typeface="Calibri"/>
              </a:rPr>
              <a:t>Three layers, one request path, fully containerized</a:t>
            </a:r>
          </a:p>
        </p:txBody>
      </p:sp>
      <p:sp>
        <p:nvSpPr>
          <p:cNvPr id="6" name="TextBox 5"/>
          <p:cNvSpPr txBox="1"/>
          <p:nvPr/>
        </p:nvSpPr>
        <p:spPr>
          <a:xfrm>
            <a:off x="457200" y="6446520"/>
            <a:ext cx="11247120" cy="274320"/>
          </a:xfrm>
          <a:prstGeom prst="rect">
            <a:avLst/>
          </a:prstGeom>
          <a:noFill/>
        </p:spPr>
        <p:txBody>
          <a:bodyPr wrap="square" lIns="0" rIns="0" tIns="0" bIns="0">
            <a:spAutoFit/>
          </a:bodyPr>
          <a:lstStyle/>
          <a:p>
            <a:pPr algn="l"/>
            <a:r>
              <a:rPr sz="1000" b="0">
                <a:solidFill>
                  <a:srgbClr val="55667A"/>
                </a:solidFill>
                <a:latin typeface="Calibri"/>
              </a:rPr>
              <a:t>VitalScan · AIT 500 · Group 1 · Planning checkpoint</a:t>
            </a:r>
          </a:p>
        </p:txBody>
      </p:sp>
      <p:pic>
        <p:nvPicPr>
          <p:cNvPr id="7" name="Picture 6" descr="figure2-architecture.png"/>
          <p:cNvPicPr>
            <a:picLocks noChangeAspect="1"/>
          </p:cNvPicPr>
          <p:nvPr/>
        </p:nvPicPr>
        <p:blipFill>
          <a:blip r:embed="rId2"/>
          <a:stretch>
            <a:fillRect/>
          </a:stretch>
        </p:blipFill>
        <p:spPr>
          <a:xfrm>
            <a:off x="457200" y="1417320"/>
            <a:ext cx="11247120" cy="8679028"/>
          </a:xfrm>
          <a:prstGeom prst="rect">
            <a:avLst/>
          </a:prstGeom>
        </p:spPr>
      </p:pic>
      <p:sp>
        <p:nvSpPr>
          <p:cNvPr id="8" name="TextBox 7"/>
          <p:cNvSpPr txBox="1"/>
          <p:nvPr/>
        </p:nvSpPr>
        <p:spPr>
          <a:xfrm>
            <a:off x="457200" y="5989320"/>
            <a:ext cx="11247120" cy="365760"/>
          </a:xfrm>
          <a:prstGeom prst="rect">
            <a:avLst/>
          </a:prstGeom>
          <a:noFill/>
        </p:spPr>
        <p:txBody>
          <a:bodyPr wrap="square" lIns="0" rIns="0" tIns="0" bIns="0">
            <a:spAutoFit/>
          </a:bodyPr>
          <a:lstStyle/>
          <a:p>
            <a:pPr algn="ctr"/>
            <a:r>
              <a:rPr sz="1300" b="1">
                <a:solidFill>
                  <a:srgbClr val="55667A"/>
                </a:solidFill>
                <a:latin typeface="Calibri"/>
              </a:rPr>
              <a:t>Client (browser) → Cloudflare edge + tunnel → homelab docker-compose stack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11247120" cy="640080"/>
          </a:xfrm>
          <a:prstGeom prst="rect">
            <a:avLst/>
          </a:prstGeom>
          <a:noFill/>
        </p:spPr>
        <p:txBody>
          <a:bodyPr wrap="square" lIns="0" rIns="0" tIns="0" bIns="0">
            <a:spAutoFit/>
          </a:bodyPr>
          <a:lstStyle/>
          <a:p>
            <a:pPr algn="l"/>
            <a:r>
              <a:rPr sz="2800" b="1">
                <a:solidFill>
                  <a:srgbClr val="0F1F44"/>
                </a:solidFill>
                <a:latin typeface="Calibri"/>
              </a:rPr>
              <a:t>rPPG signal pipeline — algorithm blueprint</a:t>
            </a:r>
          </a:p>
        </p:txBody>
      </p:sp>
      <p:sp>
        <p:nvSpPr>
          <p:cNvPr id="5" name="TextBox 4"/>
          <p:cNvSpPr txBox="1"/>
          <p:nvPr/>
        </p:nvSpPr>
        <p:spPr>
          <a:xfrm>
            <a:off x="457200" y="868680"/>
            <a:ext cx="11247120" cy="365760"/>
          </a:xfrm>
          <a:prstGeom prst="rect">
            <a:avLst/>
          </a:prstGeom>
          <a:noFill/>
        </p:spPr>
        <p:txBody>
          <a:bodyPr wrap="square" lIns="0" rIns="0" tIns="0" bIns="0">
            <a:spAutoFit/>
          </a:bodyPr>
          <a:lstStyle/>
          <a:p>
            <a:pPr algn="l"/>
            <a:r>
              <a:rPr sz="1400" b="0">
                <a:solidFill>
                  <a:srgbClr val="55667A"/>
                </a:solidFill>
                <a:latin typeface="Calibri"/>
              </a:rPr>
              <a:t>Click to step through · four stages from video to biomarkers</a:t>
            </a:r>
          </a:p>
        </p:txBody>
      </p:sp>
      <p:sp>
        <p:nvSpPr>
          <p:cNvPr id="6" name="TextBox 5"/>
          <p:cNvSpPr txBox="1"/>
          <p:nvPr/>
        </p:nvSpPr>
        <p:spPr>
          <a:xfrm>
            <a:off x="457200" y="6446520"/>
            <a:ext cx="11247120" cy="274320"/>
          </a:xfrm>
          <a:prstGeom prst="rect">
            <a:avLst/>
          </a:prstGeom>
          <a:noFill/>
        </p:spPr>
        <p:txBody>
          <a:bodyPr wrap="square" lIns="0" rIns="0" tIns="0" bIns="0">
            <a:spAutoFit/>
          </a:bodyPr>
          <a:lstStyle/>
          <a:p>
            <a:pPr algn="l"/>
            <a:r>
              <a:rPr sz="1000" b="0">
                <a:solidFill>
                  <a:srgbClr val="55667A"/>
                </a:solidFill>
                <a:latin typeface="Calibri"/>
              </a:rPr>
              <a:t>VitalScan · AIT 500 · Group 1 · Planning checkpoint</a:t>
            </a:r>
          </a:p>
        </p:txBody>
      </p:sp>
      <p:sp>
        <p:nvSpPr>
          <p:cNvPr id="7" name="Rounded Rectangle 6"/>
          <p:cNvSpPr/>
          <p:nvPr/>
        </p:nvSpPr>
        <p:spPr>
          <a:xfrm>
            <a:off x="457200" y="1508760"/>
            <a:ext cx="2651760" cy="4434840"/>
          </a:xfrm>
          <a:prstGeom prst="roundRect">
            <a:avLst>
              <a:gd name="adj" fmla="val 6000"/>
            </a:avLst>
          </a:prstGeom>
          <a:solidFill>
            <a:srgbClr val="F6F8FB"/>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691640"/>
            <a:ext cx="640080" cy="640080"/>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37360"/>
            <a:ext cx="640080" cy="548640"/>
          </a:xfrm>
          <a:prstGeom prst="rect">
            <a:avLst/>
          </a:prstGeom>
          <a:noFill/>
        </p:spPr>
        <p:txBody>
          <a:bodyPr wrap="square" lIns="0" rIns="0" tIns="0" bIns="0">
            <a:spAutoFit/>
          </a:bodyPr>
          <a:lstStyle/>
          <a:p>
            <a:pPr algn="ctr"/>
            <a:r>
              <a:rPr sz="2200" b="1">
                <a:solidFill>
                  <a:srgbClr val="FFFFFF"/>
                </a:solidFill>
                <a:latin typeface="Calibri"/>
              </a:rPr>
              <a:t>1</a:t>
            </a:r>
          </a:p>
        </p:txBody>
      </p:sp>
      <p:sp>
        <p:nvSpPr>
          <p:cNvPr id="10" name="TextBox 9"/>
          <p:cNvSpPr txBox="1"/>
          <p:nvPr/>
        </p:nvSpPr>
        <p:spPr>
          <a:xfrm>
            <a:off x="685800" y="2514600"/>
            <a:ext cx="2194560" cy="365760"/>
          </a:xfrm>
          <a:prstGeom prst="rect">
            <a:avLst/>
          </a:prstGeom>
          <a:noFill/>
        </p:spPr>
        <p:txBody>
          <a:bodyPr wrap="square" lIns="0" rIns="0" tIns="0" bIns="0">
            <a:spAutoFit/>
          </a:bodyPr>
          <a:lstStyle/>
          <a:p>
            <a:pPr algn="l"/>
            <a:r>
              <a:rPr sz="1500" b="1">
                <a:solidFill>
                  <a:srgbClr val="0F1F44"/>
                </a:solidFill>
                <a:latin typeface="Calibri"/>
              </a:rPr>
              <a:t>Detect face</a:t>
            </a:r>
          </a:p>
        </p:txBody>
      </p:sp>
      <p:sp>
        <p:nvSpPr>
          <p:cNvPr id="11" name="TextBox 10"/>
          <p:cNvSpPr txBox="1"/>
          <p:nvPr/>
        </p:nvSpPr>
        <p:spPr>
          <a:xfrm>
            <a:off x="685800" y="3154680"/>
            <a:ext cx="2194560" cy="2743200"/>
          </a:xfrm>
          <a:prstGeom prst="rect">
            <a:avLst/>
          </a:prstGeom>
          <a:noFill/>
        </p:spPr>
        <p:txBody>
          <a:bodyPr wrap="square">
            <a:spAutoFit/>
          </a:bodyPr>
          <a:lstStyle/>
          <a:p>
            <a:pPr algn="l">
              <a:spcAft>
                <a:spcPts val="600"/>
              </a:spcAft>
            </a:pPr>
            <a:r>
              <a:rPr sz="1100">
                <a:solidFill>
                  <a:srgbClr val="1A1A1A"/>
                </a:solidFill>
                <a:latin typeface="Calibri"/>
              </a:rPr>
              <a:t>•  MediaPipe FaceMesh</a:t>
            </a:r>
          </a:p>
          <a:p>
            <a:pPr algn="l">
              <a:spcAft>
                <a:spcPts val="600"/>
              </a:spcAft>
            </a:pPr>
            <a:r>
              <a:rPr sz="1100">
                <a:solidFill>
                  <a:srgbClr val="1A1A1A"/>
                </a:solidFill>
                <a:latin typeface="Calibri"/>
              </a:rPr>
              <a:t>•  468 landmarks / frame</a:t>
            </a:r>
          </a:p>
          <a:p>
            <a:pPr algn="l">
              <a:spcAft>
                <a:spcPts val="600"/>
              </a:spcAft>
            </a:pPr>
            <a:r>
              <a:rPr sz="1100">
                <a:solidFill>
                  <a:srgbClr val="1A1A1A"/>
                </a:solidFill>
                <a:latin typeface="Calibri"/>
              </a:rPr>
              <a:t>•  Real-time on CPU</a:t>
            </a:r>
          </a:p>
          <a:p>
            <a:pPr algn="l">
              <a:spcAft>
                <a:spcPts val="600"/>
              </a:spcAft>
            </a:pPr>
            <a:r>
              <a:rPr sz="1100">
                <a:solidFill>
                  <a:srgbClr val="1A1A1A"/>
                </a:solidFill>
                <a:latin typeface="Calibri"/>
              </a:rPr>
              <a:t>•  Skip frames with no face</a:t>
            </a:r>
          </a:p>
        </p:txBody>
      </p:sp>
      <p:sp>
        <p:nvSpPr>
          <p:cNvPr id="12" name="Rounded Rectangle 11"/>
          <p:cNvSpPr/>
          <p:nvPr/>
        </p:nvSpPr>
        <p:spPr>
          <a:xfrm>
            <a:off x="3291840" y="1508760"/>
            <a:ext cx="2651760" cy="4434840"/>
          </a:xfrm>
          <a:prstGeom prst="roundRect">
            <a:avLst>
              <a:gd name="adj" fmla="val 6000"/>
            </a:avLst>
          </a:prstGeom>
          <a:solidFill>
            <a:srgbClr val="F6F8FB"/>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520440" y="1691640"/>
            <a:ext cx="640080" cy="640080"/>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0440" y="1737360"/>
            <a:ext cx="640080" cy="548640"/>
          </a:xfrm>
          <a:prstGeom prst="rect">
            <a:avLst/>
          </a:prstGeom>
          <a:noFill/>
        </p:spPr>
        <p:txBody>
          <a:bodyPr wrap="square" lIns="0" rIns="0" tIns="0" bIns="0">
            <a:spAutoFit/>
          </a:bodyPr>
          <a:lstStyle/>
          <a:p>
            <a:pPr algn="ctr"/>
            <a:r>
              <a:rPr sz="2200" b="1">
                <a:solidFill>
                  <a:srgbClr val="FFFFFF"/>
                </a:solidFill>
                <a:latin typeface="Calibri"/>
              </a:rPr>
              <a:t>2</a:t>
            </a:r>
          </a:p>
        </p:txBody>
      </p:sp>
      <p:sp>
        <p:nvSpPr>
          <p:cNvPr id="15" name="TextBox 14"/>
          <p:cNvSpPr txBox="1"/>
          <p:nvPr/>
        </p:nvSpPr>
        <p:spPr>
          <a:xfrm>
            <a:off x="3520440" y="2514600"/>
            <a:ext cx="2194560" cy="365760"/>
          </a:xfrm>
          <a:prstGeom prst="rect">
            <a:avLst/>
          </a:prstGeom>
          <a:noFill/>
        </p:spPr>
        <p:txBody>
          <a:bodyPr wrap="square" lIns="0" rIns="0" tIns="0" bIns="0">
            <a:spAutoFit/>
          </a:bodyPr>
          <a:lstStyle/>
          <a:p>
            <a:pPr algn="l"/>
            <a:r>
              <a:rPr sz="1500" b="1">
                <a:solidFill>
                  <a:srgbClr val="0F1F44"/>
                </a:solidFill>
                <a:latin typeface="Calibri"/>
              </a:rPr>
              <a:t>Pick ROIs</a:t>
            </a:r>
          </a:p>
        </p:txBody>
      </p:sp>
      <p:sp>
        <p:nvSpPr>
          <p:cNvPr id="16" name="TextBox 15"/>
          <p:cNvSpPr txBox="1"/>
          <p:nvPr/>
        </p:nvSpPr>
        <p:spPr>
          <a:xfrm>
            <a:off x="3520440" y="3154680"/>
            <a:ext cx="2194560" cy="2743200"/>
          </a:xfrm>
          <a:prstGeom prst="rect">
            <a:avLst/>
          </a:prstGeom>
          <a:noFill/>
        </p:spPr>
        <p:txBody>
          <a:bodyPr wrap="square">
            <a:spAutoFit/>
          </a:bodyPr>
          <a:lstStyle/>
          <a:p>
            <a:pPr algn="l">
              <a:spcAft>
                <a:spcPts val="600"/>
              </a:spcAft>
            </a:pPr>
            <a:r>
              <a:rPr sz="1100">
                <a:solidFill>
                  <a:srgbClr val="1A1A1A"/>
                </a:solidFill>
                <a:latin typeface="Calibri"/>
              </a:rPr>
              <a:t>•  Forehead + both cheeks</a:t>
            </a:r>
          </a:p>
          <a:p>
            <a:pPr algn="l">
              <a:spcAft>
                <a:spcPts val="600"/>
              </a:spcAft>
            </a:pPr>
            <a:r>
              <a:rPr sz="1100">
                <a:solidFill>
                  <a:srgbClr val="1A1A1A"/>
                </a:solidFill>
                <a:latin typeface="Calibri"/>
              </a:rPr>
              <a:t>•  Highest capillary density</a:t>
            </a:r>
          </a:p>
          <a:p>
            <a:pPr algn="l">
              <a:spcAft>
                <a:spcPts val="600"/>
              </a:spcAft>
            </a:pPr>
            <a:r>
              <a:rPr sz="1100">
                <a:solidFill>
                  <a:srgbClr val="1A1A1A"/>
                </a:solidFill>
                <a:latin typeface="Calibri"/>
              </a:rPr>
              <a:t>•  Lowest motion artifact</a:t>
            </a:r>
          </a:p>
          <a:p>
            <a:pPr algn="l">
              <a:spcAft>
                <a:spcPts val="600"/>
              </a:spcAft>
            </a:pPr>
            <a:r>
              <a:rPr sz="1100">
                <a:solidFill>
                  <a:srgbClr val="1A1A1A"/>
                </a:solidFill>
                <a:latin typeface="Calibri"/>
              </a:rPr>
              <a:t>•  Mean RGB per frame → T×3</a:t>
            </a:r>
          </a:p>
        </p:txBody>
      </p:sp>
      <p:sp>
        <p:nvSpPr>
          <p:cNvPr id="17" name="Rounded Rectangle 16"/>
          <p:cNvSpPr/>
          <p:nvPr/>
        </p:nvSpPr>
        <p:spPr>
          <a:xfrm>
            <a:off x="6126480" y="1508760"/>
            <a:ext cx="2651760" cy="4434840"/>
          </a:xfrm>
          <a:prstGeom prst="roundRect">
            <a:avLst>
              <a:gd name="adj" fmla="val 6000"/>
            </a:avLst>
          </a:prstGeom>
          <a:solidFill>
            <a:srgbClr val="F6F8FB"/>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55080" y="1691640"/>
            <a:ext cx="640080" cy="640080"/>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1737360"/>
            <a:ext cx="640080" cy="548640"/>
          </a:xfrm>
          <a:prstGeom prst="rect">
            <a:avLst/>
          </a:prstGeom>
          <a:noFill/>
        </p:spPr>
        <p:txBody>
          <a:bodyPr wrap="square" lIns="0" rIns="0" tIns="0" bIns="0">
            <a:spAutoFit/>
          </a:bodyPr>
          <a:lstStyle/>
          <a:p>
            <a:pPr algn="ctr"/>
            <a:r>
              <a:rPr sz="2200" b="1">
                <a:solidFill>
                  <a:srgbClr val="FFFFFF"/>
                </a:solidFill>
                <a:latin typeface="Calibri"/>
              </a:rPr>
              <a:t>3</a:t>
            </a:r>
          </a:p>
        </p:txBody>
      </p:sp>
      <p:sp>
        <p:nvSpPr>
          <p:cNvPr id="20" name="TextBox 19"/>
          <p:cNvSpPr txBox="1"/>
          <p:nvPr/>
        </p:nvSpPr>
        <p:spPr>
          <a:xfrm>
            <a:off x="6355080" y="2514600"/>
            <a:ext cx="2194560" cy="365760"/>
          </a:xfrm>
          <a:prstGeom prst="rect">
            <a:avLst/>
          </a:prstGeom>
          <a:noFill/>
        </p:spPr>
        <p:txBody>
          <a:bodyPr wrap="square" lIns="0" rIns="0" tIns="0" bIns="0">
            <a:spAutoFit/>
          </a:bodyPr>
          <a:lstStyle/>
          <a:p>
            <a:pPr algn="l"/>
            <a:r>
              <a:rPr sz="1500" b="1">
                <a:solidFill>
                  <a:srgbClr val="0F1F44"/>
                </a:solidFill>
                <a:latin typeface="Calibri"/>
              </a:rPr>
              <a:t>POS + bandpass</a:t>
            </a:r>
          </a:p>
        </p:txBody>
      </p:sp>
      <p:sp>
        <p:nvSpPr>
          <p:cNvPr id="21" name="TextBox 20"/>
          <p:cNvSpPr txBox="1"/>
          <p:nvPr/>
        </p:nvSpPr>
        <p:spPr>
          <a:xfrm>
            <a:off x="6355080" y="3154680"/>
            <a:ext cx="2194560" cy="2743200"/>
          </a:xfrm>
          <a:prstGeom prst="rect">
            <a:avLst/>
          </a:prstGeom>
          <a:noFill/>
        </p:spPr>
        <p:txBody>
          <a:bodyPr wrap="square">
            <a:spAutoFit/>
          </a:bodyPr>
          <a:lstStyle/>
          <a:p>
            <a:pPr algn="l">
              <a:spcAft>
                <a:spcPts val="600"/>
              </a:spcAft>
            </a:pPr>
            <a:r>
              <a:rPr sz="1100">
                <a:solidFill>
                  <a:srgbClr val="1A1A1A"/>
                </a:solidFill>
                <a:latin typeface="Calibri"/>
              </a:rPr>
              <a:t>•  Project RGB onto plane</a:t>
            </a:r>
          </a:p>
          <a:p>
            <a:pPr algn="l">
              <a:spcAft>
                <a:spcPts val="600"/>
              </a:spcAft>
            </a:pPr>
            <a:r>
              <a:rPr sz="1100">
                <a:solidFill>
                  <a:srgbClr val="1A1A1A"/>
                </a:solidFill>
                <a:latin typeface="Calibri"/>
              </a:rPr>
              <a:t>•  orthogonal to skin tone</a:t>
            </a:r>
          </a:p>
          <a:p>
            <a:pPr algn="l">
              <a:spcAft>
                <a:spcPts val="600"/>
              </a:spcAft>
            </a:pPr>
            <a:r>
              <a:rPr sz="1100">
                <a:solidFill>
                  <a:srgbClr val="1A1A1A"/>
                </a:solidFill>
                <a:latin typeface="Calibri"/>
              </a:rPr>
              <a:t>•  Butterworth 0.7–4 Hz</a:t>
            </a:r>
          </a:p>
          <a:p>
            <a:pPr algn="l">
              <a:spcAft>
                <a:spcPts val="600"/>
              </a:spcAft>
            </a:pPr>
            <a:r>
              <a:rPr sz="1100">
                <a:solidFill>
                  <a:srgbClr val="1A1A1A"/>
                </a:solidFill>
                <a:latin typeface="Calibri"/>
              </a:rPr>
              <a:t>•  Pulse amplified, noise out</a:t>
            </a:r>
          </a:p>
        </p:txBody>
      </p:sp>
      <p:sp>
        <p:nvSpPr>
          <p:cNvPr id="22" name="Rounded Rectangle 21"/>
          <p:cNvSpPr/>
          <p:nvPr/>
        </p:nvSpPr>
        <p:spPr>
          <a:xfrm>
            <a:off x="8961120" y="1508760"/>
            <a:ext cx="2651760" cy="4434840"/>
          </a:xfrm>
          <a:prstGeom prst="roundRect">
            <a:avLst>
              <a:gd name="adj" fmla="val 6000"/>
            </a:avLst>
          </a:prstGeom>
          <a:solidFill>
            <a:srgbClr val="F6F8FB"/>
          </a:solidFill>
          <a:ln w="15875">
            <a:solidFill>
              <a:srgbClr val="1E88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189720" y="1691640"/>
            <a:ext cx="640080" cy="640080"/>
          </a:xfrm>
          <a:prstGeom prst="ellipse">
            <a:avLst/>
          </a:prstGeom>
          <a:solidFill>
            <a:srgbClr val="1E88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737360"/>
            <a:ext cx="640080" cy="548640"/>
          </a:xfrm>
          <a:prstGeom prst="rect">
            <a:avLst/>
          </a:prstGeom>
          <a:noFill/>
        </p:spPr>
        <p:txBody>
          <a:bodyPr wrap="square" lIns="0" rIns="0" tIns="0" bIns="0">
            <a:spAutoFit/>
          </a:bodyPr>
          <a:lstStyle/>
          <a:p>
            <a:pPr algn="ctr"/>
            <a:r>
              <a:rPr sz="2200" b="1">
                <a:solidFill>
                  <a:srgbClr val="FFFFFF"/>
                </a:solidFill>
                <a:latin typeface="Calibri"/>
              </a:rPr>
              <a:t>4</a:t>
            </a:r>
          </a:p>
        </p:txBody>
      </p:sp>
      <p:sp>
        <p:nvSpPr>
          <p:cNvPr id="25" name="TextBox 24"/>
          <p:cNvSpPr txBox="1"/>
          <p:nvPr/>
        </p:nvSpPr>
        <p:spPr>
          <a:xfrm>
            <a:off x="9189720" y="2514600"/>
            <a:ext cx="2194560" cy="365760"/>
          </a:xfrm>
          <a:prstGeom prst="rect">
            <a:avLst/>
          </a:prstGeom>
          <a:noFill/>
        </p:spPr>
        <p:txBody>
          <a:bodyPr wrap="square" lIns="0" rIns="0" tIns="0" bIns="0">
            <a:spAutoFit/>
          </a:bodyPr>
          <a:lstStyle/>
          <a:p>
            <a:pPr algn="l"/>
            <a:r>
              <a:rPr sz="1500" b="1">
                <a:solidFill>
                  <a:srgbClr val="0F1F44"/>
                </a:solidFill>
                <a:latin typeface="Calibri"/>
              </a:rPr>
              <a:t>FFT → BPM</a:t>
            </a:r>
          </a:p>
        </p:txBody>
      </p:sp>
      <p:sp>
        <p:nvSpPr>
          <p:cNvPr id="26" name="TextBox 25"/>
          <p:cNvSpPr txBox="1"/>
          <p:nvPr/>
        </p:nvSpPr>
        <p:spPr>
          <a:xfrm>
            <a:off x="9189720" y="3154680"/>
            <a:ext cx="2194560" cy="2743200"/>
          </a:xfrm>
          <a:prstGeom prst="rect">
            <a:avLst/>
          </a:prstGeom>
          <a:noFill/>
        </p:spPr>
        <p:txBody>
          <a:bodyPr wrap="square">
            <a:spAutoFit/>
          </a:bodyPr>
          <a:lstStyle/>
          <a:p>
            <a:pPr algn="l">
              <a:spcAft>
                <a:spcPts val="600"/>
              </a:spcAft>
            </a:pPr>
            <a:r>
              <a:rPr sz="1100">
                <a:solidFill>
                  <a:srgbClr val="1A1A1A"/>
                </a:solidFill>
                <a:latin typeface="Calibri"/>
              </a:rPr>
              <a:t>•  FFT with 4× zero-pad</a:t>
            </a:r>
          </a:p>
          <a:p>
            <a:pPr algn="l">
              <a:spcAft>
                <a:spcPts val="600"/>
              </a:spcAft>
            </a:pPr>
            <a:r>
              <a:rPr sz="1100">
                <a:solidFill>
                  <a:srgbClr val="1A1A1A"/>
                </a:solidFill>
                <a:latin typeface="Calibri"/>
              </a:rPr>
              <a:t>•  Search peak in 60–210 BPM</a:t>
            </a:r>
          </a:p>
          <a:p>
            <a:pPr algn="l">
              <a:spcAft>
                <a:spcPts val="600"/>
              </a:spcAft>
            </a:pPr>
            <a:r>
              <a:rPr sz="1100">
                <a:solidFill>
                  <a:srgbClr val="1A1A1A"/>
                </a:solidFill>
                <a:latin typeface="Calibri"/>
              </a:rPr>
              <a:t>•  Peak × 60 = heart rate</a:t>
            </a:r>
          </a:p>
          <a:p>
            <a:pPr algn="l">
              <a:spcAft>
                <a:spcPts val="600"/>
              </a:spcAft>
            </a:pPr>
            <a:r>
              <a:rPr sz="1100">
                <a:solidFill>
                  <a:srgbClr val="1A1A1A"/>
                </a:solidFill>
                <a:latin typeface="Calibri"/>
              </a:rPr>
              <a:t>•  Reuse pulse for HRV + stress</a:t>
            </a:r>
          </a:p>
        </p:txBody>
      </p:sp>
      <p:sp>
        <p:nvSpPr>
          <p:cNvPr id="27" name="Right Arrow 26"/>
          <p:cNvSpPr/>
          <p:nvPr/>
        </p:nvSpPr>
        <p:spPr>
          <a:xfrm>
            <a:off x="3063240" y="3520440"/>
            <a:ext cx="274320" cy="365760"/>
          </a:xfrm>
          <a:prstGeom prst="rightArrow">
            <a:avLst/>
          </a:prstGeom>
          <a:solidFill>
            <a:srgbClr val="5566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5897880" y="3520440"/>
            <a:ext cx="274320" cy="365760"/>
          </a:xfrm>
          <a:prstGeom prst="rightArrow">
            <a:avLst/>
          </a:prstGeom>
          <a:solidFill>
            <a:srgbClr val="5566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ght Arrow 28"/>
          <p:cNvSpPr/>
          <p:nvPr/>
        </p:nvSpPr>
        <p:spPr>
          <a:xfrm>
            <a:off x="8732520" y="3520440"/>
            <a:ext cx="274320" cy="365760"/>
          </a:xfrm>
          <a:prstGeom prst="rightArrow">
            <a:avLst/>
          </a:prstGeom>
          <a:solidFill>
            <a:srgbClr val="5566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 y="6126480"/>
            <a:ext cx="11247120" cy="365760"/>
          </a:xfrm>
          <a:prstGeom prst="rect">
            <a:avLst/>
          </a:prstGeom>
          <a:noFill/>
        </p:spPr>
        <p:txBody>
          <a:bodyPr wrap="square" lIns="0" rIns="0" tIns="0" bIns="0">
            <a:spAutoFit/>
          </a:bodyPr>
          <a:lstStyle/>
          <a:p>
            <a:pPr algn="ctr"/>
            <a:r>
              <a:rPr sz="1200" b="0">
                <a:solidFill>
                  <a:srgbClr val="55667A"/>
                </a:solidFill>
                <a:latin typeface="Calibri"/>
              </a:rPr>
              <a:t>Same cleaned pulse → HR · HRV (SDNN) · stress index (LF/HF sigmoid)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tgtEl>
                                          <p:spTgt spid="7"/>
                                        </p:tgtEl>
                                        <p:attrNameLst>
                                          <p:attrName>style.visibility</p:attrName>
                                        </p:attrNameLst>
                                      </p:cBhvr>
                                      <p:to>
                                        <p:strVal val="visible"/>
                                      </p:to>
                                    </p:set>
                                    <p:anim calcmode="lin" valueType="num">
                                      <p:cBhvr additive="base">
                                        <p:cTn id="7" dur="600" fill="hold"/>
                                        <p:tgtEl>
                                          <p:spTgt spid="7"/>
                                        </p:tgtEl>
                                        <p:attrNameLst>
                                          <p:attrName>style.opacity</p:attrName>
                                        </p:attrNameLst>
                                      </p:cBhvr>
                                      <p:tavLst>
                                        <p:tav tm="0">
                                          <p:val>
                                            <p:fltVal val="0"/>
                                          </p:val>
                                        </p:tav>
                                        <p:tav tm="100000">
                                          <p:val>
                                            <p:fltVal val="1"/>
                                          </p:val>
                                        </p:tav>
                                      </p:tavLst>
                                    </p:anim>
                                  </p:childTnLst>
                                </p:cTn>
                              </p:par>
                              <p:par>
                                <p:cTn id="8" presetID="10" presetClass="entr" presetSubtype="0" fill="hold" grpId="0" nodeType="withEffect">
                                  <p:stCondLst>
                                    <p:cond delay="0"/>
                                  </p:stCondLst>
                                  <p:childTnLst>
                                    <p:set>
                                      <p:cBhvr>
                                        <p:cTn id="9" dur="1" fill="hold"/>
                                        <p:tgtEl>
                                          <p:spTgt spid="8"/>
                                        </p:tgtEl>
                                        <p:attrNameLst>
                                          <p:attrName>style.visibility</p:attrName>
                                        </p:attrNameLst>
                                      </p:cBhvr>
                                      <p:to>
                                        <p:strVal val="visible"/>
                                      </p:to>
                                    </p:set>
                                    <p:anim calcmode="lin" valueType="num">
                                      <p:cBhvr additive="base">
                                        <p:cTn id="10" dur="600" fill="hold"/>
                                        <p:tgtEl>
                                          <p:spTgt spid="8"/>
                                        </p:tgtEl>
                                        <p:attrNameLst>
                                          <p:attrName>style.opacity</p:attrName>
                                        </p:attrNameLst>
                                      </p:cBhvr>
                                      <p:tavLst>
                                        <p:tav tm="0">
                                          <p:val>
                                            <p:fltVal val="0"/>
                                          </p:val>
                                        </p:tav>
                                        <p:tav tm="100000">
                                          <p:val>
                                            <p:fltVal val="1"/>
                                          </p:val>
                                        </p:tav>
                                      </p:tavLst>
                                    </p:anim>
                                  </p:childTnLst>
                                </p:cTn>
                              </p:par>
                              <p:par>
                                <p:cTn id="11" presetID="10" presetClass="entr" presetSubtype="0" fill="hold" grpId="0" nodeType="withEffect">
                                  <p:stCondLst>
                                    <p:cond delay="0"/>
                                  </p:stCondLst>
                                  <p:childTnLst>
                                    <p:set>
                                      <p:cBhvr>
                                        <p:cTn id="12" dur="1" fill="hold"/>
                                        <p:tgtEl>
                                          <p:spTgt spid="9"/>
                                        </p:tgtEl>
                                        <p:attrNameLst>
                                          <p:attrName>style.visibility</p:attrName>
                                        </p:attrNameLst>
                                      </p:cBhvr>
                                      <p:to>
                                        <p:strVal val="visible"/>
                                      </p:to>
                                    </p:set>
                                    <p:anim calcmode="lin" valueType="num">
                                      <p:cBhvr additive="base">
                                        <p:cTn id="13" dur="600" fill="hold"/>
                                        <p:tgtEl>
                                          <p:spTgt spid="9"/>
                                        </p:tgtEl>
                                        <p:attrNameLst>
                                          <p:attrName>style.opacity</p:attrName>
                                        </p:attrNameLst>
                                      </p:cBhvr>
                                      <p:tavLst>
                                        <p:tav tm="0">
                                          <p:val>
                                            <p:fltVal val="0"/>
                                          </p:val>
                                        </p:tav>
                                        <p:tav tm="100000">
                                          <p:val>
                                            <p:fltVal val="1"/>
                                          </p:val>
                                        </p:tav>
                                      </p:tavLst>
                                    </p:anim>
                                  </p:childTnLst>
                                </p:cTn>
                              </p:par>
                              <p:par>
                                <p:cTn id="14" presetID="10" presetClass="entr" presetSubtype="0" fill="hold" grpId="0" nodeType="withEffect">
                                  <p:stCondLst>
                                    <p:cond delay="0"/>
                                  </p:stCondLst>
                                  <p:childTnLst>
                                    <p:set>
                                      <p:cBhvr>
                                        <p:cTn id="15" dur="1" fill="hold"/>
                                        <p:tgtEl>
                                          <p:spTgt spid="10"/>
                                        </p:tgtEl>
                                        <p:attrNameLst>
                                          <p:attrName>style.visibility</p:attrName>
                                        </p:attrNameLst>
                                      </p:cBhvr>
                                      <p:to>
                                        <p:strVal val="visible"/>
                                      </p:to>
                                    </p:set>
                                    <p:anim calcmode="lin" valueType="num">
                                      <p:cBhvr additive="base">
                                        <p:cTn id="16" dur="600" fill="hold"/>
                                        <p:tgtEl>
                                          <p:spTgt spid="10"/>
                                        </p:tgtEl>
                                        <p:attrNameLst>
                                          <p:attrName>style.opacity</p:attrName>
                                        </p:attrNameLst>
                                      </p:cBhvr>
                                      <p:tavLst>
                                        <p:tav tm="0">
                                          <p:val>
                                            <p:fltVal val="0"/>
                                          </p:val>
                                        </p:tav>
                                        <p:tav tm="100000">
                                          <p:val>
                                            <p:fltVal val="1"/>
                                          </p:val>
                                        </p:tav>
                                      </p:tavLst>
                                    </p:anim>
                                  </p:childTnLst>
                                </p:cTn>
                              </p:par>
                              <p:par>
                                <p:cTn id="17" presetID="10" presetClass="entr" presetSubtype="0" fill="hold" grpId="0" nodeType="withEffect">
                                  <p:stCondLst>
                                    <p:cond delay="0"/>
                                  </p:stCondLst>
                                  <p:childTnLst>
                                    <p:set>
                                      <p:cBhvr>
                                        <p:cTn id="18" dur="1" fill="hold"/>
                                        <p:tgtEl>
                                          <p:spTgt spid="11"/>
                                        </p:tgtEl>
                                        <p:attrNameLst>
                                          <p:attrName>style.visibility</p:attrName>
                                        </p:attrNameLst>
                                      </p:cBhvr>
                                      <p:to>
                                        <p:strVal val="visible"/>
                                      </p:to>
                                    </p:set>
                                    <p:anim calcmode="lin" valueType="num">
                                      <p:cBhvr additive="base">
                                        <p:cTn id="19" dur="600" fill="hold"/>
                                        <p:tgtEl>
                                          <p:spTgt spid="11"/>
                                        </p:tgtEl>
                                        <p:attrNameLst>
                                          <p:attrName>style.opacity</p:attrName>
                                        </p:attrNameLst>
                                      </p:cBhvr>
                                      <p:tavLst>
                                        <p:tav tm="0">
                                          <p:val>
                                            <p:fltVal val="0"/>
                                          </p:val>
                                        </p:tav>
                                        <p:tav tm="100000">
                                          <p:val>
                                            <p:fltVal val="1"/>
                                          </p:val>
                                        </p:tav>
                                      </p:tavLst>
                                    </p:anim>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tgtEl>
                                          <p:spTgt spid="12"/>
                                        </p:tgtEl>
                                        <p:attrNameLst>
                                          <p:attrName>style.visibility</p:attrName>
                                        </p:attrNameLst>
                                      </p:cBhvr>
                                      <p:to>
                                        <p:strVal val="visible"/>
                                      </p:to>
                                    </p:set>
                                    <p:anim calcmode="lin" valueType="num">
                                      <p:cBhvr additive="base">
                                        <p:cTn id="24" dur="600" fill="hold"/>
                                        <p:tgtEl>
                                          <p:spTgt spid="12"/>
                                        </p:tgtEl>
                                        <p:attrNameLst>
                                          <p:attrName>style.opacity</p:attrName>
                                        </p:attrNameLst>
                                      </p:cBhvr>
                                      <p:tavLst>
                                        <p:tav tm="0">
                                          <p:val>
                                            <p:fltVal val="0"/>
                                          </p:val>
                                        </p:tav>
                                        <p:tav tm="100000">
                                          <p:val>
                                            <p:fltVal val="1"/>
                                          </p:val>
                                        </p:tav>
                                      </p:tavLst>
                                    </p:anim>
                                  </p:childTnLst>
                                </p:cTn>
                              </p:par>
                              <p:par>
                                <p:cTn id="25" presetID="10" presetClass="entr" presetSubtype="0" fill="hold" grpId="0" nodeType="withEffect">
                                  <p:stCondLst>
                                    <p:cond delay="0"/>
                                  </p:stCondLst>
                                  <p:childTnLst>
                                    <p:set>
                                      <p:cBhvr>
                                        <p:cTn id="26" dur="1" fill="hold"/>
                                        <p:tgtEl>
                                          <p:spTgt spid="13"/>
                                        </p:tgtEl>
                                        <p:attrNameLst>
                                          <p:attrName>style.visibility</p:attrName>
                                        </p:attrNameLst>
                                      </p:cBhvr>
                                      <p:to>
                                        <p:strVal val="visible"/>
                                      </p:to>
                                    </p:set>
                                    <p:anim calcmode="lin" valueType="num">
                                      <p:cBhvr additive="base">
                                        <p:cTn id="27" dur="600" fill="hold"/>
                                        <p:tgtEl>
                                          <p:spTgt spid="13"/>
                                        </p:tgtEl>
                                        <p:attrNameLst>
                                          <p:attrName>style.opacity</p:attrName>
                                        </p:attrNameLst>
                                      </p:cBhvr>
                                      <p:tavLst>
                                        <p:tav tm="0">
                                          <p:val>
                                            <p:fltVal val="0"/>
                                          </p:val>
                                        </p:tav>
                                        <p:tav tm="100000">
                                          <p:val>
                                            <p:fltVal val="1"/>
                                          </p:val>
                                        </p:tav>
                                      </p:tavLst>
                                    </p:anim>
                                  </p:childTnLst>
                                </p:cTn>
                              </p:par>
                              <p:par>
                                <p:cTn id="28" presetID="10" presetClass="entr" presetSubtype="0" fill="hold" grpId="0" nodeType="withEffect">
                                  <p:stCondLst>
                                    <p:cond delay="0"/>
                                  </p:stCondLst>
                                  <p:childTnLst>
                                    <p:set>
                                      <p:cBhvr>
                                        <p:cTn id="29" dur="1" fill="hold"/>
                                        <p:tgtEl>
                                          <p:spTgt spid="14"/>
                                        </p:tgtEl>
                                        <p:attrNameLst>
                                          <p:attrName>style.visibility</p:attrName>
                                        </p:attrNameLst>
                                      </p:cBhvr>
                                      <p:to>
                                        <p:strVal val="visible"/>
                                      </p:to>
                                    </p:set>
                                    <p:anim calcmode="lin" valueType="num">
                                      <p:cBhvr additive="base">
                                        <p:cTn id="30" dur="600" fill="hold"/>
                                        <p:tgtEl>
                                          <p:spTgt spid="14"/>
                                        </p:tgtEl>
                                        <p:attrNameLst>
                                          <p:attrName>style.opacity</p:attrName>
                                        </p:attrNameLst>
                                      </p:cBhvr>
                                      <p:tavLst>
                                        <p:tav tm="0">
                                          <p:val>
                                            <p:fltVal val="0"/>
                                          </p:val>
                                        </p:tav>
                                        <p:tav tm="100000">
                                          <p:val>
                                            <p:fltVal val="1"/>
                                          </p:val>
                                        </p:tav>
                                      </p:tavLst>
                                    </p:anim>
                                  </p:childTnLst>
                                </p:cTn>
                              </p:par>
                              <p:par>
                                <p:cTn id="31" presetID="10" presetClass="entr" presetSubtype="0" fill="hold" grpId="0" nodeType="withEffect">
                                  <p:stCondLst>
                                    <p:cond delay="0"/>
                                  </p:stCondLst>
                                  <p:childTnLst>
                                    <p:set>
                                      <p:cBhvr>
                                        <p:cTn id="32" dur="1" fill="hold"/>
                                        <p:tgtEl>
                                          <p:spTgt spid="15"/>
                                        </p:tgtEl>
                                        <p:attrNameLst>
                                          <p:attrName>style.visibility</p:attrName>
                                        </p:attrNameLst>
                                      </p:cBhvr>
                                      <p:to>
                                        <p:strVal val="visible"/>
                                      </p:to>
                                    </p:set>
                                    <p:anim calcmode="lin" valueType="num">
                                      <p:cBhvr additive="base">
                                        <p:cTn id="33" dur="600" fill="hold"/>
                                        <p:tgtEl>
                                          <p:spTgt spid="15"/>
                                        </p:tgtEl>
                                        <p:attrNameLst>
                                          <p:attrName>style.opacity</p:attrName>
                                        </p:attrNameLst>
                                      </p:cBhvr>
                                      <p:tavLst>
                                        <p:tav tm="0">
                                          <p:val>
                                            <p:fltVal val="0"/>
                                          </p:val>
                                        </p:tav>
                                        <p:tav tm="100000">
                                          <p:val>
                                            <p:fltVal val="1"/>
                                          </p:val>
                                        </p:tav>
                                      </p:tavLst>
                                    </p:anim>
                                  </p:childTnLst>
                                </p:cTn>
                              </p:par>
                              <p:par>
                                <p:cTn id="34" presetID="10" presetClass="entr" presetSubtype="0" fill="hold" grpId="0" nodeType="withEffect">
                                  <p:stCondLst>
                                    <p:cond delay="0"/>
                                  </p:stCondLst>
                                  <p:childTnLst>
                                    <p:set>
                                      <p:cBhvr>
                                        <p:cTn id="35" dur="1" fill="hold"/>
                                        <p:tgtEl>
                                          <p:spTgt spid="16"/>
                                        </p:tgtEl>
                                        <p:attrNameLst>
                                          <p:attrName>style.visibility</p:attrName>
                                        </p:attrNameLst>
                                      </p:cBhvr>
                                      <p:to>
                                        <p:strVal val="visible"/>
                                      </p:to>
                                    </p:set>
                                    <p:anim calcmode="lin" valueType="num">
                                      <p:cBhvr additive="base">
                                        <p:cTn id="36" dur="600" fill="hold"/>
                                        <p:tgtEl>
                                          <p:spTgt spid="16"/>
                                        </p:tgtEl>
                                        <p:attrNameLst>
                                          <p:attrName>style.opacity</p:attrName>
                                        </p:attrNameLst>
                                      </p:cBhvr>
                                      <p:tavLst>
                                        <p:tav tm="0">
                                          <p:val>
                                            <p:fltVal val="0"/>
                                          </p:val>
                                        </p:tav>
                                        <p:tav tm="100000">
                                          <p:val>
                                            <p:fltVal val="1"/>
                                          </p:val>
                                        </p:tav>
                                      </p:tavLst>
                                    </p:anim>
                                  </p:childTnLst>
                                </p:cTn>
                              </p:par>
                              <p:par>
                                <p:cTn id="37" presetID="10" presetClass="entr" presetSubtype="0" fill="hold" grpId="0" nodeType="withEffect">
                                  <p:stCondLst>
                                    <p:cond delay="0"/>
                                  </p:stCondLst>
                                  <p:childTnLst>
                                    <p:set>
                                      <p:cBhvr>
                                        <p:cTn id="38" dur="1" fill="hold"/>
                                        <p:tgtEl>
                                          <p:spTgt spid="27"/>
                                        </p:tgtEl>
                                        <p:attrNameLst>
                                          <p:attrName>style.visibility</p:attrName>
                                        </p:attrNameLst>
                                      </p:cBhvr>
                                      <p:to>
                                        <p:strVal val="visible"/>
                                      </p:to>
                                    </p:set>
                                    <p:anim calcmode="lin" valueType="num">
                                      <p:cBhvr additive="base">
                                        <p:cTn id="39" dur="600" fill="hold"/>
                                        <p:tgtEl>
                                          <p:spTgt spid="27"/>
                                        </p:tgtEl>
                                        <p:attrNameLst>
                                          <p:attrName>style.opacity</p:attrName>
                                        </p:attrNameLst>
                                      </p:cBhvr>
                                      <p:tavLst>
                                        <p:tav tm="0">
                                          <p:val>
                                            <p:fltVal val="0"/>
                                          </p:val>
                                        </p:tav>
                                        <p:tav tm="100000">
                                          <p:val>
                                            <p:fltVal val="1"/>
                                          </p:val>
                                        </p:tav>
                                      </p:tavLst>
                                    </p:anim>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tgtEl>
                                          <p:spTgt spid="17"/>
                                        </p:tgtEl>
                                        <p:attrNameLst>
                                          <p:attrName>style.visibility</p:attrName>
                                        </p:attrNameLst>
                                      </p:cBhvr>
                                      <p:to>
                                        <p:strVal val="visible"/>
                                      </p:to>
                                    </p:set>
                                    <p:anim calcmode="lin" valueType="num">
                                      <p:cBhvr additive="base">
                                        <p:cTn id="44" dur="600" fill="hold"/>
                                        <p:tgtEl>
                                          <p:spTgt spid="17"/>
                                        </p:tgtEl>
                                        <p:attrNameLst>
                                          <p:attrName>style.opacity</p:attrName>
                                        </p:attrNameLst>
                                      </p:cBhvr>
                                      <p:tavLst>
                                        <p:tav tm="0">
                                          <p:val>
                                            <p:fltVal val="0"/>
                                          </p:val>
                                        </p:tav>
                                        <p:tav tm="100000">
                                          <p:val>
                                            <p:fltVal val="1"/>
                                          </p:val>
                                        </p:tav>
                                      </p:tavLst>
                                    </p:anim>
                                  </p:childTnLst>
                                </p:cTn>
                              </p:par>
                              <p:par>
                                <p:cTn id="45" presetID="10" presetClass="entr" presetSubtype="0" fill="hold" grpId="0" nodeType="withEffect">
                                  <p:stCondLst>
                                    <p:cond delay="0"/>
                                  </p:stCondLst>
                                  <p:childTnLst>
                                    <p:set>
                                      <p:cBhvr>
                                        <p:cTn id="46" dur="1" fill="hold"/>
                                        <p:tgtEl>
                                          <p:spTgt spid="18"/>
                                        </p:tgtEl>
                                        <p:attrNameLst>
                                          <p:attrName>style.visibility</p:attrName>
                                        </p:attrNameLst>
                                      </p:cBhvr>
                                      <p:to>
                                        <p:strVal val="visible"/>
                                      </p:to>
                                    </p:set>
                                    <p:anim calcmode="lin" valueType="num">
                                      <p:cBhvr additive="base">
                                        <p:cTn id="47" dur="600" fill="hold"/>
                                        <p:tgtEl>
                                          <p:spTgt spid="18"/>
                                        </p:tgtEl>
                                        <p:attrNameLst>
                                          <p:attrName>style.opacity</p:attrName>
                                        </p:attrNameLst>
                                      </p:cBhvr>
                                      <p:tavLst>
                                        <p:tav tm="0">
                                          <p:val>
                                            <p:fltVal val="0"/>
                                          </p:val>
                                        </p:tav>
                                        <p:tav tm="100000">
                                          <p:val>
                                            <p:fltVal val="1"/>
                                          </p:val>
                                        </p:tav>
                                      </p:tavLst>
                                    </p:anim>
                                  </p:childTnLst>
                                </p:cTn>
                              </p:par>
                              <p:par>
                                <p:cTn id="48" presetID="10" presetClass="entr" presetSubtype="0" fill="hold" grpId="0" nodeType="withEffect">
                                  <p:stCondLst>
                                    <p:cond delay="0"/>
                                  </p:stCondLst>
                                  <p:childTnLst>
                                    <p:set>
                                      <p:cBhvr>
                                        <p:cTn id="49" dur="1" fill="hold"/>
                                        <p:tgtEl>
                                          <p:spTgt spid="19"/>
                                        </p:tgtEl>
                                        <p:attrNameLst>
                                          <p:attrName>style.visibility</p:attrName>
                                        </p:attrNameLst>
                                      </p:cBhvr>
                                      <p:to>
                                        <p:strVal val="visible"/>
                                      </p:to>
                                    </p:set>
                                    <p:anim calcmode="lin" valueType="num">
                                      <p:cBhvr additive="base">
                                        <p:cTn id="50" dur="600" fill="hold"/>
                                        <p:tgtEl>
                                          <p:spTgt spid="19"/>
                                        </p:tgtEl>
                                        <p:attrNameLst>
                                          <p:attrName>style.opacity</p:attrName>
                                        </p:attrNameLst>
                                      </p:cBhvr>
                                      <p:tavLst>
                                        <p:tav tm="0">
                                          <p:val>
                                            <p:fltVal val="0"/>
                                          </p:val>
                                        </p:tav>
                                        <p:tav tm="100000">
                                          <p:val>
                                            <p:fltVal val="1"/>
                                          </p:val>
                                        </p:tav>
                                      </p:tavLst>
                                    </p:anim>
                                  </p:childTnLst>
                                </p:cTn>
                              </p:par>
                              <p:par>
                                <p:cTn id="51" presetID="10" presetClass="entr" presetSubtype="0" fill="hold" grpId="0" nodeType="withEffect">
                                  <p:stCondLst>
                                    <p:cond delay="0"/>
                                  </p:stCondLst>
                                  <p:childTnLst>
                                    <p:set>
                                      <p:cBhvr>
                                        <p:cTn id="52" dur="1" fill="hold"/>
                                        <p:tgtEl>
                                          <p:spTgt spid="20"/>
                                        </p:tgtEl>
                                        <p:attrNameLst>
                                          <p:attrName>style.visibility</p:attrName>
                                        </p:attrNameLst>
                                      </p:cBhvr>
                                      <p:to>
                                        <p:strVal val="visible"/>
                                      </p:to>
                                    </p:set>
                                    <p:anim calcmode="lin" valueType="num">
                                      <p:cBhvr additive="base">
                                        <p:cTn id="53" dur="600" fill="hold"/>
                                        <p:tgtEl>
                                          <p:spTgt spid="20"/>
                                        </p:tgtEl>
                                        <p:attrNameLst>
                                          <p:attrName>style.opacity</p:attrName>
                                        </p:attrNameLst>
                                      </p:cBhvr>
                                      <p:tavLst>
                                        <p:tav tm="0">
                                          <p:val>
                                            <p:fltVal val="0"/>
                                          </p:val>
                                        </p:tav>
                                        <p:tav tm="100000">
                                          <p:val>
                                            <p:fltVal val="1"/>
                                          </p:val>
                                        </p:tav>
                                      </p:tavLst>
                                    </p:anim>
                                  </p:childTnLst>
                                </p:cTn>
                              </p:par>
                              <p:par>
                                <p:cTn id="54" presetID="10" presetClass="entr" presetSubtype="0" fill="hold" grpId="0" nodeType="withEffect">
                                  <p:stCondLst>
                                    <p:cond delay="0"/>
                                  </p:stCondLst>
                                  <p:childTnLst>
                                    <p:set>
                                      <p:cBhvr>
                                        <p:cTn id="55" dur="1" fill="hold"/>
                                        <p:tgtEl>
                                          <p:spTgt spid="21"/>
                                        </p:tgtEl>
                                        <p:attrNameLst>
                                          <p:attrName>style.visibility</p:attrName>
                                        </p:attrNameLst>
                                      </p:cBhvr>
                                      <p:to>
                                        <p:strVal val="visible"/>
                                      </p:to>
                                    </p:set>
                                    <p:anim calcmode="lin" valueType="num">
                                      <p:cBhvr additive="base">
                                        <p:cTn id="56" dur="600" fill="hold"/>
                                        <p:tgtEl>
                                          <p:spTgt spid="21"/>
                                        </p:tgtEl>
                                        <p:attrNameLst>
                                          <p:attrName>style.opacity</p:attrName>
                                        </p:attrNameLst>
                                      </p:cBhvr>
                                      <p:tavLst>
                                        <p:tav tm="0">
                                          <p:val>
                                            <p:fltVal val="0"/>
                                          </p:val>
                                        </p:tav>
                                        <p:tav tm="100000">
                                          <p:val>
                                            <p:fltVal val="1"/>
                                          </p:val>
                                        </p:tav>
                                      </p:tavLst>
                                    </p:anim>
                                  </p:childTnLst>
                                </p:cTn>
                              </p:par>
                              <p:par>
                                <p:cTn id="57" presetID="10" presetClass="entr" presetSubtype="0" fill="hold" grpId="0" nodeType="withEffect">
                                  <p:stCondLst>
                                    <p:cond delay="0"/>
                                  </p:stCondLst>
                                  <p:childTnLst>
                                    <p:set>
                                      <p:cBhvr>
                                        <p:cTn id="58" dur="1" fill="hold"/>
                                        <p:tgtEl>
                                          <p:spTgt spid="28"/>
                                        </p:tgtEl>
                                        <p:attrNameLst>
                                          <p:attrName>style.visibility</p:attrName>
                                        </p:attrNameLst>
                                      </p:cBhvr>
                                      <p:to>
                                        <p:strVal val="visible"/>
                                      </p:to>
                                    </p:set>
                                    <p:anim calcmode="lin" valueType="num">
                                      <p:cBhvr additive="base">
                                        <p:cTn id="59" dur="600" fill="hold"/>
                                        <p:tgtEl>
                                          <p:spTgt spid="28"/>
                                        </p:tgtEl>
                                        <p:attrNameLst>
                                          <p:attrName>style.opacity</p:attrName>
                                        </p:attrNameLst>
                                      </p:cBhvr>
                                      <p:tavLst>
                                        <p:tav tm="0">
                                          <p:val>
                                            <p:fltVal val="0"/>
                                          </p:val>
                                        </p:tav>
                                        <p:tav tm="100000">
                                          <p:val>
                                            <p:fltVal val="1"/>
                                          </p:val>
                                        </p:tav>
                                      </p:tavLst>
                                    </p:anim>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tgtEl>
                                          <p:spTgt spid="22"/>
                                        </p:tgtEl>
                                        <p:attrNameLst>
                                          <p:attrName>style.visibility</p:attrName>
                                        </p:attrNameLst>
                                      </p:cBhvr>
                                      <p:to>
                                        <p:strVal val="visible"/>
                                      </p:to>
                                    </p:set>
                                    <p:anim calcmode="lin" valueType="num">
                                      <p:cBhvr additive="base">
                                        <p:cTn id="64" dur="600" fill="hold"/>
                                        <p:tgtEl>
                                          <p:spTgt spid="22"/>
                                        </p:tgtEl>
                                        <p:attrNameLst>
                                          <p:attrName>style.opacity</p:attrName>
                                        </p:attrNameLst>
                                      </p:cBhvr>
                                      <p:tavLst>
                                        <p:tav tm="0">
                                          <p:val>
                                            <p:fltVal val="0"/>
                                          </p:val>
                                        </p:tav>
                                        <p:tav tm="100000">
                                          <p:val>
                                            <p:fltVal val="1"/>
                                          </p:val>
                                        </p:tav>
                                      </p:tavLst>
                                    </p:anim>
                                  </p:childTnLst>
                                </p:cTn>
                              </p:par>
                              <p:par>
                                <p:cTn id="65" presetID="10" presetClass="entr" presetSubtype="0" fill="hold" grpId="0" nodeType="withEffect">
                                  <p:stCondLst>
                                    <p:cond delay="0"/>
                                  </p:stCondLst>
                                  <p:childTnLst>
                                    <p:set>
                                      <p:cBhvr>
                                        <p:cTn id="66" dur="1" fill="hold"/>
                                        <p:tgtEl>
                                          <p:spTgt spid="23"/>
                                        </p:tgtEl>
                                        <p:attrNameLst>
                                          <p:attrName>style.visibility</p:attrName>
                                        </p:attrNameLst>
                                      </p:cBhvr>
                                      <p:to>
                                        <p:strVal val="visible"/>
                                      </p:to>
                                    </p:set>
                                    <p:anim calcmode="lin" valueType="num">
                                      <p:cBhvr additive="base">
                                        <p:cTn id="67" dur="600" fill="hold"/>
                                        <p:tgtEl>
                                          <p:spTgt spid="23"/>
                                        </p:tgtEl>
                                        <p:attrNameLst>
                                          <p:attrName>style.opacity</p:attrName>
                                        </p:attrNameLst>
                                      </p:cBhvr>
                                      <p:tavLst>
                                        <p:tav tm="0">
                                          <p:val>
                                            <p:fltVal val="0"/>
                                          </p:val>
                                        </p:tav>
                                        <p:tav tm="100000">
                                          <p:val>
                                            <p:fltVal val="1"/>
                                          </p:val>
                                        </p:tav>
                                      </p:tavLst>
                                    </p:anim>
                                  </p:childTnLst>
                                </p:cTn>
                              </p:par>
                              <p:par>
                                <p:cTn id="68" presetID="10" presetClass="entr" presetSubtype="0" fill="hold" grpId="0" nodeType="withEffect">
                                  <p:stCondLst>
                                    <p:cond delay="0"/>
                                  </p:stCondLst>
                                  <p:childTnLst>
                                    <p:set>
                                      <p:cBhvr>
                                        <p:cTn id="69" dur="1" fill="hold"/>
                                        <p:tgtEl>
                                          <p:spTgt spid="24"/>
                                        </p:tgtEl>
                                        <p:attrNameLst>
                                          <p:attrName>style.visibility</p:attrName>
                                        </p:attrNameLst>
                                      </p:cBhvr>
                                      <p:to>
                                        <p:strVal val="visible"/>
                                      </p:to>
                                    </p:set>
                                    <p:anim calcmode="lin" valueType="num">
                                      <p:cBhvr additive="base">
                                        <p:cTn id="70" dur="600" fill="hold"/>
                                        <p:tgtEl>
                                          <p:spTgt spid="24"/>
                                        </p:tgtEl>
                                        <p:attrNameLst>
                                          <p:attrName>style.opacity</p:attrName>
                                        </p:attrNameLst>
                                      </p:cBhvr>
                                      <p:tavLst>
                                        <p:tav tm="0">
                                          <p:val>
                                            <p:fltVal val="0"/>
                                          </p:val>
                                        </p:tav>
                                        <p:tav tm="100000">
                                          <p:val>
                                            <p:fltVal val="1"/>
                                          </p:val>
                                        </p:tav>
                                      </p:tavLst>
                                    </p:anim>
                                  </p:childTnLst>
                                </p:cTn>
                              </p:par>
                              <p:par>
                                <p:cTn id="71" presetID="10" presetClass="entr" presetSubtype="0" fill="hold" grpId="0" nodeType="withEffect">
                                  <p:stCondLst>
                                    <p:cond delay="0"/>
                                  </p:stCondLst>
                                  <p:childTnLst>
                                    <p:set>
                                      <p:cBhvr>
                                        <p:cTn id="72" dur="1" fill="hold"/>
                                        <p:tgtEl>
                                          <p:spTgt spid="25"/>
                                        </p:tgtEl>
                                        <p:attrNameLst>
                                          <p:attrName>style.visibility</p:attrName>
                                        </p:attrNameLst>
                                      </p:cBhvr>
                                      <p:to>
                                        <p:strVal val="visible"/>
                                      </p:to>
                                    </p:set>
                                    <p:anim calcmode="lin" valueType="num">
                                      <p:cBhvr additive="base">
                                        <p:cTn id="73" dur="600" fill="hold"/>
                                        <p:tgtEl>
                                          <p:spTgt spid="25"/>
                                        </p:tgtEl>
                                        <p:attrNameLst>
                                          <p:attrName>style.opacity</p:attrName>
                                        </p:attrNameLst>
                                      </p:cBhvr>
                                      <p:tavLst>
                                        <p:tav tm="0">
                                          <p:val>
                                            <p:fltVal val="0"/>
                                          </p:val>
                                        </p:tav>
                                        <p:tav tm="100000">
                                          <p:val>
                                            <p:fltVal val="1"/>
                                          </p:val>
                                        </p:tav>
                                      </p:tavLst>
                                    </p:anim>
                                  </p:childTnLst>
                                </p:cTn>
                              </p:par>
                              <p:par>
                                <p:cTn id="74" presetID="10" presetClass="entr" presetSubtype="0" fill="hold" grpId="0" nodeType="withEffect">
                                  <p:stCondLst>
                                    <p:cond delay="0"/>
                                  </p:stCondLst>
                                  <p:childTnLst>
                                    <p:set>
                                      <p:cBhvr>
                                        <p:cTn id="75" dur="1" fill="hold"/>
                                        <p:tgtEl>
                                          <p:spTgt spid="26"/>
                                        </p:tgtEl>
                                        <p:attrNameLst>
                                          <p:attrName>style.visibility</p:attrName>
                                        </p:attrNameLst>
                                      </p:cBhvr>
                                      <p:to>
                                        <p:strVal val="visible"/>
                                      </p:to>
                                    </p:set>
                                    <p:anim calcmode="lin" valueType="num">
                                      <p:cBhvr additive="base">
                                        <p:cTn id="76" dur="600" fill="hold"/>
                                        <p:tgtEl>
                                          <p:spTgt spid="26"/>
                                        </p:tgtEl>
                                        <p:attrNameLst>
                                          <p:attrName>style.opacity</p:attrName>
                                        </p:attrNameLst>
                                      </p:cBhvr>
                                      <p:tavLst>
                                        <p:tav tm="0">
                                          <p:val>
                                            <p:fltVal val="0"/>
                                          </p:val>
                                        </p:tav>
                                        <p:tav tm="100000">
                                          <p:val>
                                            <p:fltVal val="1"/>
                                          </p:val>
                                        </p:tav>
                                      </p:tavLst>
                                    </p:anim>
                                  </p:childTnLst>
                                </p:cTn>
                              </p:par>
                              <p:par>
                                <p:cTn id="77" presetID="10" presetClass="entr" presetSubtype="0" fill="hold" grpId="0" nodeType="withEffect">
                                  <p:stCondLst>
                                    <p:cond delay="0"/>
                                  </p:stCondLst>
                                  <p:childTnLst>
                                    <p:set>
                                      <p:cBhvr>
                                        <p:cTn id="78" dur="1" fill="hold"/>
                                        <p:tgtEl>
                                          <p:spTgt spid="29"/>
                                        </p:tgtEl>
                                        <p:attrNameLst>
                                          <p:attrName>style.visibility</p:attrName>
                                        </p:attrNameLst>
                                      </p:cBhvr>
                                      <p:to>
                                        <p:strVal val="visible"/>
                                      </p:to>
                                    </p:set>
                                    <p:anim calcmode="lin" valueType="num">
                                      <p:cBhvr additive="base">
                                        <p:cTn id="79" dur="600" fill="hold"/>
                                        <p:tgtEl>
                                          <p:spTgt spid="29"/>
                                        </p:tgtEl>
                                        <p:attrNameLst>
                                          <p:attrName>style.opacity</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11247120" cy="640080"/>
          </a:xfrm>
          <a:prstGeom prst="rect">
            <a:avLst/>
          </a:prstGeom>
          <a:noFill/>
        </p:spPr>
        <p:txBody>
          <a:bodyPr wrap="square" lIns="0" rIns="0" tIns="0" bIns="0">
            <a:spAutoFit/>
          </a:bodyPr>
          <a:lstStyle/>
          <a:p>
            <a:pPr algn="l"/>
            <a:r>
              <a:rPr sz="2800" b="1">
                <a:solidFill>
                  <a:srgbClr val="0F1F44"/>
                </a:solidFill>
                <a:latin typeface="Calibri"/>
              </a:rPr>
              <a:t>Tech stack &amp; design choices</a:t>
            </a:r>
          </a:p>
        </p:txBody>
      </p:sp>
      <p:sp>
        <p:nvSpPr>
          <p:cNvPr id="5" name="TextBox 4"/>
          <p:cNvSpPr txBox="1"/>
          <p:nvPr/>
        </p:nvSpPr>
        <p:spPr>
          <a:xfrm>
            <a:off x="457200" y="868680"/>
            <a:ext cx="11247120" cy="365760"/>
          </a:xfrm>
          <a:prstGeom prst="rect">
            <a:avLst/>
          </a:prstGeom>
          <a:noFill/>
        </p:spPr>
        <p:txBody>
          <a:bodyPr wrap="square" lIns="0" rIns="0" tIns="0" bIns="0">
            <a:spAutoFit/>
          </a:bodyPr>
          <a:lstStyle/>
          <a:p>
            <a:pPr algn="l"/>
            <a:r>
              <a:rPr sz="1400" b="0">
                <a:solidFill>
                  <a:srgbClr val="55667A"/>
                </a:solidFill>
                <a:latin typeface="Calibri"/>
              </a:rPr>
              <a:t>Each tool picked for a reason — kept boring and replaceable</a:t>
            </a:r>
          </a:p>
        </p:txBody>
      </p:sp>
      <p:sp>
        <p:nvSpPr>
          <p:cNvPr id="6" name="TextBox 5"/>
          <p:cNvSpPr txBox="1"/>
          <p:nvPr/>
        </p:nvSpPr>
        <p:spPr>
          <a:xfrm>
            <a:off x="457200" y="6446520"/>
            <a:ext cx="11247120" cy="274320"/>
          </a:xfrm>
          <a:prstGeom prst="rect">
            <a:avLst/>
          </a:prstGeom>
          <a:noFill/>
        </p:spPr>
        <p:txBody>
          <a:bodyPr wrap="square" lIns="0" rIns="0" tIns="0" bIns="0">
            <a:spAutoFit/>
          </a:bodyPr>
          <a:lstStyle/>
          <a:p>
            <a:pPr algn="l"/>
            <a:r>
              <a:rPr sz="1000" b="0">
                <a:solidFill>
                  <a:srgbClr val="55667A"/>
                </a:solidFill>
                <a:latin typeface="Calibri"/>
              </a:rPr>
              <a:t>VitalScan · AIT 500 · Group 1 · Planning checkpoint</a:t>
            </a:r>
          </a:p>
        </p:txBody>
      </p:sp>
      <p:sp>
        <p:nvSpPr>
          <p:cNvPr id="7" name="Rounded Rectangle 6"/>
          <p:cNvSpPr/>
          <p:nvPr/>
        </p:nvSpPr>
        <p:spPr>
          <a:xfrm>
            <a:off x="457200" y="1554480"/>
            <a:ext cx="3657600" cy="4572000"/>
          </a:xfrm>
          <a:prstGeom prst="roundRect">
            <a:avLst>
              <a:gd name="adj" fmla="val 6000"/>
            </a:avLst>
          </a:prstGeom>
          <a:solidFill>
            <a:srgbClr val="F6F8FB"/>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91640"/>
            <a:ext cx="3200400" cy="365760"/>
          </a:xfrm>
          <a:prstGeom prst="rect">
            <a:avLst/>
          </a:prstGeom>
          <a:noFill/>
        </p:spPr>
        <p:txBody>
          <a:bodyPr wrap="square" lIns="0" rIns="0" tIns="0" bIns="0">
            <a:spAutoFit/>
          </a:bodyPr>
          <a:lstStyle/>
          <a:p>
            <a:pPr algn="l"/>
            <a:r>
              <a:rPr sz="1400" b="1">
                <a:solidFill>
                  <a:srgbClr val="1F6FEB"/>
                </a:solidFill>
                <a:latin typeface="Calibri"/>
              </a:rPr>
              <a:t>FRONTEND</a:t>
            </a:r>
          </a:p>
        </p:txBody>
      </p:sp>
      <p:sp>
        <p:nvSpPr>
          <p:cNvPr id="9" name="TextBox 8"/>
          <p:cNvSpPr txBox="1"/>
          <p:nvPr/>
        </p:nvSpPr>
        <p:spPr>
          <a:xfrm>
            <a:off x="685800" y="2194560"/>
            <a:ext cx="3200400" cy="320040"/>
          </a:xfrm>
          <a:prstGeom prst="rect">
            <a:avLst/>
          </a:prstGeom>
          <a:noFill/>
        </p:spPr>
        <p:txBody>
          <a:bodyPr wrap="square" lIns="0" rIns="0" tIns="0" bIns="0">
            <a:spAutoFit/>
          </a:bodyPr>
          <a:lstStyle/>
          <a:p>
            <a:pPr algn="l"/>
            <a:r>
              <a:rPr sz="1400" b="1">
                <a:solidFill>
                  <a:srgbClr val="0F1F44"/>
                </a:solidFill>
                <a:latin typeface="Calibri"/>
              </a:rPr>
              <a:t>React 18 + TypeScript</a:t>
            </a:r>
          </a:p>
        </p:txBody>
      </p:sp>
      <p:sp>
        <p:nvSpPr>
          <p:cNvPr id="10" name="TextBox 9"/>
          <p:cNvSpPr txBox="1"/>
          <p:nvPr/>
        </p:nvSpPr>
        <p:spPr>
          <a:xfrm>
            <a:off x="685800" y="2514600"/>
            <a:ext cx="3200400" cy="548640"/>
          </a:xfrm>
          <a:prstGeom prst="rect">
            <a:avLst/>
          </a:prstGeom>
          <a:noFill/>
        </p:spPr>
        <p:txBody>
          <a:bodyPr wrap="square" lIns="0" rIns="0" tIns="0" bIns="0">
            <a:spAutoFit/>
          </a:bodyPr>
          <a:lstStyle/>
          <a:p>
            <a:pPr algn="l"/>
            <a:r>
              <a:rPr sz="1100" b="0">
                <a:solidFill>
                  <a:srgbClr val="33445C"/>
                </a:solidFill>
                <a:latin typeface="Calibri"/>
              </a:rPr>
              <a:t>Component model + type safety</a:t>
            </a:r>
          </a:p>
        </p:txBody>
      </p:sp>
      <p:sp>
        <p:nvSpPr>
          <p:cNvPr id="11" name="TextBox 10"/>
          <p:cNvSpPr txBox="1"/>
          <p:nvPr/>
        </p:nvSpPr>
        <p:spPr>
          <a:xfrm>
            <a:off x="685800" y="3154680"/>
            <a:ext cx="3200400" cy="320040"/>
          </a:xfrm>
          <a:prstGeom prst="rect">
            <a:avLst/>
          </a:prstGeom>
          <a:noFill/>
        </p:spPr>
        <p:txBody>
          <a:bodyPr wrap="square" lIns="0" rIns="0" tIns="0" bIns="0">
            <a:spAutoFit/>
          </a:bodyPr>
          <a:lstStyle/>
          <a:p>
            <a:pPr algn="l"/>
            <a:r>
              <a:rPr sz="1400" b="1">
                <a:solidFill>
                  <a:srgbClr val="0F1F44"/>
                </a:solidFill>
                <a:latin typeface="Calibri"/>
              </a:rPr>
              <a:t>Vite</a:t>
            </a:r>
          </a:p>
        </p:txBody>
      </p:sp>
      <p:sp>
        <p:nvSpPr>
          <p:cNvPr id="12" name="TextBox 11"/>
          <p:cNvSpPr txBox="1"/>
          <p:nvPr/>
        </p:nvSpPr>
        <p:spPr>
          <a:xfrm>
            <a:off x="685800" y="3474720"/>
            <a:ext cx="3200400" cy="548640"/>
          </a:xfrm>
          <a:prstGeom prst="rect">
            <a:avLst/>
          </a:prstGeom>
          <a:noFill/>
        </p:spPr>
        <p:txBody>
          <a:bodyPr wrap="square" lIns="0" rIns="0" tIns="0" bIns="0">
            <a:spAutoFit/>
          </a:bodyPr>
          <a:lstStyle/>
          <a:p>
            <a:pPr algn="l"/>
            <a:r>
              <a:rPr sz="1100" b="0">
                <a:solidFill>
                  <a:srgbClr val="33445C"/>
                </a:solidFill>
                <a:latin typeface="Calibri"/>
              </a:rPr>
              <a:t>Fast dev server + production build</a:t>
            </a:r>
          </a:p>
        </p:txBody>
      </p:sp>
      <p:sp>
        <p:nvSpPr>
          <p:cNvPr id="13" name="TextBox 12"/>
          <p:cNvSpPr txBox="1"/>
          <p:nvPr/>
        </p:nvSpPr>
        <p:spPr>
          <a:xfrm>
            <a:off x="685800" y="4114800"/>
            <a:ext cx="3200400" cy="320040"/>
          </a:xfrm>
          <a:prstGeom prst="rect">
            <a:avLst/>
          </a:prstGeom>
          <a:noFill/>
        </p:spPr>
        <p:txBody>
          <a:bodyPr wrap="square" lIns="0" rIns="0" tIns="0" bIns="0">
            <a:spAutoFit/>
          </a:bodyPr>
          <a:lstStyle/>
          <a:p>
            <a:pPr algn="l"/>
            <a:r>
              <a:rPr sz="1400" b="1">
                <a:solidFill>
                  <a:srgbClr val="0F1F44"/>
                </a:solidFill>
                <a:latin typeface="Calibri"/>
              </a:rPr>
              <a:t>Tailwind CSS</a:t>
            </a:r>
          </a:p>
        </p:txBody>
      </p:sp>
      <p:sp>
        <p:nvSpPr>
          <p:cNvPr id="14" name="TextBox 13"/>
          <p:cNvSpPr txBox="1"/>
          <p:nvPr/>
        </p:nvSpPr>
        <p:spPr>
          <a:xfrm>
            <a:off x="685800" y="4434840"/>
            <a:ext cx="3200400" cy="548640"/>
          </a:xfrm>
          <a:prstGeom prst="rect">
            <a:avLst/>
          </a:prstGeom>
          <a:noFill/>
        </p:spPr>
        <p:txBody>
          <a:bodyPr wrap="square" lIns="0" rIns="0" tIns="0" bIns="0">
            <a:spAutoFit/>
          </a:bodyPr>
          <a:lstStyle/>
          <a:p>
            <a:pPr algn="l"/>
            <a:r>
              <a:rPr sz="1100" b="0">
                <a:solidFill>
                  <a:srgbClr val="33445C"/>
                </a:solidFill>
                <a:latin typeface="Calibri"/>
              </a:rPr>
              <a:t>Utility classes — no design bikeshed</a:t>
            </a:r>
          </a:p>
        </p:txBody>
      </p:sp>
      <p:sp>
        <p:nvSpPr>
          <p:cNvPr id="15" name="Rounded Rectangle 14"/>
          <p:cNvSpPr/>
          <p:nvPr/>
        </p:nvSpPr>
        <p:spPr>
          <a:xfrm>
            <a:off x="4297680" y="1554480"/>
            <a:ext cx="3657600" cy="4572000"/>
          </a:xfrm>
          <a:prstGeom prst="roundRect">
            <a:avLst>
              <a:gd name="adj" fmla="val 6000"/>
            </a:avLst>
          </a:prstGeom>
          <a:solidFill>
            <a:srgbClr val="F6F8FB"/>
          </a:solidFill>
          <a:ln w="15875">
            <a:solidFill>
              <a:srgbClr val="1E88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1691640"/>
            <a:ext cx="3200400" cy="365760"/>
          </a:xfrm>
          <a:prstGeom prst="rect">
            <a:avLst/>
          </a:prstGeom>
          <a:noFill/>
        </p:spPr>
        <p:txBody>
          <a:bodyPr wrap="square" lIns="0" rIns="0" tIns="0" bIns="0">
            <a:spAutoFit/>
          </a:bodyPr>
          <a:lstStyle/>
          <a:p>
            <a:pPr algn="l"/>
            <a:r>
              <a:rPr sz="1400" b="1">
                <a:solidFill>
                  <a:srgbClr val="1E884F"/>
                </a:solidFill>
                <a:latin typeface="Calibri"/>
              </a:rPr>
              <a:t>BACKEND</a:t>
            </a:r>
          </a:p>
        </p:txBody>
      </p:sp>
      <p:sp>
        <p:nvSpPr>
          <p:cNvPr id="17" name="TextBox 16"/>
          <p:cNvSpPr txBox="1"/>
          <p:nvPr/>
        </p:nvSpPr>
        <p:spPr>
          <a:xfrm>
            <a:off x="4526280" y="2194560"/>
            <a:ext cx="3200400" cy="320040"/>
          </a:xfrm>
          <a:prstGeom prst="rect">
            <a:avLst/>
          </a:prstGeom>
          <a:noFill/>
        </p:spPr>
        <p:txBody>
          <a:bodyPr wrap="square" lIns="0" rIns="0" tIns="0" bIns="0">
            <a:spAutoFit/>
          </a:bodyPr>
          <a:lstStyle/>
          <a:p>
            <a:pPr algn="l"/>
            <a:r>
              <a:rPr sz="1400" b="1">
                <a:solidFill>
                  <a:srgbClr val="0F1F44"/>
                </a:solidFill>
                <a:latin typeface="Calibri"/>
              </a:rPr>
              <a:t>Python 3.12 + FastAPI</a:t>
            </a:r>
          </a:p>
        </p:txBody>
      </p:sp>
      <p:sp>
        <p:nvSpPr>
          <p:cNvPr id="18" name="TextBox 17"/>
          <p:cNvSpPr txBox="1"/>
          <p:nvPr/>
        </p:nvSpPr>
        <p:spPr>
          <a:xfrm>
            <a:off x="4526280" y="2514600"/>
            <a:ext cx="3200400" cy="548640"/>
          </a:xfrm>
          <a:prstGeom prst="rect">
            <a:avLst/>
          </a:prstGeom>
          <a:noFill/>
        </p:spPr>
        <p:txBody>
          <a:bodyPr wrap="square" lIns="0" rIns="0" tIns="0" bIns="0">
            <a:spAutoFit/>
          </a:bodyPr>
          <a:lstStyle/>
          <a:p>
            <a:pPr algn="l"/>
            <a:r>
              <a:rPr sz="1100" b="0">
                <a:solidFill>
                  <a:srgbClr val="33445C"/>
                </a:solidFill>
                <a:latin typeface="Calibri"/>
              </a:rPr>
              <a:t>Async REST in &lt;50 lines</a:t>
            </a:r>
          </a:p>
        </p:txBody>
      </p:sp>
      <p:sp>
        <p:nvSpPr>
          <p:cNvPr id="19" name="TextBox 18"/>
          <p:cNvSpPr txBox="1"/>
          <p:nvPr/>
        </p:nvSpPr>
        <p:spPr>
          <a:xfrm>
            <a:off x="4526280" y="3154680"/>
            <a:ext cx="3200400" cy="320040"/>
          </a:xfrm>
          <a:prstGeom prst="rect">
            <a:avLst/>
          </a:prstGeom>
          <a:noFill/>
        </p:spPr>
        <p:txBody>
          <a:bodyPr wrap="square" lIns="0" rIns="0" tIns="0" bIns="0">
            <a:spAutoFit/>
          </a:bodyPr>
          <a:lstStyle/>
          <a:p>
            <a:pPr algn="l"/>
            <a:r>
              <a:rPr sz="1400" b="1">
                <a:solidFill>
                  <a:srgbClr val="0F1F44"/>
                </a:solidFill>
                <a:latin typeface="Calibri"/>
              </a:rPr>
              <a:t>numpy + scipy</a:t>
            </a:r>
          </a:p>
        </p:txBody>
      </p:sp>
      <p:sp>
        <p:nvSpPr>
          <p:cNvPr id="20" name="TextBox 19"/>
          <p:cNvSpPr txBox="1"/>
          <p:nvPr/>
        </p:nvSpPr>
        <p:spPr>
          <a:xfrm>
            <a:off x="4526280" y="3474720"/>
            <a:ext cx="3200400" cy="548640"/>
          </a:xfrm>
          <a:prstGeom prst="rect">
            <a:avLst/>
          </a:prstGeom>
          <a:noFill/>
        </p:spPr>
        <p:txBody>
          <a:bodyPr wrap="square" lIns="0" rIns="0" tIns="0" bIns="0">
            <a:spAutoFit/>
          </a:bodyPr>
          <a:lstStyle/>
          <a:p>
            <a:pPr algn="l"/>
            <a:r>
              <a:rPr sz="1100" b="0">
                <a:solidFill>
                  <a:srgbClr val="33445C"/>
                </a:solidFill>
                <a:latin typeface="Calibri"/>
              </a:rPr>
              <a:t>Vectorized signal-chain math</a:t>
            </a:r>
          </a:p>
        </p:txBody>
      </p:sp>
      <p:sp>
        <p:nvSpPr>
          <p:cNvPr id="21" name="TextBox 20"/>
          <p:cNvSpPr txBox="1"/>
          <p:nvPr/>
        </p:nvSpPr>
        <p:spPr>
          <a:xfrm>
            <a:off x="4526280" y="4114800"/>
            <a:ext cx="3200400" cy="320040"/>
          </a:xfrm>
          <a:prstGeom prst="rect">
            <a:avLst/>
          </a:prstGeom>
          <a:noFill/>
        </p:spPr>
        <p:txBody>
          <a:bodyPr wrap="square" lIns="0" rIns="0" tIns="0" bIns="0">
            <a:spAutoFit/>
          </a:bodyPr>
          <a:lstStyle/>
          <a:p>
            <a:pPr algn="l"/>
            <a:r>
              <a:rPr sz="1400" b="1">
                <a:solidFill>
                  <a:srgbClr val="0F1F44"/>
                </a:solidFill>
                <a:latin typeface="Calibri"/>
              </a:rPr>
              <a:t>MediaPipe FaceMesh</a:t>
            </a:r>
          </a:p>
        </p:txBody>
      </p:sp>
      <p:sp>
        <p:nvSpPr>
          <p:cNvPr id="22" name="TextBox 21"/>
          <p:cNvSpPr txBox="1"/>
          <p:nvPr/>
        </p:nvSpPr>
        <p:spPr>
          <a:xfrm>
            <a:off x="4526280" y="4434840"/>
            <a:ext cx="3200400" cy="548640"/>
          </a:xfrm>
          <a:prstGeom prst="rect">
            <a:avLst/>
          </a:prstGeom>
          <a:noFill/>
        </p:spPr>
        <p:txBody>
          <a:bodyPr wrap="square" lIns="0" rIns="0" tIns="0" bIns="0">
            <a:spAutoFit/>
          </a:bodyPr>
          <a:lstStyle/>
          <a:p>
            <a:pPr algn="l"/>
            <a:r>
              <a:rPr sz="1100" b="0">
                <a:solidFill>
                  <a:srgbClr val="33445C"/>
                </a:solidFill>
                <a:latin typeface="Calibri"/>
              </a:rPr>
              <a:t>Real-time landmarks on CPU</a:t>
            </a:r>
          </a:p>
        </p:txBody>
      </p:sp>
      <p:sp>
        <p:nvSpPr>
          <p:cNvPr id="23" name="Rounded Rectangle 22"/>
          <p:cNvSpPr/>
          <p:nvPr/>
        </p:nvSpPr>
        <p:spPr>
          <a:xfrm>
            <a:off x="8138160" y="1554480"/>
            <a:ext cx="3657600" cy="4572000"/>
          </a:xfrm>
          <a:prstGeom prst="roundRect">
            <a:avLst>
              <a:gd name="adj" fmla="val 6000"/>
            </a:avLst>
          </a:prstGeom>
          <a:solidFill>
            <a:srgbClr val="F6F8FB"/>
          </a:solidFill>
          <a:ln w="15875">
            <a:solidFill>
              <a:srgbClr val="C073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1691640"/>
            <a:ext cx="3200400" cy="365760"/>
          </a:xfrm>
          <a:prstGeom prst="rect">
            <a:avLst/>
          </a:prstGeom>
          <a:noFill/>
        </p:spPr>
        <p:txBody>
          <a:bodyPr wrap="square" lIns="0" rIns="0" tIns="0" bIns="0">
            <a:spAutoFit/>
          </a:bodyPr>
          <a:lstStyle/>
          <a:p>
            <a:pPr algn="l"/>
            <a:r>
              <a:rPr sz="1400" b="1">
                <a:solidFill>
                  <a:srgbClr val="C0731D"/>
                </a:solidFill>
                <a:latin typeface="Calibri"/>
              </a:rPr>
              <a:t>DEPLOY</a:t>
            </a:r>
          </a:p>
        </p:txBody>
      </p:sp>
      <p:sp>
        <p:nvSpPr>
          <p:cNvPr id="25" name="TextBox 24"/>
          <p:cNvSpPr txBox="1"/>
          <p:nvPr/>
        </p:nvSpPr>
        <p:spPr>
          <a:xfrm>
            <a:off x="8366760" y="2194560"/>
            <a:ext cx="3200400" cy="320040"/>
          </a:xfrm>
          <a:prstGeom prst="rect">
            <a:avLst/>
          </a:prstGeom>
          <a:noFill/>
        </p:spPr>
        <p:txBody>
          <a:bodyPr wrap="square" lIns="0" rIns="0" tIns="0" bIns="0">
            <a:spAutoFit/>
          </a:bodyPr>
          <a:lstStyle/>
          <a:p>
            <a:pPr algn="l"/>
            <a:r>
              <a:rPr sz="1400" b="1">
                <a:solidFill>
                  <a:srgbClr val="0F1F44"/>
                </a:solidFill>
                <a:latin typeface="Calibri"/>
              </a:rPr>
              <a:t>Docker Compose</a:t>
            </a:r>
          </a:p>
        </p:txBody>
      </p:sp>
      <p:sp>
        <p:nvSpPr>
          <p:cNvPr id="26" name="TextBox 25"/>
          <p:cNvSpPr txBox="1"/>
          <p:nvPr/>
        </p:nvSpPr>
        <p:spPr>
          <a:xfrm>
            <a:off x="8366760" y="2514600"/>
            <a:ext cx="3200400" cy="548640"/>
          </a:xfrm>
          <a:prstGeom prst="rect">
            <a:avLst/>
          </a:prstGeom>
          <a:noFill/>
        </p:spPr>
        <p:txBody>
          <a:bodyPr wrap="square" lIns="0" rIns="0" tIns="0" bIns="0">
            <a:spAutoFit/>
          </a:bodyPr>
          <a:lstStyle/>
          <a:p>
            <a:pPr algn="l"/>
            <a:r>
              <a:rPr sz="1100" b="0">
                <a:solidFill>
                  <a:srgbClr val="33445C"/>
                </a:solidFill>
                <a:latin typeface="Calibri"/>
              </a:rPr>
              <a:t>Three services, one command</a:t>
            </a:r>
          </a:p>
        </p:txBody>
      </p:sp>
      <p:sp>
        <p:nvSpPr>
          <p:cNvPr id="27" name="TextBox 26"/>
          <p:cNvSpPr txBox="1"/>
          <p:nvPr/>
        </p:nvSpPr>
        <p:spPr>
          <a:xfrm>
            <a:off x="8366760" y="3154680"/>
            <a:ext cx="3200400" cy="320040"/>
          </a:xfrm>
          <a:prstGeom prst="rect">
            <a:avLst/>
          </a:prstGeom>
          <a:noFill/>
        </p:spPr>
        <p:txBody>
          <a:bodyPr wrap="square" lIns="0" rIns="0" tIns="0" bIns="0">
            <a:spAutoFit/>
          </a:bodyPr>
          <a:lstStyle/>
          <a:p>
            <a:pPr algn="l"/>
            <a:r>
              <a:rPr sz="1400" b="1">
                <a:solidFill>
                  <a:srgbClr val="0F1F44"/>
                </a:solidFill>
                <a:latin typeface="Calibri"/>
              </a:rPr>
              <a:t>Cloudflare Tunnel</a:t>
            </a:r>
          </a:p>
        </p:txBody>
      </p:sp>
      <p:sp>
        <p:nvSpPr>
          <p:cNvPr id="28" name="TextBox 27"/>
          <p:cNvSpPr txBox="1"/>
          <p:nvPr/>
        </p:nvSpPr>
        <p:spPr>
          <a:xfrm>
            <a:off x="8366760" y="3474720"/>
            <a:ext cx="3200400" cy="548640"/>
          </a:xfrm>
          <a:prstGeom prst="rect">
            <a:avLst/>
          </a:prstGeom>
          <a:noFill/>
        </p:spPr>
        <p:txBody>
          <a:bodyPr wrap="square" lIns="0" rIns="0" tIns="0" bIns="0">
            <a:spAutoFit/>
          </a:bodyPr>
          <a:lstStyle/>
          <a:p>
            <a:pPr algn="l"/>
            <a:r>
              <a:rPr sz="1100" b="0">
                <a:solidFill>
                  <a:srgbClr val="33445C"/>
                </a:solidFill>
                <a:latin typeface="Calibri"/>
              </a:rPr>
              <a:t>TLS + no port forwarding</a:t>
            </a:r>
          </a:p>
        </p:txBody>
      </p:sp>
      <p:sp>
        <p:nvSpPr>
          <p:cNvPr id="29" name="TextBox 28"/>
          <p:cNvSpPr txBox="1"/>
          <p:nvPr/>
        </p:nvSpPr>
        <p:spPr>
          <a:xfrm>
            <a:off x="8366760" y="4114800"/>
            <a:ext cx="3200400" cy="320040"/>
          </a:xfrm>
          <a:prstGeom prst="rect">
            <a:avLst/>
          </a:prstGeom>
          <a:noFill/>
        </p:spPr>
        <p:txBody>
          <a:bodyPr wrap="square" lIns="0" rIns="0" tIns="0" bIns="0">
            <a:spAutoFit/>
          </a:bodyPr>
          <a:lstStyle/>
          <a:p>
            <a:pPr algn="l"/>
            <a:r>
              <a:rPr sz="1400" b="1">
                <a:solidFill>
                  <a:srgbClr val="0F1F44"/>
                </a:solidFill>
                <a:latin typeface="Calibri"/>
              </a:rPr>
              <a:t>Homelab host</a:t>
            </a:r>
          </a:p>
        </p:txBody>
      </p:sp>
      <p:sp>
        <p:nvSpPr>
          <p:cNvPr id="30" name="TextBox 29"/>
          <p:cNvSpPr txBox="1"/>
          <p:nvPr/>
        </p:nvSpPr>
        <p:spPr>
          <a:xfrm>
            <a:off x="8366760" y="4434840"/>
            <a:ext cx="3200400" cy="548640"/>
          </a:xfrm>
          <a:prstGeom prst="rect">
            <a:avLst/>
          </a:prstGeom>
          <a:noFill/>
        </p:spPr>
        <p:txBody>
          <a:bodyPr wrap="square" lIns="0" rIns="0" tIns="0" bIns="0">
            <a:spAutoFit/>
          </a:bodyPr>
          <a:lstStyle/>
          <a:p>
            <a:pPr algn="l"/>
            <a:r>
              <a:rPr sz="1100" b="0">
                <a:solidFill>
                  <a:srgbClr val="33445C"/>
                </a:solidFill>
                <a:latin typeface="Calibri"/>
              </a:rPr>
              <a:t>Free, fast iteration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11247120" cy="640080"/>
          </a:xfrm>
          <a:prstGeom prst="rect">
            <a:avLst/>
          </a:prstGeom>
          <a:noFill/>
        </p:spPr>
        <p:txBody>
          <a:bodyPr wrap="square" lIns="0" rIns="0" tIns="0" bIns="0">
            <a:spAutoFit/>
          </a:bodyPr>
          <a:lstStyle/>
          <a:p>
            <a:pPr algn="l"/>
            <a:r>
              <a:rPr sz="2800" b="1">
                <a:solidFill>
                  <a:srgbClr val="0F1F44"/>
                </a:solidFill>
                <a:latin typeface="Calibri"/>
              </a:rPr>
              <a:t>Build phases — roadmap</a:t>
            </a:r>
          </a:p>
        </p:txBody>
      </p:sp>
      <p:sp>
        <p:nvSpPr>
          <p:cNvPr id="5" name="TextBox 4"/>
          <p:cNvSpPr txBox="1"/>
          <p:nvPr/>
        </p:nvSpPr>
        <p:spPr>
          <a:xfrm>
            <a:off x="457200" y="868680"/>
            <a:ext cx="11247120" cy="365760"/>
          </a:xfrm>
          <a:prstGeom prst="rect">
            <a:avLst/>
          </a:prstGeom>
          <a:noFill/>
        </p:spPr>
        <p:txBody>
          <a:bodyPr wrap="square" lIns="0" rIns="0" tIns="0" bIns="0">
            <a:spAutoFit/>
          </a:bodyPr>
          <a:lstStyle/>
          <a:p>
            <a:pPr algn="l"/>
            <a:r>
              <a:rPr sz="1400" b="0">
                <a:solidFill>
                  <a:srgbClr val="55667A"/>
                </a:solidFill>
                <a:latin typeface="Calibri"/>
              </a:rPr>
              <a:t>Five phases, validated at each boundary before moving on</a:t>
            </a:r>
          </a:p>
        </p:txBody>
      </p:sp>
      <p:sp>
        <p:nvSpPr>
          <p:cNvPr id="6" name="TextBox 5"/>
          <p:cNvSpPr txBox="1"/>
          <p:nvPr/>
        </p:nvSpPr>
        <p:spPr>
          <a:xfrm>
            <a:off x="457200" y="6446520"/>
            <a:ext cx="11247120" cy="274320"/>
          </a:xfrm>
          <a:prstGeom prst="rect">
            <a:avLst/>
          </a:prstGeom>
          <a:noFill/>
        </p:spPr>
        <p:txBody>
          <a:bodyPr wrap="square" lIns="0" rIns="0" tIns="0" bIns="0">
            <a:spAutoFit/>
          </a:bodyPr>
          <a:lstStyle/>
          <a:p>
            <a:pPr algn="l"/>
            <a:r>
              <a:rPr sz="1000" b="0">
                <a:solidFill>
                  <a:srgbClr val="55667A"/>
                </a:solidFill>
                <a:latin typeface="Calibri"/>
              </a:rPr>
              <a:t>VitalScan · AIT 500 · Group 1 · Planning checkpoint</a:t>
            </a:r>
          </a:p>
        </p:txBody>
      </p:sp>
      <p:sp>
        <p:nvSpPr>
          <p:cNvPr id="7" name="Rounded Rectangle 6"/>
          <p:cNvSpPr/>
          <p:nvPr/>
        </p:nvSpPr>
        <p:spPr>
          <a:xfrm>
            <a:off x="457200" y="1417320"/>
            <a:ext cx="11247120" cy="868680"/>
          </a:xfrm>
          <a:prstGeom prst="roundRect">
            <a:avLst>
              <a:gd name="adj" fmla="val 6000"/>
            </a:avLst>
          </a:prstGeom>
          <a:solidFill>
            <a:srgbClr val="F6F8FB"/>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5800" y="1618488"/>
            <a:ext cx="475488" cy="47548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636776"/>
            <a:ext cx="475488" cy="457200"/>
          </a:xfrm>
          <a:prstGeom prst="rect">
            <a:avLst/>
          </a:prstGeom>
          <a:noFill/>
        </p:spPr>
        <p:txBody>
          <a:bodyPr wrap="square" lIns="0" rIns="0" tIns="0" bIns="0">
            <a:spAutoFit/>
          </a:bodyPr>
          <a:lstStyle/>
          <a:p>
            <a:pPr algn="ctr"/>
            <a:r>
              <a:rPr sz="1800" b="1">
                <a:solidFill>
                  <a:srgbClr val="FFFFFF"/>
                </a:solidFill>
                <a:latin typeface="Calibri"/>
              </a:rPr>
              <a:t>1</a:t>
            </a:r>
          </a:p>
        </p:txBody>
      </p:sp>
      <p:sp>
        <p:nvSpPr>
          <p:cNvPr id="10" name="TextBox 9"/>
          <p:cNvSpPr txBox="1"/>
          <p:nvPr/>
        </p:nvSpPr>
        <p:spPr>
          <a:xfrm>
            <a:off x="1371600" y="1554480"/>
            <a:ext cx="10058400" cy="365760"/>
          </a:xfrm>
          <a:prstGeom prst="rect">
            <a:avLst/>
          </a:prstGeom>
          <a:noFill/>
        </p:spPr>
        <p:txBody>
          <a:bodyPr wrap="square" lIns="0" rIns="0" tIns="0" bIns="0">
            <a:spAutoFit/>
          </a:bodyPr>
          <a:lstStyle/>
          <a:p>
            <a:pPr algn="l"/>
            <a:r>
              <a:rPr sz="1500" b="1">
                <a:solidFill>
                  <a:srgbClr val="0F1F44"/>
                </a:solidFill>
                <a:latin typeface="Calibri"/>
              </a:rPr>
              <a:t>Phase 1 — React UI with mock biomarker data</a:t>
            </a:r>
          </a:p>
        </p:txBody>
      </p:sp>
      <p:sp>
        <p:nvSpPr>
          <p:cNvPr id="11" name="TextBox 10"/>
          <p:cNvSpPr txBox="1"/>
          <p:nvPr/>
        </p:nvSpPr>
        <p:spPr>
          <a:xfrm>
            <a:off x="1371600" y="1874520"/>
            <a:ext cx="10058400" cy="365760"/>
          </a:xfrm>
          <a:prstGeom prst="rect">
            <a:avLst/>
          </a:prstGeom>
          <a:noFill/>
        </p:spPr>
        <p:txBody>
          <a:bodyPr wrap="square" lIns="0" rIns="0" tIns="0" bIns="0">
            <a:spAutoFit/>
          </a:bodyPr>
          <a:lstStyle/>
          <a:p>
            <a:pPr algn="l"/>
            <a:r>
              <a:rPr sz="1100" b="0">
                <a:solidFill>
                  <a:srgbClr val="33445C"/>
                </a:solidFill>
                <a:latin typeface="Calibri"/>
              </a:rPr>
              <a:t>Nail the dashboard + body figure + biomarker cards against hard-coded JSON. De-risk the UX before any of the heavy lifting.</a:t>
            </a:r>
          </a:p>
        </p:txBody>
      </p:sp>
      <p:sp>
        <p:nvSpPr>
          <p:cNvPr id="12" name="Rounded Rectangle 11"/>
          <p:cNvSpPr/>
          <p:nvPr/>
        </p:nvSpPr>
        <p:spPr>
          <a:xfrm>
            <a:off x="457200" y="2377440"/>
            <a:ext cx="11247120" cy="868680"/>
          </a:xfrm>
          <a:prstGeom prst="roundRect">
            <a:avLst>
              <a:gd name="adj" fmla="val 6000"/>
            </a:avLst>
          </a:prstGeom>
          <a:solidFill>
            <a:srgbClr val="F6F8FB"/>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5800" y="2578608"/>
            <a:ext cx="475488" cy="47548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596896"/>
            <a:ext cx="475488" cy="457200"/>
          </a:xfrm>
          <a:prstGeom prst="rect">
            <a:avLst/>
          </a:prstGeom>
          <a:noFill/>
        </p:spPr>
        <p:txBody>
          <a:bodyPr wrap="square" lIns="0" rIns="0" tIns="0" bIns="0">
            <a:spAutoFit/>
          </a:bodyPr>
          <a:lstStyle/>
          <a:p>
            <a:pPr algn="ctr"/>
            <a:r>
              <a:rPr sz="1800" b="1">
                <a:solidFill>
                  <a:srgbClr val="FFFFFF"/>
                </a:solidFill>
                <a:latin typeface="Calibri"/>
              </a:rPr>
              <a:t>2</a:t>
            </a:r>
          </a:p>
        </p:txBody>
      </p:sp>
      <p:sp>
        <p:nvSpPr>
          <p:cNvPr id="15" name="TextBox 14"/>
          <p:cNvSpPr txBox="1"/>
          <p:nvPr/>
        </p:nvSpPr>
        <p:spPr>
          <a:xfrm>
            <a:off x="1371600" y="2514600"/>
            <a:ext cx="10058400" cy="365760"/>
          </a:xfrm>
          <a:prstGeom prst="rect">
            <a:avLst/>
          </a:prstGeom>
          <a:noFill/>
        </p:spPr>
        <p:txBody>
          <a:bodyPr wrap="square" lIns="0" rIns="0" tIns="0" bIns="0">
            <a:spAutoFit/>
          </a:bodyPr>
          <a:lstStyle/>
          <a:p>
            <a:pPr algn="l"/>
            <a:r>
              <a:rPr sz="1500" b="1">
                <a:solidFill>
                  <a:srgbClr val="0F1F44"/>
                </a:solidFill>
                <a:latin typeface="Calibri"/>
              </a:rPr>
              <a:t>Phase 2 — FastAPI backend with mock /scan</a:t>
            </a:r>
          </a:p>
        </p:txBody>
      </p:sp>
      <p:sp>
        <p:nvSpPr>
          <p:cNvPr id="16" name="TextBox 15"/>
          <p:cNvSpPr txBox="1"/>
          <p:nvPr/>
        </p:nvSpPr>
        <p:spPr>
          <a:xfrm>
            <a:off x="1371600" y="2834640"/>
            <a:ext cx="10058400" cy="365760"/>
          </a:xfrm>
          <a:prstGeom prst="rect">
            <a:avLst/>
          </a:prstGeom>
          <a:noFill/>
        </p:spPr>
        <p:txBody>
          <a:bodyPr wrap="square" lIns="0" rIns="0" tIns="0" bIns="0">
            <a:spAutoFit/>
          </a:bodyPr>
          <a:lstStyle/>
          <a:p>
            <a:pPr algn="l"/>
            <a:r>
              <a:rPr sz="1100" b="0">
                <a:solidFill>
                  <a:srgbClr val="33445C"/>
                </a:solidFill>
                <a:latin typeface="Calibri"/>
              </a:rPr>
              <a:t>Stand up the /scan endpoint returning the shared JSON contract. Frontend swaps from local mock to API with no UI changes.</a:t>
            </a:r>
          </a:p>
        </p:txBody>
      </p:sp>
      <p:sp>
        <p:nvSpPr>
          <p:cNvPr id="17" name="Rounded Rectangle 16"/>
          <p:cNvSpPr/>
          <p:nvPr/>
        </p:nvSpPr>
        <p:spPr>
          <a:xfrm>
            <a:off x="457200" y="3337560"/>
            <a:ext cx="11247120" cy="868680"/>
          </a:xfrm>
          <a:prstGeom prst="roundRect">
            <a:avLst>
              <a:gd name="adj" fmla="val 6000"/>
            </a:avLst>
          </a:prstGeom>
          <a:solidFill>
            <a:srgbClr val="F6F8FB"/>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85800" y="3538728"/>
            <a:ext cx="475488" cy="47548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557016"/>
            <a:ext cx="475488" cy="457200"/>
          </a:xfrm>
          <a:prstGeom prst="rect">
            <a:avLst/>
          </a:prstGeom>
          <a:noFill/>
        </p:spPr>
        <p:txBody>
          <a:bodyPr wrap="square" lIns="0" rIns="0" tIns="0" bIns="0">
            <a:spAutoFit/>
          </a:bodyPr>
          <a:lstStyle/>
          <a:p>
            <a:pPr algn="ctr"/>
            <a:r>
              <a:rPr sz="1800" b="1">
                <a:solidFill>
                  <a:srgbClr val="FFFFFF"/>
                </a:solidFill>
                <a:latin typeface="Calibri"/>
              </a:rPr>
              <a:t>3</a:t>
            </a:r>
          </a:p>
        </p:txBody>
      </p:sp>
      <p:sp>
        <p:nvSpPr>
          <p:cNvPr id="20" name="TextBox 19"/>
          <p:cNvSpPr txBox="1"/>
          <p:nvPr/>
        </p:nvSpPr>
        <p:spPr>
          <a:xfrm>
            <a:off x="1371600" y="3474720"/>
            <a:ext cx="10058400" cy="365760"/>
          </a:xfrm>
          <a:prstGeom prst="rect">
            <a:avLst/>
          </a:prstGeom>
          <a:noFill/>
        </p:spPr>
        <p:txBody>
          <a:bodyPr wrap="square" lIns="0" rIns="0" tIns="0" bIns="0">
            <a:spAutoFit/>
          </a:bodyPr>
          <a:lstStyle/>
          <a:p>
            <a:pPr algn="l"/>
            <a:r>
              <a:rPr sz="1500" b="1">
                <a:solidFill>
                  <a:srgbClr val="0F1F44"/>
                </a:solidFill>
                <a:latin typeface="Calibri"/>
              </a:rPr>
              <a:t>Phase 3 — Real rPPG pipeline</a:t>
            </a:r>
          </a:p>
        </p:txBody>
      </p:sp>
      <p:sp>
        <p:nvSpPr>
          <p:cNvPr id="21" name="TextBox 20"/>
          <p:cNvSpPr txBox="1"/>
          <p:nvPr/>
        </p:nvSpPr>
        <p:spPr>
          <a:xfrm>
            <a:off x="1371600" y="3794760"/>
            <a:ext cx="10058400" cy="365760"/>
          </a:xfrm>
          <a:prstGeom prst="rect">
            <a:avLst/>
          </a:prstGeom>
          <a:noFill/>
        </p:spPr>
        <p:txBody>
          <a:bodyPr wrap="square" lIns="0" rIns="0" tIns="0" bIns="0">
            <a:spAutoFit/>
          </a:bodyPr>
          <a:lstStyle/>
          <a:p>
            <a:pPr algn="l"/>
            <a:r>
              <a:rPr sz="1100" b="0">
                <a:solidFill>
                  <a:srgbClr val="33445C"/>
                </a:solidFill>
                <a:latin typeface="Calibri"/>
              </a:rPr>
              <a:t>Replace the mock with the actual face detection · POS · HRV signal chain. Endpoint signature does not change.</a:t>
            </a:r>
          </a:p>
        </p:txBody>
      </p:sp>
      <p:sp>
        <p:nvSpPr>
          <p:cNvPr id="22" name="Rounded Rectangle 21"/>
          <p:cNvSpPr/>
          <p:nvPr/>
        </p:nvSpPr>
        <p:spPr>
          <a:xfrm>
            <a:off x="457200" y="4297680"/>
            <a:ext cx="11247120" cy="868680"/>
          </a:xfrm>
          <a:prstGeom prst="roundRect">
            <a:avLst>
              <a:gd name="adj" fmla="val 6000"/>
            </a:avLst>
          </a:prstGeom>
          <a:solidFill>
            <a:srgbClr val="F6F8FB"/>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85800" y="4498848"/>
            <a:ext cx="475488" cy="47548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517136"/>
            <a:ext cx="475488" cy="457200"/>
          </a:xfrm>
          <a:prstGeom prst="rect">
            <a:avLst/>
          </a:prstGeom>
          <a:noFill/>
        </p:spPr>
        <p:txBody>
          <a:bodyPr wrap="square" lIns="0" rIns="0" tIns="0" bIns="0">
            <a:spAutoFit/>
          </a:bodyPr>
          <a:lstStyle/>
          <a:p>
            <a:pPr algn="ctr"/>
            <a:r>
              <a:rPr sz="1800" b="1">
                <a:solidFill>
                  <a:srgbClr val="FFFFFF"/>
                </a:solidFill>
                <a:latin typeface="Calibri"/>
              </a:rPr>
              <a:t>4</a:t>
            </a:r>
          </a:p>
        </p:txBody>
      </p:sp>
      <p:sp>
        <p:nvSpPr>
          <p:cNvPr id="25" name="TextBox 24"/>
          <p:cNvSpPr txBox="1"/>
          <p:nvPr/>
        </p:nvSpPr>
        <p:spPr>
          <a:xfrm>
            <a:off x="1371600" y="4434840"/>
            <a:ext cx="10058400" cy="365760"/>
          </a:xfrm>
          <a:prstGeom prst="rect">
            <a:avLst/>
          </a:prstGeom>
          <a:noFill/>
        </p:spPr>
        <p:txBody>
          <a:bodyPr wrap="square" lIns="0" rIns="0" tIns="0" bIns="0">
            <a:spAutoFit/>
          </a:bodyPr>
          <a:lstStyle/>
          <a:p>
            <a:pPr algn="l"/>
            <a:r>
              <a:rPr sz="1500" b="1">
                <a:solidFill>
                  <a:srgbClr val="0F1F44"/>
                </a:solidFill>
                <a:latin typeface="Calibri"/>
              </a:rPr>
              <a:t>Phase 4 — Docker + Cloudflare Tunnel deployment</a:t>
            </a:r>
          </a:p>
        </p:txBody>
      </p:sp>
      <p:sp>
        <p:nvSpPr>
          <p:cNvPr id="26" name="TextBox 25"/>
          <p:cNvSpPr txBox="1"/>
          <p:nvPr/>
        </p:nvSpPr>
        <p:spPr>
          <a:xfrm>
            <a:off x="1371600" y="4754880"/>
            <a:ext cx="10058400" cy="365760"/>
          </a:xfrm>
          <a:prstGeom prst="rect">
            <a:avLst/>
          </a:prstGeom>
          <a:noFill/>
        </p:spPr>
        <p:txBody>
          <a:bodyPr wrap="square" lIns="0" rIns="0" tIns="0" bIns="0">
            <a:spAutoFit/>
          </a:bodyPr>
          <a:lstStyle/>
          <a:p>
            <a:pPr algn="l"/>
            <a:r>
              <a:rPr sz="1100" b="0">
                <a:solidFill>
                  <a:srgbClr val="33445C"/>
                </a:solidFill>
                <a:latin typeface="Calibri"/>
              </a:rPr>
              <a:t>Three-container stack on the homelab, exposed via outbound tunnel. Site reachable at vitalscan.bkre8tive.com.</a:t>
            </a:r>
          </a:p>
        </p:txBody>
      </p:sp>
      <p:sp>
        <p:nvSpPr>
          <p:cNvPr id="27" name="Rounded Rectangle 26"/>
          <p:cNvSpPr/>
          <p:nvPr/>
        </p:nvSpPr>
        <p:spPr>
          <a:xfrm>
            <a:off x="457200" y="5257800"/>
            <a:ext cx="11247120" cy="868680"/>
          </a:xfrm>
          <a:prstGeom prst="roundRect">
            <a:avLst>
              <a:gd name="adj" fmla="val 6000"/>
            </a:avLst>
          </a:prstGeom>
          <a:solidFill>
            <a:srgbClr val="F6F8FB"/>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85800" y="5458968"/>
            <a:ext cx="475488" cy="475488"/>
          </a:xfrm>
          <a:prstGeom prst="ellipse">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477256"/>
            <a:ext cx="475488" cy="457200"/>
          </a:xfrm>
          <a:prstGeom prst="rect">
            <a:avLst/>
          </a:prstGeom>
          <a:noFill/>
        </p:spPr>
        <p:txBody>
          <a:bodyPr wrap="square" lIns="0" rIns="0" tIns="0" bIns="0">
            <a:spAutoFit/>
          </a:bodyPr>
          <a:lstStyle/>
          <a:p>
            <a:pPr algn="ctr"/>
            <a:r>
              <a:rPr sz="1800" b="1">
                <a:solidFill>
                  <a:srgbClr val="FFFFFF"/>
                </a:solidFill>
                <a:latin typeface="Calibri"/>
              </a:rPr>
              <a:t>5</a:t>
            </a:r>
          </a:p>
        </p:txBody>
      </p:sp>
      <p:sp>
        <p:nvSpPr>
          <p:cNvPr id="30" name="TextBox 29"/>
          <p:cNvSpPr txBox="1"/>
          <p:nvPr/>
        </p:nvSpPr>
        <p:spPr>
          <a:xfrm>
            <a:off x="1371600" y="5394960"/>
            <a:ext cx="10058400" cy="365760"/>
          </a:xfrm>
          <a:prstGeom prst="rect">
            <a:avLst/>
          </a:prstGeom>
          <a:noFill/>
        </p:spPr>
        <p:txBody>
          <a:bodyPr wrap="square" lIns="0" rIns="0" tIns="0" bIns="0">
            <a:spAutoFit/>
          </a:bodyPr>
          <a:lstStyle/>
          <a:p>
            <a:pPr algn="l"/>
            <a:r>
              <a:rPr sz="1500" b="1">
                <a:solidFill>
                  <a:srgbClr val="0F1F44"/>
                </a:solidFill>
                <a:latin typeface="Calibri"/>
              </a:rPr>
              <a:t>Phase 5 — Browser webcam capture</a:t>
            </a:r>
          </a:p>
        </p:txBody>
      </p:sp>
      <p:sp>
        <p:nvSpPr>
          <p:cNvPr id="31" name="TextBox 30"/>
          <p:cNvSpPr txBox="1"/>
          <p:nvPr/>
        </p:nvSpPr>
        <p:spPr>
          <a:xfrm>
            <a:off x="1371600" y="5715000"/>
            <a:ext cx="10058400" cy="365760"/>
          </a:xfrm>
          <a:prstGeom prst="rect">
            <a:avLst/>
          </a:prstGeom>
          <a:noFill/>
        </p:spPr>
        <p:txBody>
          <a:bodyPr wrap="square" lIns="0" rIns="0" tIns="0" bIns="0">
            <a:spAutoFit/>
          </a:bodyPr>
          <a:lstStyle/>
          <a:p>
            <a:pPr algn="l"/>
            <a:r>
              <a:rPr sz="1100" b="0">
                <a:solidFill>
                  <a:srgbClr val="33445C"/>
                </a:solidFill>
                <a:latin typeface="Calibri"/>
              </a:rPr>
              <a:t>In-browser 30-second capture using getUserMedia + MediaRecorder. Closes the loop end-to-end.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11247120" cy="640080"/>
          </a:xfrm>
          <a:prstGeom prst="rect">
            <a:avLst/>
          </a:prstGeom>
          <a:noFill/>
        </p:spPr>
        <p:txBody>
          <a:bodyPr wrap="square" lIns="0" rIns="0" tIns="0" bIns="0">
            <a:spAutoFit/>
          </a:bodyPr>
          <a:lstStyle/>
          <a:p>
            <a:pPr algn="l"/>
            <a:r>
              <a:rPr sz="2800" b="1">
                <a:solidFill>
                  <a:srgbClr val="0F1F44"/>
                </a:solidFill>
                <a:latin typeface="Calibri"/>
              </a:rPr>
              <a:t>Data plan</a:t>
            </a:r>
          </a:p>
        </p:txBody>
      </p:sp>
      <p:sp>
        <p:nvSpPr>
          <p:cNvPr id="5" name="TextBox 4"/>
          <p:cNvSpPr txBox="1"/>
          <p:nvPr/>
        </p:nvSpPr>
        <p:spPr>
          <a:xfrm>
            <a:off x="457200" y="868680"/>
            <a:ext cx="11247120" cy="365760"/>
          </a:xfrm>
          <a:prstGeom prst="rect">
            <a:avLst/>
          </a:prstGeom>
          <a:noFill/>
        </p:spPr>
        <p:txBody>
          <a:bodyPr wrap="square" lIns="0" rIns="0" tIns="0" bIns="0">
            <a:spAutoFit/>
          </a:bodyPr>
          <a:lstStyle/>
          <a:p>
            <a:pPr algn="l"/>
            <a:r>
              <a:rPr sz="1400" b="0">
                <a:solidFill>
                  <a:srgbClr val="55667A"/>
                </a:solidFill>
                <a:latin typeface="Calibri"/>
              </a:rPr>
              <a:t>Click to step through · two datasets · one evaluation target</a:t>
            </a:r>
          </a:p>
        </p:txBody>
      </p:sp>
      <p:sp>
        <p:nvSpPr>
          <p:cNvPr id="6" name="TextBox 5"/>
          <p:cNvSpPr txBox="1"/>
          <p:nvPr/>
        </p:nvSpPr>
        <p:spPr>
          <a:xfrm>
            <a:off x="457200" y="6446520"/>
            <a:ext cx="11247120" cy="274320"/>
          </a:xfrm>
          <a:prstGeom prst="rect">
            <a:avLst/>
          </a:prstGeom>
          <a:noFill/>
        </p:spPr>
        <p:txBody>
          <a:bodyPr wrap="square" lIns="0" rIns="0" tIns="0" bIns="0">
            <a:spAutoFit/>
          </a:bodyPr>
          <a:lstStyle/>
          <a:p>
            <a:pPr algn="l"/>
            <a:r>
              <a:rPr sz="1000" b="0">
                <a:solidFill>
                  <a:srgbClr val="55667A"/>
                </a:solidFill>
                <a:latin typeface="Calibri"/>
              </a:rPr>
              <a:t>VitalScan · AIT 500 · Group 1 · Planning checkpoint</a:t>
            </a:r>
          </a:p>
        </p:txBody>
      </p:sp>
      <p:sp>
        <p:nvSpPr>
          <p:cNvPr id="7" name="Rounded Rectangle 6"/>
          <p:cNvSpPr/>
          <p:nvPr/>
        </p:nvSpPr>
        <p:spPr>
          <a:xfrm>
            <a:off x="457200" y="1554480"/>
            <a:ext cx="5486400" cy="3200400"/>
          </a:xfrm>
          <a:prstGeom prst="roundRect">
            <a:avLst>
              <a:gd name="adj" fmla="val 6000"/>
            </a:avLst>
          </a:prstGeom>
          <a:solidFill>
            <a:srgbClr val="EEF3FA"/>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91640"/>
            <a:ext cx="5029200" cy="457200"/>
          </a:xfrm>
          <a:prstGeom prst="rect">
            <a:avLst/>
          </a:prstGeom>
          <a:noFill/>
        </p:spPr>
        <p:txBody>
          <a:bodyPr wrap="square" lIns="0" rIns="0" tIns="0" bIns="0">
            <a:spAutoFit/>
          </a:bodyPr>
          <a:lstStyle/>
          <a:p>
            <a:pPr algn="l"/>
            <a:r>
              <a:rPr sz="1800" b="1">
                <a:solidFill>
                  <a:srgbClr val="0F1F44"/>
                </a:solidFill>
                <a:latin typeface="Calibri"/>
              </a:rPr>
              <a:t>UBFC-rPPG · real humans</a:t>
            </a:r>
          </a:p>
        </p:txBody>
      </p:sp>
      <p:sp>
        <p:nvSpPr>
          <p:cNvPr id="9" name="TextBox 8"/>
          <p:cNvSpPr txBox="1"/>
          <p:nvPr/>
        </p:nvSpPr>
        <p:spPr>
          <a:xfrm>
            <a:off x="685800" y="2240280"/>
            <a:ext cx="5029200" cy="2377440"/>
          </a:xfrm>
          <a:prstGeom prst="rect">
            <a:avLst/>
          </a:prstGeom>
          <a:noFill/>
        </p:spPr>
        <p:txBody>
          <a:bodyPr wrap="square">
            <a:spAutoFit/>
          </a:bodyPr>
          <a:lstStyle/>
          <a:p>
            <a:pPr algn="l">
              <a:spcAft>
                <a:spcPts val="600"/>
              </a:spcAft>
            </a:pPr>
            <a:r>
              <a:rPr sz="1400">
                <a:solidFill>
                  <a:srgbClr val="1A1A1A"/>
                </a:solidFill>
                <a:latin typeface="Calibri"/>
              </a:rPr>
              <a:t>•  42 subjects · webcam @ 30 fps</a:t>
            </a:r>
          </a:p>
          <a:p>
            <a:pPr algn="l">
              <a:spcAft>
                <a:spcPts val="600"/>
              </a:spcAft>
            </a:pPr>
            <a:r>
              <a:rPr sz="1400">
                <a:solidFill>
                  <a:srgbClr val="1A1A1A"/>
                </a:solidFill>
                <a:latin typeface="Calibri"/>
              </a:rPr>
              <a:t>•  Synchronized finger pulse-ox ground truth</a:t>
            </a:r>
          </a:p>
          <a:p>
            <a:pPr algn="l">
              <a:spcAft>
                <a:spcPts val="600"/>
              </a:spcAft>
            </a:pPr>
            <a:r>
              <a:rPr sz="1400">
                <a:solidFill>
                  <a:srgbClr val="1A1A1A"/>
                </a:solidFill>
                <a:latin typeface="Calibri"/>
              </a:rPr>
              <a:t>•  Source: Google Drive (project brief)</a:t>
            </a:r>
          </a:p>
          <a:p>
            <a:pPr algn="l">
              <a:spcAft>
                <a:spcPts val="600"/>
              </a:spcAft>
            </a:pPr>
            <a:r>
              <a:rPr sz="1400">
                <a:solidFill>
                  <a:srgbClr val="1A1A1A"/>
                </a:solidFill>
                <a:latin typeface="Calibri"/>
              </a:rPr>
              <a:t>•  Role: PRIMARY accuracy benchmark — this is the bar that matters</a:t>
            </a:r>
          </a:p>
        </p:txBody>
      </p:sp>
      <p:sp>
        <p:nvSpPr>
          <p:cNvPr id="10" name="Rounded Rectangle 9"/>
          <p:cNvSpPr/>
          <p:nvPr/>
        </p:nvSpPr>
        <p:spPr>
          <a:xfrm>
            <a:off x="6217920" y="1554480"/>
            <a:ext cx="5486400" cy="3200400"/>
          </a:xfrm>
          <a:prstGeom prst="roundRect">
            <a:avLst>
              <a:gd name="adj" fmla="val 6000"/>
            </a:avLst>
          </a:prstGeom>
          <a:solidFill>
            <a:srgbClr val="FDF1E3"/>
          </a:solidFill>
          <a:ln w="15875">
            <a:solidFill>
              <a:srgbClr val="C073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691640"/>
            <a:ext cx="5029200" cy="457200"/>
          </a:xfrm>
          <a:prstGeom prst="rect">
            <a:avLst/>
          </a:prstGeom>
          <a:noFill/>
        </p:spPr>
        <p:txBody>
          <a:bodyPr wrap="square" lIns="0" rIns="0" tIns="0" bIns="0">
            <a:spAutoFit/>
          </a:bodyPr>
          <a:lstStyle/>
          <a:p>
            <a:pPr algn="l"/>
            <a:r>
              <a:rPr sz="1800" b="1">
                <a:solidFill>
                  <a:srgbClr val="0F1F44"/>
                </a:solidFill>
                <a:latin typeface="Calibri"/>
              </a:rPr>
              <a:t>SCAMPS · synthetic avatars</a:t>
            </a:r>
          </a:p>
        </p:txBody>
      </p:sp>
      <p:sp>
        <p:nvSpPr>
          <p:cNvPr id="12" name="TextBox 11"/>
          <p:cNvSpPr txBox="1"/>
          <p:nvPr/>
        </p:nvSpPr>
        <p:spPr>
          <a:xfrm>
            <a:off x="6446520" y="2240280"/>
            <a:ext cx="5029200" cy="2377440"/>
          </a:xfrm>
          <a:prstGeom prst="rect">
            <a:avLst/>
          </a:prstGeom>
          <a:noFill/>
        </p:spPr>
        <p:txBody>
          <a:bodyPr wrap="square">
            <a:spAutoFit/>
          </a:bodyPr>
          <a:lstStyle/>
          <a:p>
            <a:pPr algn="l">
              <a:spcAft>
                <a:spcPts val="600"/>
              </a:spcAft>
            </a:pPr>
            <a:r>
              <a:rPr sz="1400">
                <a:solidFill>
                  <a:srgbClr val="1A1A1A"/>
                </a:solidFill>
                <a:latin typeface="Calibri"/>
              </a:rPr>
              <a:t>•  10 video example subset · public</a:t>
            </a:r>
          </a:p>
          <a:p>
            <a:pPr algn="l">
              <a:spcAft>
                <a:spcPts val="600"/>
              </a:spcAft>
            </a:pPr>
            <a:r>
              <a:rPr sz="1400">
                <a:solidFill>
                  <a:srgbClr val="1A1A1A"/>
                </a:solidFill>
                <a:latin typeface="Calibri"/>
              </a:rPr>
              <a:t>•  Simulated PPG ground truth from avatar</a:t>
            </a:r>
          </a:p>
          <a:p>
            <a:pPr algn="l">
              <a:spcAft>
                <a:spcPts val="600"/>
              </a:spcAft>
            </a:pPr>
            <a:r>
              <a:rPr sz="1400">
                <a:solidFill>
                  <a:srgbClr val="1A1A1A"/>
                </a:solidFill>
                <a:latin typeface="Calibri"/>
              </a:rPr>
              <a:t>•  Source: Microsoft (danmcduff/scampsdataset)</a:t>
            </a:r>
          </a:p>
          <a:p>
            <a:pPr algn="l">
              <a:spcAft>
                <a:spcPts val="600"/>
              </a:spcAft>
            </a:pPr>
            <a:r>
              <a:rPr sz="1400">
                <a:solidFill>
                  <a:srgbClr val="1A1A1A"/>
                </a:solidFill>
                <a:latin typeface="Calibri"/>
              </a:rPr>
              <a:t>•  Role: SECONDARY synthetic-data baseline</a:t>
            </a:r>
          </a:p>
        </p:txBody>
      </p:sp>
      <p:sp>
        <p:nvSpPr>
          <p:cNvPr id="13" name="Rounded Rectangle 12"/>
          <p:cNvSpPr/>
          <p:nvPr/>
        </p:nvSpPr>
        <p:spPr>
          <a:xfrm>
            <a:off x="457200" y="4937760"/>
            <a:ext cx="11247120" cy="1280160"/>
          </a:xfrm>
          <a:prstGeom prst="roundRect">
            <a:avLst>
              <a:gd name="adj" fmla="val 6000"/>
            </a:avLst>
          </a:prstGeom>
          <a:solidFill>
            <a:srgbClr val="E9F5EC"/>
          </a:solidFill>
          <a:ln w="15875">
            <a:solidFill>
              <a:srgbClr val="1E88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074920"/>
            <a:ext cx="10789920" cy="365760"/>
          </a:xfrm>
          <a:prstGeom prst="rect">
            <a:avLst/>
          </a:prstGeom>
          <a:noFill/>
        </p:spPr>
        <p:txBody>
          <a:bodyPr wrap="square" lIns="0" rIns="0" tIns="0" bIns="0">
            <a:spAutoFit/>
          </a:bodyPr>
          <a:lstStyle/>
          <a:p>
            <a:pPr algn="l"/>
            <a:r>
              <a:rPr sz="1200" b="1">
                <a:solidFill>
                  <a:srgbClr val="1E884F"/>
                </a:solidFill>
                <a:latin typeface="Calibri"/>
              </a:rPr>
              <a:t>EVALUATION TARGET (per rubric)</a:t>
            </a:r>
          </a:p>
        </p:txBody>
      </p:sp>
      <p:sp>
        <p:nvSpPr>
          <p:cNvPr id="15" name="TextBox 14"/>
          <p:cNvSpPr txBox="1"/>
          <p:nvPr/>
        </p:nvSpPr>
        <p:spPr>
          <a:xfrm>
            <a:off x="685800" y="5440680"/>
            <a:ext cx="10789920" cy="457200"/>
          </a:xfrm>
          <a:prstGeom prst="rect">
            <a:avLst/>
          </a:prstGeom>
          <a:noFill/>
        </p:spPr>
        <p:txBody>
          <a:bodyPr wrap="square" lIns="0" rIns="0" tIns="0" bIns="0">
            <a:spAutoFit/>
          </a:bodyPr>
          <a:lstStyle/>
          <a:p>
            <a:pPr algn="l"/>
            <a:r>
              <a:rPr sz="2200" b="1">
                <a:solidFill>
                  <a:srgbClr val="0F1F44"/>
                </a:solidFill>
                <a:latin typeface="Calibri"/>
              </a:rPr>
              <a:t>Mean Absolute Error  &lt;  10 BPM   on real human data</a:t>
            </a:r>
          </a:p>
        </p:txBody>
      </p:sp>
      <p:sp>
        <p:nvSpPr>
          <p:cNvPr id="16" name="TextBox 15"/>
          <p:cNvSpPr txBox="1"/>
          <p:nvPr/>
        </p:nvSpPr>
        <p:spPr>
          <a:xfrm>
            <a:off x="685800" y="5897880"/>
            <a:ext cx="10789920" cy="274320"/>
          </a:xfrm>
          <a:prstGeom prst="rect">
            <a:avLst/>
          </a:prstGeom>
          <a:noFill/>
        </p:spPr>
        <p:txBody>
          <a:bodyPr wrap="square" lIns="0" rIns="0" tIns="0" bIns="0">
            <a:spAutoFit/>
          </a:bodyPr>
          <a:lstStyle/>
          <a:p>
            <a:pPr algn="l"/>
            <a:r>
              <a:rPr sz="1100" b="0">
                <a:solidFill>
                  <a:srgbClr val="33445C"/>
                </a:solidFill>
                <a:latin typeface="Calibri"/>
              </a:rPr>
              <a:t>We compare against the CHROM baseline (de Haan &amp; Jeanne 2013) on the same input — like-for-like comparison.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tgtEl>
                                          <p:spTgt spid="7"/>
                                        </p:tgtEl>
                                        <p:attrNameLst>
                                          <p:attrName>style.visibility</p:attrName>
                                        </p:attrNameLst>
                                      </p:cBhvr>
                                      <p:to>
                                        <p:strVal val="visible"/>
                                      </p:to>
                                    </p:set>
                                    <p:anim calcmode="lin" valueType="num">
                                      <p:cBhvr additive="base">
                                        <p:cTn id="7" dur="600" fill="hold"/>
                                        <p:tgtEl>
                                          <p:spTgt spid="7"/>
                                        </p:tgtEl>
                                        <p:attrNameLst>
                                          <p:attrName>style.opacity</p:attrName>
                                        </p:attrNameLst>
                                      </p:cBhvr>
                                      <p:tavLst>
                                        <p:tav tm="0">
                                          <p:val>
                                            <p:fltVal val="0"/>
                                          </p:val>
                                        </p:tav>
                                        <p:tav tm="100000">
                                          <p:val>
                                            <p:fltVal val="1"/>
                                          </p:val>
                                        </p:tav>
                                      </p:tavLst>
                                    </p:anim>
                                  </p:childTnLst>
                                </p:cTn>
                              </p:par>
                              <p:par>
                                <p:cTn id="8" presetID="10" presetClass="entr" presetSubtype="0" fill="hold" grpId="0" nodeType="withEffect">
                                  <p:stCondLst>
                                    <p:cond delay="0"/>
                                  </p:stCondLst>
                                  <p:childTnLst>
                                    <p:set>
                                      <p:cBhvr>
                                        <p:cTn id="9" dur="1" fill="hold"/>
                                        <p:tgtEl>
                                          <p:spTgt spid="8"/>
                                        </p:tgtEl>
                                        <p:attrNameLst>
                                          <p:attrName>style.visibility</p:attrName>
                                        </p:attrNameLst>
                                      </p:cBhvr>
                                      <p:to>
                                        <p:strVal val="visible"/>
                                      </p:to>
                                    </p:set>
                                    <p:anim calcmode="lin" valueType="num">
                                      <p:cBhvr additive="base">
                                        <p:cTn id="10" dur="600" fill="hold"/>
                                        <p:tgtEl>
                                          <p:spTgt spid="8"/>
                                        </p:tgtEl>
                                        <p:attrNameLst>
                                          <p:attrName>style.opacity</p:attrName>
                                        </p:attrNameLst>
                                      </p:cBhvr>
                                      <p:tavLst>
                                        <p:tav tm="0">
                                          <p:val>
                                            <p:fltVal val="0"/>
                                          </p:val>
                                        </p:tav>
                                        <p:tav tm="100000">
                                          <p:val>
                                            <p:fltVal val="1"/>
                                          </p:val>
                                        </p:tav>
                                      </p:tavLst>
                                    </p:anim>
                                  </p:childTnLst>
                                </p:cTn>
                              </p:par>
                              <p:par>
                                <p:cTn id="11" presetID="10" presetClass="entr" presetSubtype="0" fill="hold" grpId="0" nodeType="withEffect">
                                  <p:stCondLst>
                                    <p:cond delay="0"/>
                                  </p:stCondLst>
                                  <p:childTnLst>
                                    <p:set>
                                      <p:cBhvr>
                                        <p:cTn id="12" dur="1" fill="hold"/>
                                        <p:tgtEl>
                                          <p:spTgt spid="9"/>
                                        </p:tgtEl>
                                        <p:attrNameLst>
                                          <p:attrName>style.visibility</p:attrName>
                                        </p:attrNameLst>
                                      </p:cBhvr>
                                      <p:to>
                                        <p:strVal val="visible"/>
                                      </p:to>
                                    </p:set>
                                    <p:anim calcmode="lin" valueType="num">
                                      <p:cBhvr additive="base">
                                        <p:cTn id="13" dur="600" fill="hold"/>
                                        <p:tgtEl>
                                          <p:spTgt spid="9"/>
                                        </p:tgtEl>
                                        <p:attrNameLst>
                                          <p:attrName>style.opacity</p:attrName>
                                        </p:attrNameLst>
                                      </p:cBhvr>
                                      <p:tavLst>
                                        <p:tav tm="0">
                                          <p:val>
                                            <p:fltVal val="0"/>
                                          </p:val>
                                        </p:tav>
                                        <p:tav tm="100000">
                                          <p:val>
                                            <p:fltVal val="1"/>
                                          </p:val>
                                        </p:tav>
                                      </p:tavLst>
                                    </p:anim>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tgtEl>
                                          <p:spTgt spid="10"/>
                                        </p:tgtEl>
                                        <p:attrNameLst>
                                          <p:attrName>style.visibility</p:attrName>
                                        </p:attrNameLst>
                                      </p:cBhvr>
                                      <p:to>
                                        <p:strVal val="visible"/>
                                      </p:to>
                                    </p:set>
                                    <p:anim calcmode="lin" valueType="num">
                                      <p:cBhvr additive="base">
                                        <p:cTn id="18" dur="600" fill="hold"/>
                                        <p:tgtEl>
                                          <p:spTgt spid="10"/>
                                        </p:tgtEl>
                                        <p:attrNameLst>
                                          <p:attrName>style.opacity</p:attrName>
                                        </p:attrNameLst>
                                      </p:cBhvr>
                                      <p:tavLst>
                                        <p:tav tm="0">
                                          <p:val>
                                            <p:fltVal val="0"/>
                                          </p:val>
                                        </p:tav>
                                        <p:tav tm="100000">
                                          <p:val>
                                            <p:fltVal val="1"/>
                                          </p:val>
                                        </p:tav>
                                      </p:tavLst>
                                    </p:anim>
                                  </p:childTnLst>
                                </p:cTn>
                              </p:par>
                              <p:par>
                                <p:cTn id="19" presetID="10" presetClass="entr" presetSubtype="0" fill="hold" grpId="0" nodeType="withEffect">
                                  <p:stCondLst>
                                    <p:cond delay="0"/>
                                  </p:stCondLst>
                                  <p:childTnLst>
                                    <p:set>
                                      <p:cBhvr>
                                        <p:cTn id="20" dur="1" fill="hold"/>
                                        <p:tgtEl>
                                          <p:spTgt spid="11"/>
                                        </p:tgtEl>
                                        <p:attrNameLst>
                                          <p:attrName>style.visibility</p:attrName>
                                        </p:attrNameLst>
                                      </p:cBhvr>
                                      <p:to>
                                        <p:strVal val="visible"/>
                                      </p:to>
                                    </p:set>
                                    <p:anim calcmode="lin" valueType="num">
                                      <p:cBhvr additive="base">
                                        <p:cTn id="21" dur="600" fill="hold"/>
                                        <p:tgtEl>
                                          <p:spTgt spid="11"/>
                                        </p:tgtEl>
                                        <p:attrNameLst>
                                          <p:attrName>style.opacity</p:attrName>
                                        </p:attrNameLst>
                                      </p:cBhvr>
                                      <p:tavLst>
                                        <p:tav tm="0">
                                          <p:val>
                                            <p:fltVal val="0"/>
                                          </p:val>
                                        </p:tav>
                                        <p:tav tm="100000">
                                          <p:val>
                                            <p:fltVal val="1"/>
                                          </p:val>
                                        </p:tav>
                                      </p:tavLst>
                                    </p:anim>
                                  </p:childTnLst>
                                </p:cTn>
                              </p:par>
                              <p:par>
                                <p:cTn id="22" presetID="10" presetClass="entr" presetSubtype="0" fill="hold" grpId="0" nodeType="withEffect">
                                  <p:stCondLst>
                                    <p:cond delay="0"/>
                                  </p:stCondLst>
                                  <p:childTnLst>
                                    <p:set>
                                      <p:cBhvr>
                                        <p:cTn id="23" dur="1" fill="hold"/>
                                        <p:tgtEl>
                                          <p:spTgt spid="12"/>
                                        </p:tgtEl>
                                        <p:attrNameLst>
                                          <p:attrName>style.visibility</p:attrName>
                                        </p:attrNameLst>
                                      </p:cBhvr>
                                      <p:to>
                                        <p:strVal val="visible"/>
                                      </p:to>
                                    </p:set>
                                    <p:anim calcmode="lin" valueType="num">
                                      <p:cBhvr additive="base">
                                        <p:cTn id="24" dur="600" fill="hold"/>
                                        <p:tgtEl>
                                          <p:spTgt spid="12"/>
                                        </p:tgtEl>
                                        <p:attrNameLst>
                                          <p:attrName>style.opacity</p:attrName>
                                        </p:attrNameLst>
                                      </p:cBhvr>
                                      <p:tavLst>
                                        <p:tav tm="0">
                                          <p:val>
                                            <p:fltVal val="0"/>
                                          </p:val>
                                        </p:tav>
                                        <p:tav tm="100000">
                                          <p:val>
                                            <p:fltVal val="1"/>
                                          </p:val>
                                        </p:tav>
                                      </p:tavLst>
                                    </p:anim>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tgtEl>
                                          <p:spTgt spid="13"/>
                                        </p:tgtEl>
                                        <p:attrNameLst>
                                          <p:attrName>style.visibility</p:attrName>
                                        </p:attrNameLst>
                                      </p:cBhvr>
                                      <p:to>
                                        <p:strVal val="visible"/>
                                      </p:to>
                                    </p:set>
                                    <p:anim calcmode="lin" valueType="num">
                                      <p:cBhvr additive="base">
                                        <p:cTn id="29" dur="600" fill="hold"/>
                                        <p:tgtEl>
                                          <p:spTgt spid="13"/>
                                        </p:tgtEl>
                                        <p:attrNameLst>
                                          <p:attrName>style.opacity</p:attrName>
                                        </p:attrNameLst>
                                      </p:cBhvr>
                                      <p:tavLst>
                                        <p:tav tm="0">
                                          <p:val>
                                            <p:fltVal val="0"/>
                                          </p:val>
                                        </p:tav>
                                        <p:tav tm="100000">
                                          <p:val>
                                            <p:fltVal val="1"/>
                                          </p:val>
                                        </p:tav>
                                      </p:tavLst>
                                    </p:anim>
                                  </p:childTnLst>
                                </p:cTn>
                              </p:par>
                              <p:par>
                                <p:cTn id="30" presetID="10" presetClass="entr" presetSubtype="0" fill="hold" grpId="0" nodeType="withEffect">
                                  <p:stCondLst>
                                    <p:cond delay="0"/>
                                  </p:stCondLst>
                                  <p:childTnLst>
                                    <p:set>
                                      <p:cBhvr>
                                        <p:cTn id="31" dur="1" fill="hold"/>
                                        <p:tgtEl>
                                          <p:spTgt spid="14"/>
                                        </p:tgtEl>
                                        <p:attrNameLst>
                                          <p:attrName>style.visibility</p:attrName>
                                        </p:attrNameLst>
                                      </p:cBhvr>
                                      <p:to>
                                        <p:strVal val="visible"/>
                                      </p:to>
                                    </p:set>
                                    <p:anim calcmode="lin" valueType="num">
                                      <p:cBhvr additive="base">
                                        <p:cTn id="32" dur="600" fill="hold"/>
                                        <p:tgtEl>
                                          <p:spTgt spid="14"/>
                                        </p:tgtEl>
                                        <p:attrNameLst>
                                          <p:attrName>style.opacity</p:attrName>
                                        </p:attrNameLst>
                                      </p:cBhvr>
                                      <p:tavLst>
                                        <p:tav tm="0">
                                          <p:val>
                                            <p:fltVal val="0"/>
                                          </p:val>
                                        </p:tav>
                                        <p:tav tm="100000">
                                          <p:val>
                                            <p:fltVal val="1"/>
                                          </p:val>
                                        </p:tav>
                                      </p:tavLst>
                                    </p:anim>
                                  </p:childTnLst>
                                </p:cTn>
                              </p:par>
                              <p:par>
                                <p:cTn id="33" presetID="10" presetClass="entr" presetSubtype="0" fill="hold" grpId="0" nodeType="withEffect">
                                  <p:stCondLst>
                                    <p:cond delay="0"/>
                                  </p:stCondLst>
                                  <p:childTnLst>
                                    <p:set>
                                      <p:cBhvr>
                                        <p:cTn id="34" dur="1" fill="hold"/>
                                        <p:tgtEl>
                                          <p:spTgt spid="15"/>
                                        </p:tgtEl>
                                        <p:attrNameLst>
                                          <p:attrName>style.visibility</p:attrName>
                                        </p:attrNameLst>
                                      </p:cBhvr>
                                      <p:to>
                                        <p:strVal val="visible"/>
                                      </p:to>
                                    </p:set>
                                    <p:anim calcmode="lin" valueType="num">
                                      <p:cBhvr additive="base">
                                        <p:cTn id="35" dur="600" fill="hold"/>
                                        <p:tgtEl>
                                          <p:spTgt spid="15"/>
                                        </p:tgtEl>
                                        <p:attrNameLst>
                                          <p:attrName>style.opacity</p:attrName>
                                        </p:attrNameLst>
                                      </p:cBhvr>
                                      <p:tavLst>
                                        <p:tav tm="0">
                                          <p:val>
                                            <p:fltVal val="0"/>
                                          </p:val>
                                        </p:tav>
                                        <p:tav tm="100000">
                                          <p:val>
                                            <p:fltVal val="1"/>
                                          </p:val>
                                        </p:tav>
                                      </p:tavLst>
                                    </p:anim>
                                  </p:childTnLst>
                                </p:cTn>
                              </p:par>
                              <p:par>
                                <p:cTn id="36" presetID="10" presetClass="entr" presetSubtype="0" fill="hold" grpId="0" nodeType="withEffect">
                                  <p:stCondLst>
                                    <p:cond delay="0"/>
                                  </p:stCondLst>
                                  <p:childTnLst>
                                    <p:set>
                                      <p:cBhvr>
                                        <p:cTn id="37" dur="1" fill="hold"/>
                                        <p:tgtEl>
                                          <p:spTgt spid="16"/>
                                        </p:tgtEl>
                                        <p:attrNameLst>
                                          <p:attrName>style.visibility</p:attrName>
                                        </p:attrNameLst>
                                      </p:cBhvr>
                                      <p:to>
                                        <p:strVal val="visible"/>
                                      </p:to>
                                    </p:set>
                                    <p:anim calcmode="lin" valueType="num">
                                      <p:cBhvr additive="base">
                                        <p:cTn id="38" dur="600" fill="hold"/>
                                        <p:tgtEl>
                                          <p:spTgt spid="16"/>
                                        </p:tgtEl>
                                        <p:attrNameLst>
                                          <p:attrName>style.opacity</p:attrName>
                                        </p:attrNameLst>
                                      </p:cBhvr>
                                      <p:tavLst>
                                        <p:tav tm="0">
                                          <p:val>
                                            <p:fltVal val="0"/>
                                          </p:val>
                                        </p:tav>
                                        <p:tav tm="100000">
                                          <p:val>
                                            <p:fltVal val="1"/>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11247120" cy="640080"/>
          </a:xfrm>
          <a:prstGeom prst="rect">
            <a:avLst/>
          </a:prstGeom>
          <a:noFill/>
        </p:spPr>
        <p:txBody>
          <a:bodyPr wrap="square" lIns="0" rIns="0" tIns="0" bIns="0">
            <a:spAutoFit/>
          </a:bodyPr>
          <a:lstStyle/>
          <a:p>
            <a:pPr algn="l"/>
            <a:r>
              <a:rPr sz="2800" b="1">
                <a:solidFill>
                  <a:srgbClr val="0F1F44"/>
                </a:solidFill>
                <a:latin typeface="Calibri"/>
              </a:rPr>
              <a:t>Risks &amp; mitigations</a:t>
            </a:r>
          </a:p>
        </p:txBody>
      </p:sp>
      <p:sp>
        <p:nvSpPr>
          <p:cNvPr id="5" name="TextBox 4"/>
          <p:cNvSpPr txBox="1"/>
          <p:nvPr/>
        </p:nvSpPr>
        <p:spPr>
          <a:xfrm>
            <a:off x="457200" y="868680"/>
            <a:ext cx="11247120" cy="365760"/>
          </a:xfrm>
          <a:prstGeom prst="rect">
            <a:avLst/>
          </a:prstGeom>
          <a:noFill/>
        </p:spPr>
        <p:txBody>
          <a:bodyPr wrap="square" lIns="0" rIns="0" tIns="0" bIns="0">
            <a:spAutoFit/>
          </a:bodyPr>
          <a:lstStyle/>
          <a:p>
            <a:pPr algn="l"/>
            <a:r>
              <a:rPr sz="1400" b="0">
                <a:solidFill>
                  <a:srgbClr val="55667A"/>
                </a:solidFill>
                <a:latin typeface="Calibri"/>
              </a:rPr>
              <a:t>What could go wrong, and what we'll do about it</a:t>
            </a:r>
          </a:p>
        </p:txBody>
      </p:sp>
      <p:sp>
        <p:nvSpPr>
          <p:cNvPr id="6" name="TextBox 5"/>
          <p:cNvSpPr txBox="1"/>
          <p:nvPr/>
        </p:nvSpPr>
        <p:spPr>
          <a:xfrm>
            <a:off x="457200" y="6446520"/>
            <a:ext cx="11247120" cy="274320"/>
          </a:xfrm>
          <a:prstGeom prst="rect">
            <a:avLst/>
          </a:prstGeom>
          <a:noFill/>
        </p:spPr>
        <p:txBody>
          <a:bodyPr wrap="square" lIns="0" rIns="0" tIns="0" bIns="0">
            <a:spAutoFit/>
          </a:bodyPr>
          <a:lstStyle/>
          <a:p>
            <a:pPr algn="l"/>
            <a:r>
              <a:rPr sz="1000" b="0">
                <a:solidFill>
                  <a:srgbClr val="55667A"/>
                </a:solidFill>
                <a:latin typeface="Calibri"/>
              </a:rPr>
              <a:t>VitalScan · AIT 500 · Group 1 · Planning checkpoint</a:t>
            </a:r>
          </a:p>
        </p:txBody>
      </p:sp>
      <p:sp>
        <p:nvSpPr>
          <p:cNvPr id="7" name="Rounded Rectangle 6"/>
          <p:cNvSpPr/>
          <p:nvPr/>
        </p:nvSpPr>
        <p:spPr>
          <a:xfrm>
            <a:off x="457200" y="1417320"/>
            <a:ext cx="11247120" cy="1097280"/>
          </a:xfrm>
          <a:prstGeom prst="roundRect">
            <a:avLst>
              <a:gd name="adj" fmla="val 6000"/>
            </a:avLst>
          </a:prstGeom>
          <a:solidFill>
            <a:srgbClr val="FA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536192"/>
            <a:ext cx="10789920" cy="365760"/>
          </a:xfrm>
          <a:prstGeom prst="rect">
            <a:avLst/>
          </a:prstGeom>
          <a:noFill/>
        </p:spPr>
        <p:txBody>
          <a:bodyPr wrap="square" lIns="0" rIns="0" tIns="0" bIns="0">
            <a:spAutoFit/>
          </a:bodyPr>
          <a:lstStyle/>
          <a:p>
            <a:pPr algn="l"/>
            <a:r>
              <a:rPr sz="1300" b="1">
                <a:solidFill>
                  <a:srgbClr val="C0392B"/>
                </a:solidFill>
                <a:latin typeface="Calibri"/>
              </a:rPr>
              <a:t>RISK — Blood pressure can't be derived from classical rPPG</a:t>
            </a:r>
          </a:p>
        </p:txBody>
      </p:sp>
      <p:sp>
        <p:nvSpPr>
          <p:cNvPr id="9" name="TextBox 8"/>
          <p:cNvSpPr txBox="1"/>
          <p:nvPr/>
        </p:nvSpPr>
        <p:spPr>
          <a:xfrm>
            <a:off x="685800" y="1892808"/>
            <a:ext cx="10789920" cy="274320"/>
          </a:xfrm>
          <a:prstGeom prst="rect">
            <a:avLst/>
          </a:prstGeom>
          <a:noFill/>
        </p:spPr>
        <p:txBody>
          <a:bodyPr wrap="square" lIns="0" rIns="0" tIns="0" bIns="0">
            <a:spAutoFit/>
          </a:bodyPr>
          <a:lstStyle/>
          <a:p>
            <a:pPr algn="l"/>
            <a:r>
              <a:rPr sz="1100" b="0">
                <a:solidFill>
                  <a:srgbClr val="33445C"/>
                </a:solidFill>
                <a:latin typeface="Calibri"/>
              </a:rPr>
              <a:t>Why: Physical limitation — needs cuff calibration per subject</a:t>
            </a:r>
          </a:p>
        </p:txBody>
      </p:sp>
      <p:sp>
        <p:nvSpPr>
          <p:cNvPr id="10" name="TextBox 9"/>
          <p:cNvSpPr txBox="1"/>
          <p:nvPr/>
        </p:nvSpPr>
        <p:spPr>
          <a:xfrm>
            <a:off x="685800" y="2194560"/>
            <a:ext cx="10789920" cy="274320"/>
          </a:xfrm>
          <a:prstGeom prst="rect">
            <a:avLst/>
          </a:prstGeom>
          <a:noFill/>
        </p:spPr>
        <p:txBody>
          <a:bodyPr wrap="square" lIns="0" rIns="0" tIns="0" bIns="0">
            <a:spAutoFit/>
          </a:bodyPr>
          <a:lstStyle/>
          <a:p>
            <a:pPr algn="l"/>
            <a:r>
              <a:rPr sz="1100" b="1">
                <a:solidFill>
                  <a:srgbClr val="0F1F44"/>
                </a:solidFill>
                <a:latin typeface="Calibri"/>
              </a:rPr>
              <a:t>Mitigation: Return mock BP flagged as known limitation; document in writeup</a:t>
            </a:r>
          </a:p>
        </p:txBody>
      </p:sp>
      <p:sp>
        <p:nvSpPr>
          <p:cNvPr id="11" name="Rounded Rectangle 10"/>
          <p:cNvSpPr/>
          <p:nvPr/>
        </p:nvSpPr>
        <p:spPr>
          <a:xfrm>
            <a:off x="457200" y="2606040"/>
            <a:ext cx="11247120" cy="1097280"/>
          </a:xfrm>
          <a:prstGeom prst="roundRect">
            <a:avLst>
              <a:gd name="adj" fmla="val 6000"/>
            </a:avLst>
          </a:prstGeom>
          <a:solidFill>
            <a:srgbClr val="FDF1E3"/>
          </a:solidFill>
          <a:ln w="15875">
            <a:solidFill>
              <a:srgbClr val="C073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724912"/>
            <a:ext cx="10789920" cy="365760"/>
          </a:xfrm>
          <a:prstGeom prst="rect">
            <a:avLst/>
          </a:prstGeom>
          <a:noFill/>
        </p:spPr>
        <p:txBody>
          <a:bodyPr wrap="square" lIns="0" rIns="0" tIns="0" bIns="0">
            <a:spAutoFit/>
          </a:bodyPr>
          <a:lstStyle/>
          <a:p>
            <a:pPr algn="l"/>
            <a:r>
              <a:rPr sz="1300" b="1">
                <a:solidFill>
                  <a:srgbClr val="C0731D"/>
                </a:solidFill>
                <a:latin typeface="Calibri"/>
              </a:rPr>
              <a:t>RISK — Head motion + bad lighting destroy the signal</a:t>
            </a:r>
          </a:p>
        </p:txBody>
      </p:sp>
      <p:sp>
        <p:nvSpPr>
          <p:cNvPr id="13" name="TextBox 12"/>
          <p:cNvSpPr txBox="1"/>
          <p:nvPr/>
        </p:nvSpPr>
        <p:spPr>
          <a:xfrm>
            <a:off x="685800" y="3081528"/>
            <a:ext cx="10789920" cy="274320"/>
          </a:xfrm>
          <a:prstGeom prst="rect">
            <a:avLst/>
          </a:prstGeom>
          <a:noFill/>
        </p:spPr>
        <p:txBody>
          <a:bodyPr wrap="square" lIns="0" rIns="0" tIns="0" bIns="0">
            <a:spAutoFit/>
          </a:bodyPr>
          <a:lstStyle/>
          <a:p>
            <a:pPr algn="l"/>
            <a:r>
              <a:rPr sz="1100" b="0">
                <a:solidFill>
                  <a:srgbClr val="33445C"/>
                </a:solidFill>
                <a:latin typeface="Calibri"/>
              </a:rPr>
              <a:t>Why: RGB variation from motion dwarfs the 1% pulse signal</a:t>
            </a:r>
          </a:p>
        </p:txBody>
      </p:sp>
      <p:sp>
        <p:nvSpPr>
          <p:cNvPr id="14" name="TextBox 13"/>
          <p:cNvSpPr txBox="1"/>
          <p:nvPr/>
        </p:nvSpPr>
        <p:spPr>
          <a:xfrm>
            <a:off x="685800" y="3383280"/>
            <a:ext cx="10789920" cy="274320"/>
          </a:xfrm>
          <a:prstGeom prst="rect">
            <a:avLst/>
          </a:prstGeom>
          <a:noFill/>
        </p:spPr>
        <p:txBody>
          <a:bodyPr wrap="square" lIns="0" rIns="0" tIns="0" bIns="0">
            <a:spAutoFit/>
          </a:bodyPr>
          <a:lstStyle/>
          <a:p>
            <a:pPr algn="l"/>
            <a:r>
              <a:rPr sz="1100" b="1">
                <a:solidFill>
                  <a:srgbClr val="0F1F44"/>
                </a:solidFill>
                <a:latin typeface="Calibri"/>
              </a:rPr>
              <a:t>Mitigation: Forehead + cheek ROIs (less motion); bandpass filter; POS projection</a:t>
            </a:r>
          </a:p>
        </p:txBody>
      </p:sp>
      <p:sp>
        <p:nvSpPr>
          <p:cNvPr id="15" name="Rounded Rectangle 14"/>
          <p:cNvSpPr/>
          <p:nvPr/>
        </p:nvSpPr>
        <p:spPr>
          <a:xfrm>
            <a:off x="457200" y="3794760"/>
            <a:ext cx="11247120" cy="1097280"/>
          </a:xfrm>
          <a:prstGeom prst="roundRect">
            <a:avLst>
              <a:gd name="adj" fmla="val 6000"/>
            </a:avLst>
          </a:prstGeom>
          <a:solidFill>
            <a:srgbClr val="FDF1E3"/>
          </a:solidFill>
          <a:ln w="15875">
            <a:solidFill>
              <a:srgbClr val="C073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913632"/>
            <a:ext cx="10789920" cy="365760"/>
          </a:xfrm>
          <a:prstGeom prst="rect">
            <a:avLst/>
          </a:prstGeom>
          <a:noFill/>
        </p:spPr>
        <p:txBody>
          <a:bodyPr wrap="square" lIns="0" rIns="0" tIns="0" bIns="0">
            <a:spAutoFit/>
          </a:bodyPr>
          <a:lstStyle/>
          <a:p>
            <a:pPr algn="l"/>
            <a:r>
              <a:rPr sz="1300" b="1">
                <a:solidFill>
                  <a:srgbClr val="C0731D"/>
                </a:solidFill>
                <a:latin typeface="Calibri"/>
              </a:rPr>
              <a:t>RISK — Synthetic SCAMPS data has facial-animation artifacts</a:t>
            </a:r>
          </a:p>
        </p:txBody>
      </p:sp>
      <p:sp>
        <p:nvSpPr>
          <p:cNvPr id="17" name="TextBox 16"/>
          <p:cNvSpPr txBox="1"/>
          <p:nvPr/>
        </p:nvSpPr>
        <p:spPr>
          <a:xfrm>
            <a:off x="685800" y="4270248"/>
            <a:ext cx="10789920" cy="274320"/>
          </a:xfrm>
          <a:prstGeom prst="rect">
            <a:avLst/>
          </a:prstGeom>
          <a:noFill/>
        </p:spPr>
        <p:txBody>
          <a:bodyPr wrap="square" lIns="0" rIns="0" tIns="0" bIns="0">
            <a:spAutoFit/>
          </a:bodyPr>
          <a:lstStyle/>
          <a:p>
            <a:pPr algn="l"/>
            <a:r>
              <a:rPr sz="1100" b="0">
                <a:solidFill>
                  <a:srgbClr val="33445C"/>
                </a:solidFill>
                <a:latin typeface="Calibri"/>
              </a:rPr>
              <a:t>Why: Avatar animation frequencies sit on top of the pulse band</a:t>
            </a:r>
          </a:p>
        </p:txBody>
      </p:sp>
      <p:sp>
        <p:nvSpPr>
          <p:cNvPr id="18" name="TextBox 17"/>
          <p:cNvSpPr txBox="1"/>
          <p:nvPr/>
        </p:nvSpPr>
        <p:spPr>
          <a:xfrm>
            <a:off x="685800" y="4572000"/>
            <a:ext cx="10789920" cy="274320"/>
          </a:xfrm>
          <a:prstGeom prst="rect">
            <a:avLst/>
          </a:prstGeom>
          <a:noFill/>
        </p:spPr>
        <p:txBody>
          <a:bodyPr wrap="square" lIns="0" rIns="0" tIns="0" bIns="0">
            <a:spAutoFit/>
          </a:bodyPr>
          <a:lstStyle/>
          <a:p>
            <a:pPr algn="l"/>
            <a:r>
              <a:rPr sz="1100" b="1">
                <a:solidFill>
                  <a:srgbClr val="0F1F44"/>
                </a:solidFill>
                <a:latin typeface="Calibri"/>
              </a:rPr>
              <a:t>Mitigation: Tighten FFT search to 60–210 BPM; UBFC remains primary benchmark</a:t>
            </a:r>
          </a:p>
        </p:txBody>
      </p:sp>
      <p:sp>
        <p:nvSpPr>
          <p:cNvPr id="19" name="Rounded Rectangle 18"/>
          <p:cNvSpPr/>
          <p:nvPr/>
        </p:nvSpPr>
        <p:spPr>
          <a:xfrm>
            <a:off x="457200" y="4983480"/>
            <a:ext cx="11247120" cy="1097280"/>
          </a:xfrm>
          <a:prstGeom prst="roundRect">
            <a:avLst>
              <a:gd name="adj" fmla="val 6000"/>
            </a:avLst>
          </a:prstGeom>
          <a:solidFill>
            <a:srgbClr val="EEF3FA"/>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5102352"/>
            <a:ext cx="10789920" cy="365760"/>
          </a:xfrm>
          <a:prstGeom prst="rect">
            <a:avLst/>
          </a:prstGeom>
          <a:noFill/>
        </p:spPr>
        <p:txBody>
          <a:bodyPr wrap="square" lIns="0" rIns="0" tIns="0" bIns="0">
            <a:spAutoFit/>
          </a:bodyPr>
          <a:lstStyle/>
          <a:p>
            <a:pPr algn="l"/>
            <a:r>
              <a:rPr sz="1300" b="1">
                <a:solidFill>
                  <a:srgbClr val="1F6FEB"/>
                </a:solidFill>
                <a:latin typeface="Calibri"/>
              </a:rPr>
              <a:t>RISK — Deep-learning extension is a stretch goal</a:t>
            </a:r>
          </a:p>
        </p:txBody>
      </p:sp>
      <p:sp>
        <p:nvSpPr>
          <p:cNvPr id="21" name="TextBox 20"/>
          <p:cNvSpPr txBox="1"/>
          <p:nvPr/>
        </p:nvSpPr>
        <p:spPr>
          <a:xfrm>
            <a:off x="685800" y="5458968"/>
            <a:ext cx="10789920" cy="274320"/>
          </a:xfrm>
          <a:prstGeom prst="rect">
            <a:avLst/>
          </a:prstGeom>
          <a:noFill/>
        </p:spPr>
        <p:txBody>
          <a:bodyPr wrap="square" lIns="0" rIns="0" tIns="0" bIns="0">
            <a:spAutoFit/>
          </a:bodyPr>
          <a:lstStyle/>
          <a:p>
            <a:pPr algn="l"/>
            <a:r>
              <a:rPr sz="1100" b="0">
                <a:solidFill>
                  <a:srgbClr val="33445C"/>
                </a:solidFill>
                <a:latin typeface="Calibri"/>
              </a:rPr>
              <a:t>Why: Classical pipeline must clear rubric first; DL is opt-in</a:t>
            </a:r>
          </a:p>
        </p:txBody>
      </p:sp>
      <p:sp>
        <p:nvSpPr>
          <p:cNvPr id="22" name="TextBox 21"/>
          <p:cNvSpPr txBox="1"/>
          <p:nvPr/>
        </p:nvSpPr>
        <p:spPr>
          <a:xfrm>
            <a:off x="685800" y="5760720"/>
            <a:ext cx="10789920" cy="274320"/>
          </a:xfrm>
          <a:prstGeom prst="rect">
            <a:avLst/>
          </a:prstGeom>
          <a:noFill/>
        </p:spPr>
        <p:txBody>
          <a:bodyPr wrap="square" lIns="0" rIns="0" tIns="0" bIns="0">
            <a:spAutoFit/>
          </a:bodyPr>
          <a:lstStyle/>
          <a:p>
            <a:pPr algn="l"/>
            <a:r>
              <a:rPr sz="1100" b="1">
                <a:solidFill>
                  <a:srgbClr val="0F1F44"/>
                </a:solidFill>
                <a:latin typeface="Calibri"/>
              </a:rPr>
              <a:t>Mitigation: Scope DL out of Phase 1–5; scaffolding only; revisit post-rubric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64592"/>
          </a:xfrm>
          <a:prstGeom prst="rect">
            <a:avLst/>
          </a:prstGeom>
          <a:solidFill>
            <a:srgbClr val="1F6F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20040"/>
            <a:ext cx="11247120" cy="640080"/>
          </a:xfrm>
          <a:prstGeom prst="rect">
            <a:avLst/>
          </a:prstGeom>
          <a:noFill/>
        </p:spPr>
        <p:txBody>
          <a:bodyPr wrap="square" lIns="0" rIns="0" tIns="0" bIns="0">
            <a:spAutoFit/>
          </a:bodyPr>
          <a:lstStyle/>
          <a:p>
            <a:pPr algn="l"/>
            <a:r>
              <a:rPr sz="2800" b="1">
                <a:solidFill>
                  <a:srgbClr val="0F1F44"/>
                </a:solidFill>
                <a:latin typeface="Calibri"/>
              </a:rPr>
              <a:t>Timeline &amp; next steps</a:t>
            </a:r>
          </a:p>
        </p:txBody>
      </p:sp>
      <p:sp>
        <p:nvSpPr>
          <p:cNvPr id="5" name="TextBox 4"/>
          <p:cNvSpPr txBox="1"/>
          <p:nvPr/>
        </p:nvSpPr>
        <p:spPr>
          <a:xfrm>
            <a:off x="457200" y="868680"/>
            <a:ext cx="11247120" cy="365760"/>
          </a:xfrm>
          <a:prstGeom prst="rect">
            <a:avLst/>
          </a:prstGeom>
          <a:noFill/>
        </p:spPr>
        <p:txBody>
          <a:bodyPr wrap="square" lIns="0" rIns="0" tIns="0" bIns="0">
            <a:spAutoFit/>
          </a:bodyPr>
          <a:lstStyle/>
          <a:p>
            <a:pPr algn="l"/>
            <a:r>
              <a:rPr sz="1400" b="0">
                <a:solidFill>
                  <a:srgbClr val="55667A"/>
                </a:solidFill>
                <a:latin typeface="Calibri"/>
              </a:rPr>
              <a:t>What we're doing this week, what comes after</a:t>
            </a:r>
          </a:p>
        </p:txBody>
      </p:sp>
      <p:sp>
        <p:nvSpPr>
          <p:cNvPr id="6" name="TextBox 5"/>
          <p:cNvSpPr txBox="1"/>
          <p:nvPr/>
        </p:nvSpPr>
        <p:spPr>
          <a:xfrm>
            <a:off x="457200" y="6446520"/>
            <a:ext cx="11247120" cy="274320"/>
          </a:xfrm>
          <a:prstGeom prst="rect">
            <a:avLst/>
          </a:prstGeom>
          <a:noFill/>
        </p:spPr>
        <p:txBody>
          <a:bodyPr wrap="square" lIns="0" rIns="0" tIns="0" bIns="0">
            <a:spAutoFit/>
          </a:bodyPr>
          <a:lstStyle/>
          <a:p>
            <a:pPr algn="l"/>
            <a:r>
              <a:rPr sz="1000" b="0">
                <a:solidFill>
                  <a:srgbClr val="55667A"/>
                </a:solidFill>
                <a:latin typeface="Calibri"/>
              </a:rPr>
              <a:t>VitalScan · AIT 500 · Group 1 · Planning checkpoint</a:t>
            </a:r>
          </a:p>
        </p:txBody>
      </p:sp>
      <p:sp>
        <p:nvSpPr>
          <p:cNvPr id="7" name="Rounded Rectangle 6"/>
          <p:cNvSpPr/>
          <p:nvPr/>
        </p:nvSpPr>
        <p:spPr>
          <a:xfrm>
            <a:off x="457200" y="1554480"/>
            <a:ext cx="5486400" cy="4572000"/>
          </a:xfrm>
          <a:prstGeom prst="roundRect">
            <a:avLst>
              <a:gd name="adj" fmla="val 6000"/>
            </a:avLst>
          </a:prstGeom>
          <a:solidFill>
            <a:srgbClr val="EEF3FA"/>
          </a:solidFill>
          <a:ln w="15875">
            <a:solidFill>
              <a:srgbClr val="1F6F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91640"/>
            <a:ext cx="5029200" cy="365760"/>
          </a:xfrm>
          <a:prstGeom prst="rect">
            <a:avLst/>
          </a:prstGeom>
          <a:noFill/>
        </p:spPr>
        <p:txBody>
          <a:bodyPr wrap="square" lIns="0" rIns="0" tIns="0" bIns="0">
            <a:spAutoFit/>
          </a:bodyPr>
          <a:lstStyle/>
          <a:p>
            <a:pPr algn="l"/>
            <a:r>
              <a:rPr sz="1200" b="1">
                <a:solidFill>
                  <a:srgbClr val="1F6FEB"/>
                </a:solidFill>
                <a:latin typeface="Calibri"/>
              </a:rPr>
              <a:t>NOW — design checkpoint</a:t>
            </a:r>
          </a:p>
        </p:txBody>
      </p:sp>
      <p:sp>
        <p:nvSpPr>
          <p:cNvPr id="9" name="TextBox 8"/>
          <p:cNvSpPr txBox="1"/>
          <p:nvPr/>
        </p:nvSpPr>
        <p:spPr>
          <a:xfrm>
            <a:off x="685800" y="2103120"/>
            <a:ext cx="5029200" cy="457200"/>
          </a:xfrm>
          <a:prstGeom prst="rect">
            <a:avLst/>
          </a:prstGeom>
          <a:noFill/>
        </p:spPr>
        <p:txBody>
          <a:bodyPr wrap="square" lIns="0" rIns="0" tIns="0" bIns="0">
            <a:spAutoFit/>
          </a:bodyPr>
          <a:lstStyle/>
          <a:p>
            <a:pPr algn="l"/>
            <a:r>
              <a:rPr sz="1800" b="1">
                <a:solidFill>
                  <a:srgbClr val="0F1F44"/>
                </a:solidFill>
                <a:latin typeface="Calibri"/>
              </a:rPr>
              <a:t>What's done in planning</a:t>
            </a:r>
          </a:p>
        </p:txBody>
      </p:sp>
      <p:sp>
        <p:nvSpPr>
          <p:cNvPr id="10" name="TextBox 9"/>
          <p:cNvSpPr txBox="1"/>
          <p:nvPr/>
        </p:nvSpPr>
        <p:spPr>
          <a:xfrm>
            <a:off x="685800" y="2651760"/>
            <a:ext cx="5029200" cy="3291840"/>
          </a:xfrm>
          <a:prstGeom prst="rect">
            <a:avLst/>
          </a:prstGeom>
          <a:noFill/>
        </p:spPr>
        <p:txBody>
          <a:bodyPr wrap="square">
            <a:spAutoFit/>
          </a:bodyPr>
          <a:lstStyle/>
          <a:p>
            <a:pPr algn="l">
              <a:spcAft>
                <a:spcPts val="600"/>
              </a:spcAft>
            </a:pPr>
            <a:r>
              <a:rPr sz="1400">
                <a:solidFill>
                  <a:srgbClr val="1A1A1A"/>
                </a:solidFill>
                <a:latin typeface="Calibri"/>
              </a:rPr>
              <a:t>•  API contract — defined and agreed</a:t>
            </a:r>
          </a:p>
          <a:p>
            <a:pPr algn="l">
              <a:spcAft>
                <a:spcPts val="600"/>
              </a:spcAft>
            </a:pPr>
            <a:r>
              <a:rPr sz="1400">
                <a:solidFill>
                  <a:srgbClr val="1A1A1A"/>
                </a:solidFill>
                <a:latin typeface="Calibri"/>
              </a:rPr>
              <a:t>•  System architecture — three layers locked</a:t>
            </a:r>
          </a:p>
          <a:p>
            <a:pPr algn="l">
              <a:spcAft>
                <a:spcPts val="600"/>
              </a:spcAft>
            </a:pPr>
            <a:r>
              <a:rPr sz="1400">
                <a:solidFill>
                  <a:srgbClr val="1A1A1A"/>
                </a:solidFill>
                <a:latin typeface="Calibri"/>
              </a:rPr>
              <a:t>•  Algorithm — POS algorithm chosen with rationale</a:t>
            </a:r>
          </a:p>
          <a:p>
            <a:pPr algn="l">
              <a:spcAft>
                <a:spcPts val="600"/>
              </a:spcAft>
            </a:pPr>
            <a:r>
              <a:rPr sz="1400">
                <a:solidFill>
                  <a:srgbClr val="1A1A1A"/>
                </a:solidFill>
                <a:latin typeface="Calibri"/>
              </a:rPr>
              <a:t>•  Tech stack — every choice has a reason</a:t>
            </a:r>
          </a:p>
          <a:p>
            <a:pPr algn="l">
              <a:spcAft>
                <a:spcPts val="600"/>
              </a:spcAft>
            </a:pPr>
            <a:r>
              <a:rPr sz="1400">
                <a:solidFill>
                  <a:srgbClr val="1A1A1A"/>
                </a:solidFill>
                <a:latin typeface="Calibri"/>
              </a:rPr>
              <a:t>•  Build phases — ordered to minimize integration risk</a:t>
            </a:r>
          </a:p>
          <a:p>
            <a:pPr algn="l">
              <a:spcAft>
                <a:spcPts val="600"/>
              </a:spcAft>
            </a:pPr>
            <a:r>
              <a:rPr sz="1400">
                <a:solidFill>
                  <a:srgbClr val="1A1A1A"/>
                </a:solidFill>
                <a:latin typeface="Calibri"/>
              </a:rPr>
              <a:t>•  Risks — named with mitigations</a:t>
            </a:r>
          </a:p>
        </p:txBody>
      </p:sp>
      <p:sp>
        <p:nvSpPr>
          <p:cNvPr id="11" name="Rounded Rectangle 10"/>
          <p:cNvSpPr/>
          <p:nvPr/>
        </p:nvSpPr>
        <p:spPr>
          <a:xfrm>
            <a:off x="6217920" y="1554480"/>
            <a:ext cx="5486400" cy="4572000"/>
          </a:xfrm>
          <a:prstGeom prst="roundRect">
            <a:avLst>
              <a:gd name="adj" fmla="val 6000"/>
            </a:avLst>
          </a:prstGeom>
          <a:solidFill>
            <a:srgbClr val="E9F5EC"/>
          </a:solidFill>
          <a:ln w="15875">
            <a:solidFill>
              <a:srgbClr val="1E88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691640"/>
            <a:ext cx="5029200" cy="365760"/>
          </a:xfrm>
          <a:prstGeom prst="rect">
            <a:avLst/>
          </a:prstGeom>
          <a:noFill/>
        </p:spPr>
        <p:txBody>
          <a:bodyPr wrap="square" lIns="0" rIns="0" tIns="0" bIns="0">
            <a:spAutoFit/>
          </a:bodyPr>
          <a:lstStyle/>
          <a:p>
            <a:pPr algn="l"/>
            <a:r>
              <a:rPr sz="1200" b="1">
                <a:solidFill>
                  <a:srgbClr val="1E884F"/>
                </a:solidFill>
                <a:latin typeface="Calibri"/>
              </a:rPr>
              <a:t>NEXT — execution toward Week 8</a:t>
            </a:r>
          </a:p>
        </p:txBody>
      </p:sp>
      <p:sp>
        <p:nvSpPr>
          <p:cNvPr id="13" name="TextBox 12"/>
          <p:cNvSpPr txBox="1"/>
          <p:nvPr/>
        </p:nvSpPr>
        <p:spPr>
          <a:xfrm>
            <a:off x="6446520" y="2103120"/>
            <a:ext cx="5029200" cy="457200"/>
          </a:xfrm>
          <a:prstGeom prst="rect">
            <a:avLst/>
          </a:prstGeom>
          <a:noFill/>
        </p:spPr>
        <p:txBody>
          <a:bodyPr wrap="square" lIns="0" rIns="0" tIns="0" bIns="0">
            <a:spAutoFit/>
          </a:bodyPr>
          <a:lstStyle/>
          <a:p>
            <a:pPr algn="l"/>
            <a:r>
              <a:rPr sz="1800" b="1">
                <a:solidFill>
                  <a:srgbClr val="0F1F44"/>
                </a:solidFill>
                <a:latin typeface="Calibri"/>
              </a:rPr>
              <a:t>What we execute next</a:t>
            </a:r>
          </a:p>
        </p:txBody>
      </p:sp>
      <p:sp>
        <p:nvSpPr>
          <p:cNvPr id="14" name="TextBox 13"/>
          <p:cNvSpPr txBox="1"/>
          <p:nvPr/>
        </p:nvSpPr>
        <p:spPr>
          <a:xfrm>
            <a:off x="6446520" y="2651760"/>
            <a:ext cx="5029200" cy="3291840"/>
          </a:xfrm>
          <a:prstGeom prst="rect">
            <a:avLst/>
          </a:prstGeom>
          <a:noFill/>
        </p:spPr>
        <p:txBody>
          <a:bodyPr wrap="square">
            <a:spAutoFit/>
          </a:bodyPr>
          <a:lstStyle/>
          <a:p>
            <a:pPr algn="l">
              <a:spcAft>
                <a:spcPts val="600"/>
              </a:spcAft>
            </a:pPr>
            <a:r>
              <a:rPr sz="1400">
                <a:solidFill>
                  <a:srgbClr val="1A1A1A"/>
                </a:solidFill>
                <a:latin typeface="Calibri"/>
              </a:rPr>
              <a:t>•  Phase 1 — React UI against mock JSON</a:t>
            </a:r>
          </a:p>
          <a:p>
            <a:pPr algn="l">
              <a:spcAft>
                <a:spcPts val="600"/>
              </a:spcAft>
            </a:pPr>
            <a:r>
              <a:rPr sz="1400">
                <a:solidFill>
                  <a:srgbClr val="1A1A1A"/>
                </a:solidFill>
                <a:latin typeface="Calibri"/>
              </a:rPr>
              <a:t>•  Phase 2 — FastAPI mock /scan endpoint</a:t>
            </a:r>
          </a:p>
          <a:p>
            <a:pPr algn="l">
              <a:spcAft>
                <a:spcPts val="600"/>
              </a:spcAft>
            </a:pPr>
            <a:r>
              <a:rPr sz="1400">
                <a:solidFill>
                  <a:srgbClr val="1A1A1A"/>
                </a:solidFill>
                <a:latin typeface="Calibri"/>
              </a:rPr>
              <a:t>•  Phase 3 — real rPPG pipeline (face → POS → HRV)</a:t>
            </a:r>
          </a:p>
          <a:p>
            <a:pPr algn="l">
              <a:spcAft>
                <a:spcPts val="600"/>
              </a:spcAft>
            </a:pPr>
            <a:r>
              <a:rPr sz="1400">
                <a:solidFill>
                  <a:srgbClr val="1A1A1A"/>
                </a:solidFill>
                <a:latin typeface="Calibri"/>
              </a:rPr>
              <a:t>•  Phase 4 — Docker stack + Cloudflare Tunnel</a:t>
            </a:r>
          </a:p>
          <a:p>
            <a:pPr algn="l">
              <a:spcAft>
                <a:spcPts val="600"/>
              </a:spcAft>
            </a:pPr>
            <a:r>
              <a:rPr sz="1400">
                <a:solidFill>
                  <a:srgbClr val="1A1A1A"/>
                </a:solidFill>
                <a:latin typeface="Calibri"/>
              </a:rPr>
              <a:t>•  Phase 5 — browser webcam capture</a:t>
            </a:r>
          </a:p>
          <a:p>
            <a:pPr algn="l">
              <a:spcAft>
                <a:spcPts val="600"/>
              </a:spcAft>
            </a:pPr>
            <a:r>
              <a:rPr sz="1400">
                <a:solidFill>
                  <a:srgbClr val="1A1A1A"/>
                </a:solidFill>
                <a:latin typeface="Calibri"/>
              </a:rPr>
              <a:t>•  Week 8 — group results presentation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0F1F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731520"/>
            <a:ext cx="10972800" cy="457200"/>
          </a:xfrm>
          <a:prstGeom prst="rect">
            <a:avLst/>
          </a:prstGeom>
          <a:noFill/>
        </p:spPr>
        <p:txBody>
          <a:bodyPr wrap="square" lIns="0" rIns="0" tIns="0" bIns="0">
            <a:spAutoFit/>
          </a:bodyPr>
          <a:lstStyle/>
          <a:p>
            <a:pPr algn="l"/>
            <a:r>
              <a:rPr sz="1200" b="1">
                <a:solidFill>
                  <a:srgbClr val="1F6FEB"/>
                </a:solidFill>
                <a:latin typeface="Calibri"/>
              </a:rPr>
              <a:t>AIT 500 · GROUP 1 · PLANNING CHECKPOINT</a:t>
            </a:r>
          </a:p>
        </p:txBody>
      </p:sp>
      <p:sp>
        <p:nvSpPr>
          <p:cNvPr id="5" name="TextBox 4"/>
          <p:cNvSpPr txBox="1"/>
          <p:nvPr/>
        </p:nvSpPr>
        <p:spPr>
          <a:xfrm>
            <a:off x="548640" y="1463040"/>
            <a:ext cx="10972800" cy="1188720"/>
          </a:xfrm>
          <a:prstGeom prst="rect">
            <a:avLst/>
          </a:prstGeom>
          <a:noFill/>
        </p:spPr>
        <p:txBody>
          <a:bodyPr wrap="square" lIns="0" rIns="0" tIns="0" bIns="0">
            <a:spAutoFit/>
          </a:bodyPr>
          <a:lstStyle/>
          <a:p>
            <a:pPr algn="l"/>
            <a:r>
              <a:rPr sz="5400" b="1">
                <a:solidFill>
                  <a:srgbClr val="FFFFFF"/>
                </a:solidFill>
                <a:latin typeface="Calibri"/>
              </a:rPr>
              <a:t>Designed before coding.</a:t>
            </a:r>
          </a:p>
        </p:txBody>
      </p:sp>
      <p:sp>
        <p:nvSpPr>
          <p:cNvPr id="6" name="TextBox 5"/>
          <p:cNvSpPr txBox="1"/>
          <p:nvPr/>
        </p:nvSpPr>
        <p:spPr>
          <a:xfrm>
            <a:off x="548640" y="2743200"/>
            <a:ext cx="10972800" cy="548640"/>
          </a:xfrm>
          <a:prstGeom prst="rect">
            <a:avLst/>
          </a:prstGeom>
          <a:noFill/>
        </p:spPr>
        <p:txBody>
          <a:bodyPr wrap="square" lIns="0" rIns="0" tIns="0" bIns="0">
            <a:spAutoFit/>
          </a:bodyPr>
          <a:lstStyle/>
          <a:p>
            <a:pPr algn="l"/>
            <a:r>
              <a:rPr sz="2400" b="0">
                <a:solidFill>
                  <a:srgbClr val="FFFFFF"/>
                </a:solidFill>
                <a:latin typeface="Calibri"/>
              </a:rPr>
              <a:t>Questions about the blueprint?</a:t>
            </a:r>
          </a:p>
        </p:txBody>
      </p:sp>
      <p:sp>
        <p:nvSpPr>
          <p:cNvPr id="7" name="TextBox 6"/>
          <p:cNvSpPr txBox="1"/>
          <p:nvPr/>
        </p:nvSpPr>
        <p:spPr>
          <a:xfrm>
            <a:off x="548640" y="3840480"/>
            <a:ext cx="10972800" cy="365760"/>
          </a:xfrm>
          <a:prstGeom prst="rect">
            <a:avLst/>
          </a:prstGeom>
          <a:noFill/>
        </p:spPr>
        <p:txBody>
          <a:bodyPr wrap="square" lIns="0" rIns="0" tIns="0" bIns="0">
            <a:spAutoFit/>
          </a:bodyPr>
          <a:lstStyle/>
          <a:p>
            <a:pPr algn="l"/>
            <a:r>
              <a:rPr sz="1400" b="1">
                <a:solidFill>
                  <a:srgbClr val="1F6FEB"/>
                </a:solidFill>
                <a:latin typeface="Calibri"/>
              </a:rPr>
              <a:t>DESIGN SUMMARY</a:t>
            </a:r>
          </a:p>
        </p:txBody>
      </p:sp>
      <p:sp>
        <p:nvSpPr>
          <p:cNvPr id="8" name="TextBox 7"/>
          <p:cNvSpPr txBox="1"/>
          <p:nvPr/>
        </p:nvSpPr>
        <p:spPr>
          <a:xfrm>
            <a:off x="548640" y="4297680"/>
            <a:ext cx="10972800" cy="2011680"/>
          </a:xfrm>
          <a:prstGeom prst="rect">
            <a:avLst/>
          </a:prstGeom>
          <a:noFill/>
        </p:spPr>
        <p:txBody>
          <a:bodyPr wrap="square">
            <a:spAutoFit/>
          </a:bodyPr>
          <a:lstStyle/>
          <a:p>
            <a:pPr algn="l">
              <a:spcAft>
                <a:spcPts val="600"/>
              </a:spcAft>
            </a:pPr>
            <a:r>
              <a:rPr sz="1500">
                <a:solidFill>
                  <a:srgbClr val="FFFFFF"/>
                </a:solidFill>
                <a:latin typeface="Calibri"/>
              </a:rPr>
              <a:t>•  Three-layer architecture: client / Cloudflare / homelab</a:t>
            </a:r>
          </a:p>
          <a:p>
            <a:pPr algn="l">
              <a:spcAft>
                <a:spcPts val="600"/>
              </a:spcAft>
            </a:pPr>
            <a:r>
              <a:rPr sz="1500">
                <a:solidFill>
                  <a:srgbClr val="FFFFFF"/>
                </a:solidFill>
                <a:latin typeface="Calibri"/>
              </a:rPr>
              <a:t>•  Four-stage rPPG pipeline: face → ROI → POS → BPM</a:t>
            </a:r>
          </a:p>
          <a:p>
            <a:pPr algn="l">
              <a:spcAft>
                <a:spcPts val="600"/>
              </a:spcAft>
            </a:pPr>
            <a:r>
              <a:rPr sz="1500">
                <a:solidFill>
                  <a:srgbClr val="FFFFFF"/>
                </a:solidFill>
                <a:latin typeface="Calibri"/>
              </a:rPr>
              <a:t>•  Five build phases, ordered to validate each boundary</a:t>
            </a:r>
          </a:p>
          <a:p>
            <a:pPr algn="l">
              <a:spcAft>
                <a:spcPts val="600"/>
              </a:spcAft>
            </a:pPr>
            <a:r>
              <a:rPr sz="1500">
                <a:solidFill>
                  <a:srgbClr val="FFFFFF"/>
                </a:solidFill>
                <a:latin typeface="Calibri"/>
              </a:rPr>
              <a:t>•  Target: MAE &lt; 10 BPM on UBFC-rPPG (real humans)</a:t>
            </a:r>
          </a:p>
        </p:txBody>
      </p:sp>
      <p:sp>
        <p:nvSpPr>
          <p:cNvPr id="9" name="TextBox 8"/>
          <p:cNvSpPr txBox="1"/>
          <p:nvPr/>
        </p:nvSpPr>
        <p:spPr>
          <a:xfrm>
            <a:off x="548640" y="6217920"/>
            <a:ext cx="10972800" cy="274320"/>
          </a:xfrm>
          <a:prstGeom prst="rect">
            <a:avLst/>
          </a:prstGeom>
          <a:noFill/>
        </p:spPr>
        <p:txBody>
          <a:bodyPr wrap="square" lIns="0" rIns="0" tIns="0" bIns="0">
            <a:spAutoFit/>
          </a:bodyPr>
          <a:lstStyle/>
          <a:p>
            <a:pPr algn="l"/>
            <a:r>
              <a:rPr sz="1200" b="0">
                <a:solidFill>
                  <a:srgbClr val="1F6FEB"/>
                </a:solidFill>
                <a:latin typeface="Calibri"/>
              </a:rPr>
              <a:t>Group 1 — Germaine · Jason · Daray · Abner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