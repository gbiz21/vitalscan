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000"/>
  </p:normalViewPr>
  <p:slideViewPr>
    <p:cSldViewPr snapToGrid="0" snapToObjects="1">
      <p:cViewPr varScale="1">
        <p:scale>
          <a:sx n="84" d="100"/>
          <a:sy n="84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83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0"/>
          </a:xfrm>
          <a:prstGeom prst="line">
            <a:avLst/>
          </a:prstGeom>
          <a:noFill/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71C2C"/>
          </a:solidFill>
          <a:ln w="12700">
            <a:solidFill>
              <a:srgbClr val="071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98271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A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vitalscan.bkre8tive.com  •  github.com/gbiz21/vitalscan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Group 1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Planning Phase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EE7A"/>
                </a:solidFill>
              </a:rPr>
              <a:t>AIT 500 · WESTCLIFF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3F7FF"/>
                </a:solidFill>
              </a:rPr>
              <a:t>VitalScan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248716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AB7C8"/>
                </a:solidFill>
              </a:rPr>
              <a:t>Planning &amp; Architecture Blueprint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324612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4AC7E8"/>
          </a:solidFill>
          <a:ln w="12700">
            <a:solidFill>
              <a:srgbClr val="4A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GROUP 1 · rPPG SIGNAL EXTRACTION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0" y="13258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0B1C2D"/>
          </a:solidFill>
          <a:ln w="13970">
            <a:solidFill>
              <a:srgbClr val="244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7000" y="17556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7FF"/>
                </a:solidFill>
              </a:rPr>
              <a:t>Face video →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3F7FF"/>
                </a:solidFill>
              </a:rPr>
              <a:t>biomarker JSON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305288" y="2743200"/>
            <a:ext cx="2999232" cy="347472"/>
          </a:xfrm>
          <a:prstGeom prst="roundRect">
            <a:avLst>
              <a:gd name="adj" fmla="val 21053"/>
            </a:avLst>
          </a:prstGeom>
          <a:solidFill>
            <a:srgbClr val="13263D"/>
          </a:solidFill>
          <a:ln w="12700">
            <a:solidFill>
              <a:srgbClr val="244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78440" y="2834640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3F7FF"/>
                </a:solidFill>
              </a:rPr>
              <a:t>Webcam capture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305288" y="3273552"/>
            <a:ext cx="2999232" cy="347472"/>
          </a:xfrm>
          <a:prstGeom prst="roundRect">
            <a:avLst>
              <a:gd name="adj" fmla="val 21053"/>
            </a:avLst>
          </a:prstGeom>
          <a:solidFill>
            <a:srgbClr val="13263D"/>
          </a:solidFill>
          <a:ln w="12700">
            <a:solidFill>
              <a:srgbClr val="244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78440" y="336499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3F7FF"/>
                </a:solidFill>
              </a:rPr>
              <a:t>Face + ROI tracking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305288" y="3803904"/>
            <a:ext cx="2999232" cy="347472"/>
          </a:xfrm>
          <a:prstGeom prst="roundRect">
            <a:avLst>
              <a:gd name="adj" fmla="val 21053"/>
            </a:avLst>
          </a:prstGeom>
          <a:solidFill>
            <a:srgbClr val="124C45"/>
          </a:solidFill>
          <a:ln w="12700">
            <a:solidFill>
              <a:srgbClr val="244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78440" y="389534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E7A"/>
                </a:solidFill>
              </a:rPr>
              <a:t>POS rPPG extraction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305288" y="4334256"/>
            <a:ext cx="2999232" cy="347472"/>
          </a:xfrm>
          <a:prstGeom prst="roundRect">
            <a:avLst>
              <a:gd name="adj" fmla="val 21053"/>
            </a:avLst>
          </a:prstGeom>
          <a:solidFill>
            <a:srgbClr val="13263D"/>
          </a:solidFill>
          <a:ln w="12700">
            <a:solidFill>
              <a:srgbClr val="244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78440" y="442569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3F7FF"/>
                </a:solidFill>
              </a:rPr>
              <a:t>HRV + stress index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305288" y="4864608"/>
            <a:ext cx="2999232" cy="347472"/>
          </a:xfrm>
          <a:prstGeom prst="roundRect">
            <a:avLst>
              <a:gd name="adj" fmla="val 21053"/>
            </a:avLst>
          </a:prstGeom>
          <a:solidFill>
            <a:srgbClr val="13263D"/>
          </a:solidFill>
          <a:ln w="12700">
            <a:solidFill>
              <a:srgbClr val="2440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78440" y="495604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3F7FF"/>
                </a:solidFill>
              </a:rPr>
              <a:t>FastAPI /scan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9808" y="48920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F7FF"/>
                </a:solidFill>
              </a:rPr>
              <a:t>What this deck covers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5257800"/>
            <a:ext cx="1033272" cy="292608"/>
          </a:xfrm>
          <a:prstGeom prst="roundRect">
            <a:avLst>
              <a:gd name="adj" fmla="val 18750"/>
            </a:avLst>
          </a:prstGeom>
          <a:solidFill>
            <a:srgbClr val="18304A"/>
          </a:solidFill>
          <a:ln w="12700">
            <a:solidFill>
              <a:srgbClr val="18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5528" y="53126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7FF"/>
                </a:solidFill>
              </a:rPr>
              <a:t>Requirements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84248" y="5257800"/>
            <a:ext cx="1033272" cy="292608"/>
          </a:xfrm>
          <a:prstGeom prst="roundRect">
            <a:avLst>
              <a:gd name="adj" fmla="val 18750"/>
            </a:avLst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29968" y="53126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5257800"/>
            <a:ext cx="1033272" cy="292608"/>
          </a:xfrm>
          <a:prstGeom prst="roundRect">
            <a:avLst>
              <a:gd name="adj" fmla="val 18750"/>
            </a:avLst>
          </a:prstGeom>
          <a:solidFill>
            <a:srgbClr val="18304A"/>
          </a:solidFill>
          <a:ln w="12700">
            <a:solidFill>
              <a:srgbClr val="18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53126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7FF"/>
                </a:solidFill>
              </a:rPr>
              <a:t>Build phases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53128" y="5257800"/>
            <a:ext cx="1033272" cy="292608"/>
          </a:xfrm>
          <a:prstGeom prst="roundRect">
            <a:avLst>
              <a:gd name="adj" fmla="val 18750"/>
            </a:avLst>
          </a:prstGeom>
          <a:solidFill>
            <a:srgbClr val="18304A"/>
          </a:solidFill>
          <a:ln w="12700">
            <a:solidFill>
              <a:srgbClr val="18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53126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7FF"/>
                </a:solidFill>
              </a:rPr>
              <a:t>Validation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87568" y="5257800"/>
            <a:ext cx="1033272" cy="292608"/>
          </a:xfrm>
          <a:prstGeom prst="roundRect">
            <a:avLst>
              <a:gd name="adj" fmla="val 18750"/>
            </a:avLst>
          </a:prstGeom>
          <a:solidFill>
            <a:srgbClr val="18304A"/>
          </a:solidFill>
          <a:ln w="12700">
            <a:solidFill>
              <a:srgbClr val="183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33288" y="5312664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F7FF"/>
                </a:solidFill>
              </a:rPr>
              <a:t>Team plan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" y="587044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AB7C8"/>
                </a:solidFill>
              </a:rPr>
              <a:t>A planning checkpoint showing how Group 1 will design, build, validate, and present the rPPG module.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" y="6903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7C8"/>
                </a:solidFill>
              </a:rPr>
              <a:t>Germaine · Jason · Daray · Abner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Germaine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Planning phase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What Group 1 has designed before implementation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847088"/>
            <a:ext cx="4160520" cy="5120640"/>
          </a:xfrm>
          <a:prstGeom prst="roundRect">
            <a:avLst>
              <a:gd name="adj" fmla="val 1758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8992" y="22128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3F7FF"/>
                </a:solidFill>
              </a:rPr>
              <a:t>Purpose of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3F7FF"/>
                </a:solidFill>
              </a:rPr>
              <a:t>this deck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78992" y="32461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AB7C8"/>
                </a:solidFill>
              </a:rPr>
              <a:t>Explain the blueprint we created for Group 1: requirements, system architecture, backend rPPG pipeline, build order, validation plan, and team ownership.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5623560"/>
            <a:ext cx="2834640" cy="0"/>
          </a:xfrm>
          <a:prstGeom prst="line">
            <a:avLst/>
          </a:prstGeom>
          <a:noFill/>
          <a:ln w="30480">
            <a:solidFill>
              <a:srgbClr val="36E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59893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4AC7E8"/>
                </a:solidFill>
              </a:rPr>
              <a:t>Planning outcome: a credible system design the team can execute.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257800" y="1847088"/>
            <a:ext cx="8668512" cy="5120640"/>
          </a:xfrm>
          <a:prstGeom prst="roundRect">
            <a:avLst>
              <a:gd name="adj" fmla="val 1429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50992" y="2258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F7FF"/>
                </a:solidFill>
              </a:rPr>
              <a:t>What we have planned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705856" y="288950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05856" y="300087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29443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EE7A"/>
                </a:solidFill>
              </a:rPr>
              <a:t>Scope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02752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3F7FF"/>
                </a:solidFill>
              </a:rPr>
              <a:t>Group 1 owns face-scan biomarker extraction: HR, HRV, stress index, and JSON output.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05856" y="375818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05856" y="386955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4496" y="38130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EE7A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2752" y="37947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3F7FF"/>
                </a:solidFill>
              </a:rPr>
              <a:t>Browser capture → Cloudflare tunnel → FastAPI /scan → rPPG core → biomarker JSON.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05856" y="462686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05856" y="473823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54496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EE7A"/>
                </a:solidFill>
              </a:rPr>
              <a:t>Backend logic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02752" y="4663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3F7FF"/>
                </a:solidFill>
              </a:rPr>
              <a:t>FaceMesh landmarks, forehead/cheek ROI, RGB time series, POS algorithm, filter, FFT, HRV/stress.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05856" y="549554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05856" y="560691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55504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EE7A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02752" y="5532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3F7FF"/>
                </a:solidFill>
              </a:rPr>
              <a:t>SCAMPS/UBFC datasets, MAE/RMSE reporting, and baseline comparison against CHROM.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42432" y="6400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AC7E8"/>
                </a:solidFill>
              </a:rPr>
              <a:t>Today’s checkpoint: show the architecture and phased plan clearly enough that every group member can explain it.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Jason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Group 1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rPPG signal extraction: 30-second face video → biomarker JSON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901952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" y="2130552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854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Task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92808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Face detection + ROI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9280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AAB7C8"/>
                </a:solidFill>
              </a:rPr>
              <a:t>Track face landmarks and extract forehead/cheek regions.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5001768" y="1901952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30368" y="2130552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76088" y="21854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Task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44768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Heart-rate extraction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4476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AAB7C8"/>
                </a:solidFill>
              </a:rPr>
              <a:t>Mean RGB → POS algorithm → bandpass filter → FFT → BPM.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49808" y="3319272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78408" y="3547872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36027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Task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92808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HRV + stress index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92808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AAB7C8"/>
                </a:solidFill>
              </a:rPr>
              <a:t>Peak detection, inter-beat intervals, SDNN, LF/HF stress score.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5001768" y="3319272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0368" y="3547872"/>
            <a:ext cx="749808" cy="256032"/>
          </a:xfrm>
          <a:prstGeom prst="roundRect">
            <a:avLst>
              <a:gd name="adj" fmla="val 21429"/>
            </a:avLst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76088" y="36027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Task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44768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Accuracy evaluation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44768" y="3886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AAB7C8"/>
                </a:solidFill>
              </a:rPr>
              <a:t>SCAMPS / UBFC data, MAE/RMSE, and baseline comparison.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9464040" y="1901952"/>
            <a:ext cx="4315968" cy="3319272"/>
          </a:xfrm>
          <a:prstGeom prst="roundRect">
            <a:avLst>
              <a:gd name="adj" fmla="val 2204"/>
            </a:avLst>
          </a:prstGeom>
          <a:solidFill>
            <a:srgbClr val="0D2236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02368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EE7A"/>
                </a:solidFill>
              </a:rPr>
              <a:t>Shared JSON output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02368" y="2606040"/>
            <a:ext cx="35204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"biomarkers": {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"heart_rate": 72,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"hrv_sdnn": 45,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"stress_index": 0.6,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"blood_pressure": {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"systolic": 138,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"diastolic": 88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BAF7C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9802368" y="4572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4AC7E8"/>
          </a:solidFill>
          <a:ln w="12700">
            <a:solidFill>
              <a:srgbClr val="4A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48088" y="46268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11F"/>
                </a:solidFill>
              </a:rPr>
              <a:t>REST API: POST /scan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" y="5715000"/>
            <a:ext cx="1280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7FF"/>
                </a:solidFill>
              </a:rPr>
              <a:t>Planning boundary: our core responsibility is the backend signal chain; the UI makes the output visible and testable.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Germaine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System architecture blueprint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End-to-end request path: browser capture → backend rPPG pipeline → biomarker JSON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User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webcam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upload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34056" y="2331720"/>
            <a:ext cx="146304" cy="0"/>
          </a:xfrm>
          <a:prstGeom prst="line">
            <a:avLst/>
          </a:prstGeom>
          <a:noFill/>
          <a:ln w="27940">
            <a:solidFill>
              <a:srgbClr val="4A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53512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React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81528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recording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01768" y="2331720"/>
            <a:ext cx="146304" cy="0"/>
          </a:xfrm>
          <a:prstGeom prst="line">
            <a:avLst/>
          </a:prstGeom>
          <a:noFill/>
          <a:ln w="27940">
            <a:solidFill>
              <a:srgbClr val="4A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21224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30952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Cloudflare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TLS + tunnel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no open 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69480" y="2331720"/>
            <a:ext cx="146304" cy="0"/>
          </a:xfrm>
          <a:prstGeom prst="line">
            <a:avLst/>
          </a:prstGeom>
          <a:noFill/>
          <a:ln w="27940">
            <a:solidFill>
              <a:srgbClr val="4A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88936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98664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FastAPI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16952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/scan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video input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37192" y="2331720"/>
            <a:ext cx="146304" cy="0"/>
          </a:xfrm>
          <a:prstGeom prst="line">
            <a:avLst/>
          </a:prstGeom>
          <a:noFill/>
          <a:ln w="27940">
            <a:solidFill>
              <a:srgbClr val="4A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756648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24C45"/>
          </a:solidFill>
          <a:ln w="12700">
            <a:solidFill>
              <a:srgbClr val="36E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66376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EE7A"/>
                </a:solidFill>
              </a:rPr>
              <a:t>rPPG 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84664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FaceMesh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POS + FFT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804904" y="2331720"/>
            <a:ext cx="146304" cy="0"/>
          </a:xfrm>
          <a:prstGeom prst="line">
            <a:avLst/>
          </a:prstGeom>
          <a:noFill/>
          <a:ln w="27940">
            <a:solidFill>
              <a:srgbClr val="4A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024360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34088" y="203911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152376" y="2350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biomarkers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B7C8"/>
                </a:solidFill>
              </a:rPr>
              <a:t>contract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" y="3383280"/>
            <a:ext cx="8641080" cy="1965960"/>
          </a:xfrm>
          <a:prstGeom prst="roundRect">
            <a:avLst>
              <a:gd name="adj" fmla="val 3721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584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EE7A"/>
                </a:solidFill>
              </a:rPr>
              <a:t>Backend AI processing core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406908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0"/>
          </a:solidFill>
          <a:ln w="12700">
            <a:solidFill>
              <a:srgbClr val="27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224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FaceMesh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468 landmarks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267712" y="4434840"/>
            <a:ext cx="256032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06040" y="406908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0"/>
          </a:solidFill>
          <a:ln w="12700">
            <a:solidFill>
              <a:srgbClr val="27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97480" y="4224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ROI extract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forehead + cheeks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3867912" y="4434840"/>
            <a:ext cx="256032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06240" y="406908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0"/>
          </a:solidFill>
          <a:ln w="12700">
            <a:solidFill>
              <a:srgbClr val="27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97680" y="4224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Mean RGB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time series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468112" y="4434840"/>
            <a:ext cx="256032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06440" y="406908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0"/>
          </a:solidFill>
          <a:ln w="12700">
            <a:solidFill>
              <a:srgbClr val="27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97880" y="4224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POS + filter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0.7–4.0 Hz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7068312" y="4434840"/>
            <a:ext cx="256032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06640" y="406908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0"/>
          </a:solidFill>
          <a:ln w="12700">
            <a:solidFill>
              <a:srgbClr val="27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4224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FFT + peaks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F7FF"/>
                </a:solidFill>
              </a:rPr>
              <a:t>BPM / HRV / stress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9784080" y="3383280"/>
            <a:ext cx="3950208" cy="1965960"/>
          </a:xfrm>
          <a:prstGeom prst="roundRect">
            <a:avLst>
              <a:gd name="adj" fmla="val 3721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76688" y="3639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C7E8"/>
                </a:solidFill>
              </a:rPr>
              <a:t>Project structure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76688" y="40050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EE7A"/>
                </a:solidFill>
              </a:rPr>
              <a:t>frontend/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064240" y="40050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7C8"/>
                </a:solidFill>
              </a:rPr>
              <a:t>React UI + browser capture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076688" y="424281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EE7A"/>
                </a:solidFill>
              </a:rPr>
              <a:t>backend/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064240" y="424281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7C8"/>
                </a:solidFill>
              </a:rPr>
              <a:t>FastAPI /scan + rppg/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076688" y="44805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EE7A"/>
                </a:solidFill>
              </a:rPr>
              <a:t>data/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064240" y="448056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7C8"/>
                </a:solidFill>
              </a:rPr>
              <a:t>SCAMPS + UBFC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076688" y="47183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EE7A"/>
                </a:solidFill>
              </a:rPr>
              <a:t>docs/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064240" y="471830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7C8"/>
                </a:solidFill>
              </a:rPr>
              <a:t>writeup + evaluation report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076688" y="495604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EE7A"/>
                </a:solidFill>
              </a:rPr>
              <a:t>deploy/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064240" y="495604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AB7C8"/>
                </a:solidFill>
              </a:rPr>
              <a:t>Docker + tunnel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9808" y="5641848"/>
            <a:ext cx="12984480" cy="868680"/>
          </a:xfrm>
          <a:prstGeom prst="roundRect">
            <a:avLst>
              <a:gd name="adj" fmla="val 8421"/>
            </a:avLst>
          </a:prstGeom>
          <a:solidFill>
            <a:srgbClr val="071C2C"/>
          </a:solidFill>
          <a:ln w="12700">
            <a:solidFill>
              <a:srgbClr val="244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87552" y="5925312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Evaluation lane: SCAMPS + UBFC datasets → offline scripts → MAE / RMSE CSVs → evaluation_results.md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60120" y="6720840"/>
            <a:ext cx="1271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C7E8"/>
                </a:solidFill>
              </a:rPr>
              <a:t>Takeaway: the frontend presents results, but the architecture is built around backend signal extraction, validation, and a reusable API.</a:t>
            </a:r>
            <a:endParaRPr lang="en-US" sz="13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Daray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rPPG signal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Algorithm blueprint: facial video → heart rate, HRV, and stress index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8408" y="2212848"/>
            <a:ext cx="475488" cy="475488"/>
          </a:xfrm>
          <a:prstGeom prst="ellipse">
            <a:avLst/>
          </a:prstGeom>
          <a:solidFill>
            <a:srgbClr val="4AC7E8"/>
          </a:solidFill>
          <a:ln w="12700">
            <a:solidFill>
              <a:srgbClr val="4A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8408" y="2350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8488" y="2267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Detect face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MediaPipe FaceMesh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468 landmarks per frame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skip no-face frames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3566160"/>
            <a:ext cx="265176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87952" y="196596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16552" y="2212848"/>
            <a:ext cx="475488" cy="475488"/>
          </a:xfrm>
          <a:prstGeom prst="ellipse">
            <a:avLst/>
          </a:prstGeom>
          <a:solidFill>
            <a:srgbClr val="4AC7E8"/>
          </a:solidFill>
          <a:ln w="12700">
            <a:solidFill>
              <a:srgbClr val="4A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16552" y="2350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56632" y="2267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Pick ROIs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07992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Forehead + cheeks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stronger capillary signal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less motion artifact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78624" y="3566160"/>
            <a:ext cx="265176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26096" y="196596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0B1C2D"/>
          </a:solidFill>
          <a:ln w="12700">
            <a:solidFill>
              <a:srgbClr val="36E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54696" y="2212848"/>
            <a:ext cx="475488" cy="47548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54696" y="2350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94776" y="2267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Clean signal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46136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Mean RGB time series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POS projection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Butterworth 0.7–4 Hz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16768" y="3566160"/>
            <a:ext cx="265176" cy="0"/>
          </a:xfrm>
          <a:prstGeom prst="line">
            <a:avLst/>
          </a:prstGeom>
          <a:noFill/>
          <a:ln w="27940">
            <a:solidFill>
              <a:srgbClr val="36EE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064240" y="196596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292840" y="2212848"/>
            <a:ext cx="475488" cy="475488"/>
          </a:xfrm>
          <a:prstGeom prst="ellipse">
            <a:avLst/>
          </a:prstGeom>
          <a:solidFill>
            <a:srgbClr val="4AC7E8"/>
          </a:solidFill>
          <a:ln w="12700">
            <a:solidFill>
              <a:srgbClr val="4A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292840" y="2350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932920" y="22677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7FF"/>
                </a:solidFill>
              </a:rPr>
              <a:t>Estimate biomarkers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8428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FFT peak → BPM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IBI → HRV SDNN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LF/HF → stress index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" y="5715000"/>
            <a:ext cx="12481560" cy="749808"/>
          </a:xfrm>
          <a:prstGeom prst="roundRect">
            <a:avLst>
              <a:gd name="adj" fmla="val 9756"/>
            </a:avLst>
          </a:prstGeom>
          <a:solidFill>
            <a:srgbClr val="071C2C"/>
          </a:solidFill>
          <a:ln w="12700">
            <a:solidFill>
              <a:srgbClr val="244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34440" y="5989320"/>
            <a:ext cx="1207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F"/>
                </a:solidFill>
              </a:rPr>
              <a:t>Shared output: { heart_rate, hrv_sdnn, stress_index, blood_pressure } — returned by /scan and consumed by the VitalScan system.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Germaine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Build phases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How we move from project brief to a working Group 1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773936"/>
            <a:ext cx="12893040" cy="786384"/>
          </a:xfrm>
          <a:prstGeom prst="roundRect">
            <a:avLst>
              <a:gd name="adj" fmla="val 9302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5568" y="197510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15568" y="208647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6EE7A"/>
                </a:solidFill>
              </a:rPr>
              <a:t>Phase 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017520" y="1938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F7FF"/>
                </a:solidFill>
              </a:rPr>
              <a:t>UI shell + mock biomarkers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89320" y="199339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AB7C8"/>
                </a:solidFill>
              </a:rPr>
              <a:t>Build dashboard, body figure, and cards using the shared JSON schema.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779776"/>
            <a:ext cx="12893040" cy="786384"/>
          </a:xfrm>
          <a:prstGeom prst="roundRect">
            <a:avLst>
              <a:gd name="adj" fmla="val 9302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98094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5568" y="309231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6EE7A"/>
                </a:solidFill>
              </a:rPr>
              <a:t>Phase 2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017520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F7FF"/>
                </a:solidFill>
              </a:rPr>
              <a:t>Backend API skeleton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89320" y="299923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AB7C8"/>
                </a:solidFill>
              </a:rPr>
              <a:t>Create FastAPI /scan endpoint that accepts video and returns contract-shaped JSON.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785616"/>
            <a:ext cx="12893040" cy="786384"/>
          </a:xfrm>
          <a:prstGeom prst="roundRect">
            <a:avLst>
              <a:gd name="adj" fmla="val 9302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5568" y="398678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5568" y="409815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986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6EE7A"/>
                </a:solidFill>
              </a:rPr>
              <a:t>Phase 3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017520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F7FF"/>
                </a:solidFill>
              </a:rPr>
              <a:t>rPPG signal chain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AB7C8"/>
                </a:solidFill>
              </a:rPr>
              <a:t>Add FaceMesh, ROI extraction, RGB time series, POS, filter, FFT, HRV/stress.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91456"/>
            <a:ext cx="12893040" cy="786384"/>
          </a:xfrm>
          <a:prstGeom prst="roundRect">
            <a:avLst>
              <a:gd name="adj" fmla="val 9302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15568" y="499262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15568" y="510399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9926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6EE7A"/>
                </a:solidFill>
              </a:rPr>
              <a:t>Phase 4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017520" y="4956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F7FF"/>
                </a:solidFill>
              </a:rPr>
              <a:t>Data + evaluation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89320" y="501091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AB7C8"/>
                </a:solidFill>
              </a:rPr>
              <a:t>Run SCAMPS/UBFC videos and report MAE/RMSE against ground truth.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5797296"/>
            <a:ext cx="12893040" cy="786384"/>
          </a:xfrm>
          <a:prstGeom prst="roundRect">
            <a:avLst>
              <a:gd name="adj" fmla="val 9302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5568" y="5998464"/>
            <a:ext cx="384048" cy="384048"/>
          </a:xfrm>
          <a:prstGeom prst="ellipse">
            <a:avLst/>
          </a:prstGeom>
          <a:solidFill>
            <a:srgbClr val="36EE7A"/>
          </a:solidFill>
          <a:ln w="12700">
            <a:solidFill>
              <a:srgbClr val="36EE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5568" y="6109838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11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91640" y="59984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6EE7A"/>
                </a:solidFill>
              </a:rPr>
              <a:t>Phase 5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3017520" y="5961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3F7FF"/>
                </a:solidFill>
              </a:rPr>
              <a:t>Deployment + demo proof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989320" y="601675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AB7C8"/>
                </a:solidFill>
              </a:rPr>
              <a:t>Containerize, host behind Cloudflare Tunnel, and collect screenshots for presentation.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" y="7086600"/>
            <a:ext cx="1261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C7E8"/>
                </a:solidFill>
              </a:rPr>
              <a:t>Design principle: each phase validates one boundary before the next phase depends on it.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Germaine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Data and validation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How we prove the rPPG pipeline works, not just that the UI looks good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Input datasets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6060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UBFC-rPPG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Real subjects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Webcam + pulse-ox truth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Primary benchmark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3401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SCAMPS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• Synthetic avatar videos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• Simulated PPG truth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• Secondary 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8745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57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Evaluation metrics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MAE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9320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Mean absolute error in BPM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3310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7FF"/>
                </a:solidFill>
              </a:rPr>
              <a:t>RMSE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33649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Penalizes larger misses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38587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4AC7E8"/>
                </a:solidFill>
              </a:rPr>
              <a:t>Baseline: POS vs. CHROM / published baseline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17152" y="1874520"/>
            <a:ext cx="4526280" cy="2377440"/>
          </a:xfrm>
          <a:prstGeom prst="roundRect">
            <a:avLst>
              <a:gd name="adj" fmla="val 307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91472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Report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91472" y="26517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CSV 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per-video predictions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ground truth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7FF"/>
                </a:solidFill>
              </a:rPr>
              <a:t>• error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91472" y="3429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Markdown report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• table + explanation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8"/>
                </a:solidFill>
              </a:rPr>
              <a:t>• limitations + next steps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4892040"/>
            <a:ext cx="12527280" cy="1143000"/>
          </a:xfrm>
          <a:prstGeom prst="roundRect">
            <a:avLst>
              <a:gd name="adj" fmla="val 6400"/>
            </a:avLst>
          </a:prstGeom>
          <a:solidFill>
            <a:srgbClr val="071C2C"/>
          </a:solidFill>
          <a:ln w="12700">
            <a:solidFill>
              <a:srgbClr val="244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4440" y="5184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EE7A"/>
                </a:solidFill>
              </a:rPr>
              <a:t>Validation path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519379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3F7FF"/>
                </a:solidFill>
              </a:rPr>
              <a:t>dataset video → /scan pipeline → predicted BPM → compare with ground truth → MAE / RMSE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63550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C7E8"/>
                </a:solidFill>
              </a:rPr>
              <a:t>Rubric target: MAE &lt; 10 BPM with accuracy evaluation and baseline comparison.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presented by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Germaine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7FF"/>
                </a:solidFill>
              </a:rPr>
              <a:t>Team plan and execution owners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35331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7C8"/>
                </a:solidFill>
              </a:rPr>
              <a:t>Who explains what and what needs to be completed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5989320" cy="1024128"/>
          </a:xfrm>
          <a:prstGeom prst="roundRect">
            <a:avLst>
              <a:gd name="adj" fmla="val 7143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Germaine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12848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Architecture +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12848" y="23591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Full-stack flow, /scan backend, Cloudflare, Docker, live demo path.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42048" y="1828800"/>
            <a:ext cx="5989320" cy="1024128"/>
          </a:xfrm>
          <a:prstGeom prst="roundRect">
            <a:avLst>
              <a:gd name="adj" fmla="val 7143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16368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Jason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05088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Datasets + brief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05088" y="23591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UBFC/SCAMPS and how datasets map to the assignment.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154680"/>
            <a:ext cx="5989320" cy="1024128"/>
          </a:xfrm>
          <a:prstGeom prst="roundRect">
            <a:avLst>
              <a:gd name="adj" fmla="val 7143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Daray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12848" y="3337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rPPG pipeline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12848" y="36850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FaceMesh, ROI, POS, bandpass filter, FFT, HRV/stress.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42048" y="3154680"/>
            <a:ext cx="5989320" cy="1024128"/>
          </a:xfrm>
          <a:prstGeom prst="roundRect">
            <a:avLst>
              <a:gd name="adj" fmla="val 7143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16368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E7A"/>
                </a:solidFill>
              </a:rPr>
              <a:t>Abner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05088" y="3337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7FF"/>
                </a:solidFill>
              </a:rPr>
              <a:t>Evaluation + progress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05088" y="36850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7C8"/>
                </a:solidFill>
              </a:rPr>
              <a:t>MAE/RMSE report, rubric alignment, open items.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4800600"/>
            <a:ext cx="12527280" cy="1234440"/>
          </a:xfrm>
          <a:prstGeom prst="roundRect">
            <a:avLst>
              <a:gd name="adj" fmla="val 5926"/>
            </a:avLst>
          </a:prstGeom>
          <a:solidFill>
            <a:srgbClr val="071C2C"/>
          </a:solidFill>
          <a:ln w="12700">
            <a:solidFill>
              <a:srgbClr val="244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4440" y="5074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C7E8"/>
                </a:solidFill>
              </a:rPr>
              <a:t>Immediate next steps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50932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3F7FF"/>
                </a:solidFill>
              </a:rPr>
              <a:t>Confirm the API contract, finish the phased build plan, validate dataset access, and keep the final presentation separate from this planning checkpoint.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34440" y="5559552"/>
            <a:ext cx="1170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AB7C8"/>
                </a:solidFill>
              </a:rPr>
              <a:t>Risk control: flag blood pressure as placeholder, treat bad lighting/head motion as algorithm risks, and keep deep learning as stretch only.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585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8191A5"/>
                </a:solidFill>
              </a:rPr>
              <a:t>VitalScan · AIT 500 · Group 1 · Planning Phase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13487400" y="566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Group 1</a:t>
            </a:r>
            <a:endParaRPr lang="en-US" sz="700" dirty="0"/>
          </a:p>
          <a:p>
            <a:pPr marL="0" indent="0" algn="r">
              <a:buNone/>
            </a:pPr>
            <a:r>
              <a:rPr lang="en-US" sz="700" b="1" dirty="0">
                <a:solidFill>
                  <a:srgbClr val="36EE7A"/>
                </a:solidFill>
              </a:rPr>
              <a:t>Planning Phase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" y="10972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7FF"/>
                </a:solidFill>
              </a:rPr>
              <a:t>VitalScan blueprint recap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AB7C8"/>
                </a:solidFill>
              </a:rPr>
              <a:t>Group 1 is planning an end-to-end rPPG module: browser capture, secure routing, FastAPI backend, signal processing, biomarker JSON, and accuracy validation.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EE7A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Clear component and data flow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EE7A"/>
                </a:solidFill>
              </a:rPr>
              <a:t>Algorithm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Face → ROI → POS → BPM / HRV / stress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29718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1812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EE7A"/>
                </a:solidFill>
              </a:rPr>
              <a:t>Phases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Mock contract → backend → rPPG → 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27080" y="29718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0B1C2D"/>
          </a:solidFill>
          <a:ln w="12700">
            <a:solidFill>
              <a:srgbClr val="2D6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5568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EE7A"/>
                </a:solidFill>
              </a:rPr>
              <a:t>Team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F"/>
                </a:solidFill>
              </a:rPr>
              <a:t>Build and Deploy Demo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5669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3F7FF"/>
                </a:solidFill>
              </a:rPr>
              <a:t>Questions?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49808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36EE7A"/>
                </a:solidFill>
              </a:rPr>
              <a:t>vitalscan.bkre8tive.com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79369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2BEA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1261</Words>
  <Application>Microsoft Macintosh PowerPoint</Application>
  <PresentationFormat>Custom</PresentationFormat>
  <Paragraphs>259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Westcliff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VitalScan Group 1 Planning &amp; Architecture Blueprint</dc:title>
  <dc:subject>VitalScan Group 1 Planning Phase</dc:subject>
  <dc:creator>Germaine Beazer</dc:creator>
  <cp:lastModifiedBy>Germaine beazer</cp:lastModifiedBy>
  <cp:revision>3</cp:revision>
  <dcterms:created xsi:type="dcterms:W3CDTF">2026-05-17T22:37:37Z</dcterms:created>
  <dcterms:modified xsi:type="dcterms:W3CDTF">2026-05-20T00:35:21Z</dcterms:modified>
</cp:coreProperties>
</file>