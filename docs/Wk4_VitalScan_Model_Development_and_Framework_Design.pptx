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for the Week 4 submission. Three deliverables on the right correspond directly to the assignment brief: (1) model architecture, (2) chosen algorithms with rationale, (3) data flow diagrams. Supplementary reading is Bawack et al. 2021. Submission for AIT 500 / CLO 2 / CLO 3 / CLO 4. Live deployment at vitalscan.bkre8tive.com.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assignment brief is reproduced verbatim on the left. The right column ties our work to the Bawack et al. (2021) framework — they propose a typology of AI research along several dimensions, and VitalScan maps cleanly to each: we are doing computer-vision-based signal extraction (capability), using a hybrid CNN + classical signal-processing method (method family), applied to health biomarkers (domain), with video as the data type, supervised held-out evaluation, and a live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and objective statement. The input is a 30-second facial video; the output is a biomarker JSON object with four physiological biomarkers, each annotated with a confidence score the downstream consumer can use to weight risk. The lower half explains why this qualifies as an AI problem under CLO 2: perception under heavy noise, pattern recognition through learned and classical methods, generalization to unseen subjects, and quantitative continuous output rather than categorical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1 — model architecture. The model is a HYBRID of one pretrained deep CNN (MediaPipe FaceMesh) followed by six classical signal-processing stages. The CNN stage demonstrates we are using a learned model — it is exactly the kind of multi-layer feature-learning network shown in the cat-classification example from the 2026-05-27 class lecture. The classical stages are explicit, mathematically defined transforms with documented inputs and outputs (defended in our Week 3 research deliverable). Confidence scoring (added 2026-05-25 per professor feedback) ensures every output carries a reliability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2 — chosen algorithms with rationale. Each row is one pipeline stage: the algorithm selected, the alternatives we considered, and why this one. This table satisfies the assignment's "defining algorithms" requirement. Full reasoning for each row is documented in the Week 3 research deliverable (docs/Week3_Research_AI_Method_Selection.md), which surveys five classical rPPG algorithms and five deep-learning rPPG architectures before justifying POS + MediaPipe as the chosen primary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3 — data flow diagram. Vertical flow shows the exact tensor shape at each stage, what transform produces it, and the implementation detail. Color bands group the stages: ingest + preprocessing in blue, pulse extraction in green, biomarker derivation in amber, packaged output in red. This is the diagram the assignment explicitly asks for — "data flow diagrams illustrating how your model will function."</a:t>
            </a:r>
          </a:p>
          <a:p/>
          <a:p>
            <a:r>
              <a:t>Key numbers a reviewer can verify: 30 fps × 30 s = 900 frames; MediaPipe outputs 468 landmarks each with (x, y, z); after ROI masking + averaging we collapse to a single (R, G, B) per frame; the entire heavy lifting reduces a 5+ GB raw video down to four scalar biomarkers.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requirements split into two halves. Left — what the model needs to run inference on a new video: file format, codec, duration, frame rate, resolution, color, subject conditions, and the 100 MB upload cap. Right — what the ground-truth dataset must contain so we can evaluate model accuracy: the paired video, the PPG waveform, per-frame heart-rate labels, timestamps, and subject identifiers for the train/test split. Both UBFC-rPPG and SCAMPS are already secured and integrated into the evaluation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 scoring is the model-development update added 2026-05-25 per professor feedback. Each scalar biomarker has a confidence formula derived from signal-quality metrics already computed by the pipeline — no extra model required. Heart-rate confidence is the FFT peak prominence ratio; HRV/stress confidence is beat count modulated by IBI plausibility; BP carries a fixed low confidence with an explanatory note because classical rPPG cannot derive BP. The contract change lets Group 3 weight risk assessments correctly: a high-confidence elevated heart rate should drive the recommendation more strongly than a low-confidence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strategy and current measured results. Because the classical pipeline has no learned parameters, there is no training step and the entire 42-subject UBFC dataset functions as the held-out test set. Primary metric is MAE in BPM; secondary is RMSE for outlier sensitivity. Numbers in the bottom table are real measurements from docs/evaluation_results.md.</a:t>
            </a:r>
          </a:p>
          <a:p/>
          <a:p>
            <a:r>
              <a:t>POS reaches 4.06 BPM MAE on UBFC, clearing the rubric's &lt;10 BPM target by a factor of 2.5. CHROM at 3.86 is statistically tied. On synthetic SCAMPS data the gap widens — POS at 28.85 BPM clearly outperforms CHROM at 34.83 — but synthetic data is a stress test, not the primary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planned model extensions and references. Four levels of extension scoped on the left, from a 1-day sklearn regressor (which directly answers the train/test/eval question) through a 1-week PhysNet / TS-CAN deep-learning model. Bias evaluation is called out separately because the professor flagged demographic performance as a concern on 2026-05-27.</a:t>
            </a:r>
          </a:p>
          <a:p/>
          <a:p>
            <a:r>
              <a:t>Right column is the reference list. Bawack et al. is the assignment's supplementary reading; the remaining references are the literature underpinning each algorithm choice in the model. Full method-selection rationale lives in our Week 3 deliverable, which functions as the supporting document to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AIT 500 · WESTCLIFF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M.S.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VitalScan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Model Development &amp;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Framework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GROUP 1 · rPPG SIGNAL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WEEK 4 · CLO 2 · CLO 3 · CLO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vitalscan.bkre8tive.com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7772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67A"/>
                </a:solidFill>
                <a:latin typeface="Calibri"/>
              </a:rPr>
              <a:t>WEEK 4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1887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Project: Model Development</a:t>
            </a:r>
          </a:p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and Framework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42316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5328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Deliverable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834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Model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29184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4015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Deliverable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703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Chosen algorithms with rationale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416052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4270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Deliverable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572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Data flow diagrams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502920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51389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5440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Bawack et al. (2021) AI research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989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A"/>
                </a:solidFill>
                <a:latin typeface="Calibri"/>
              </a:rPr>
              <a:t>Germaine Beazer · Jason · Daray · Abner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Assignment context &amp; framework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Wk 4 — Project: Model Development and Framework Design · CLO 2 / 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ASSIGNMENT — verbatim from Moodle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"Begin designing your AI model or framework.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This involves outlining the architecture, defining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algorithms, and determining the data requirements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 your model.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Deliverable: A design document that includes the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model architecture, chosen algorithms, and data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flow diagrams illustrating how your model will function."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67A"/>
                </a:solidFill>
                <a:latin typeface="Calibri"/>
              </a:rPr>
              <a:t>CLOs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692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CLO 2 — AI fundamentals: types, methods, and limits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CLO 3 — Algorithm selection with rationale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CLO 4 — Applied AI: design +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FRAMEWORK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44"/>
                </a:solidFill>
                <a:latin typeface="Calibri"/>
              </a:rPr>
              <a:t>Bawack et al. (2021)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"A framework for understanding artificial intelligence</a:t>
            </a:r>
          </a:p>
          <a:p>
            <a:pPr algn="l"/>
            <a:r>
              <a:rPr sz="1100" b="0">
                <a:solidFill>
                  <a:srgbClr val="33445C"/>
                </a:solidFill>
                <a:latin typeface="Calibri"/>
              </a:rPr>
              <a:t>research: insights from practice"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J. Enterprise Information Management, 3(2), 645–678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VITALSCAN, MAPPED TO THE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AI capability — computer vision + signal extraction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Method family — hybrid: pretrained CNN + classical SP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Application domain — health / contactless biomarkers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Data type — short facial video (RGB image sequence)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Validation — supervised held-out on labeled data (UBFC)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Deployment — production REST API, live containerized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What the AI model is designed to do,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67A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F44"/>
                </a:solidFill>
                <a:latin typeface="Calibri"/>
              </a:rPr>
              <a:t>30-second facial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Standard webcam or phone camera · 30 fps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No special hardware · no contact sensor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Cooperative subject, mostly frontal, well-lit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E9F5EC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4F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F44"/>
                </a:solidFill>
                <a:latin typeface="Calibri"/>
              </a:rPr>
              <a:t>Biomarker JSON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Heart rate (BPM) · HRV SDNN (ms) · stress (0–1)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Blood pressure placeholder (flagged with low confidence)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Each biomarker carries {value, confidence, unit}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Calibri"/>
              </a:rPr>
              <a:t>WHY THIS PROBLEM IS AN AI PROBLEM (CLO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11247120" cy="16916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Perception under noise — pulse signal is 0.1–1 % of reflected light, dominated by lighting and motion artifacts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Pattern recognition — a learned CNN identifies and tracks the face; classical projection isolates the periodic pulse signature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Generalization required — the model must work on unseen subjects across skin tone, lighting, and camera variation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Quantitative output — model produces a continuous heart-rate value with a confidence estimate, not a categorical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The AI model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Deliverable 1: hybrid model with pretrained CNN frontend + classical signal-processing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44"/>
                </a:solidFill>
                <a:latin typeface="Calibri"/>
              </a:rPr>
              <a:t>Architectural choice —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1 — Pretrained deep CNN (MediaPipe FaceMesh, Google)
      Trained on millions of faces; emits 468 landmarks / frame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2 — ROI extraction (polygon mask over forehead + cheeks)
      Compute mean RGB inside each region per frame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3 — POS algorithm (Wang et al. 2017)
      Linear projection isolates pulse from lighting / motion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4 — Butterworth bandpass (0.7–4 Hz, order 3)
      Zero-phase filter keeps only the heart-rate band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5 — FFT + peak in 60–210 BPM band
      Dominant frequency → heart rate (BPM)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6 — Peak detection + IBI → SDNN + LF/HF
      Same waveform yields HRV and stress index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Stage 7 — Confidence scoring per biomarker
      Output: {value, confidence, unit} for each biomarker</a:t>
            </a:r>
          </a:p>
        </p:txBody>
      </p:sp>
      <p:pic>
        <p:nvPicPr>
          <p:cNvPr id="9" name="Picture 8" descr="figure1-signal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2100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A"/>
                </a:solidFill>
                <a:latin typeface="Calibri"/>
              </a:rPr>
              <a:t>Figure 1 — Signal chain (rPPG pipeline)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Chosen algorithms with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Deliverable 2: each stage names the algorithm, its alternatives, and the selection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286000" cy="41148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17320"/>
            <a:ext cx="2468880" cy="41148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90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Chosen algorithm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417320"/>
            <a:ext cx="3200400" cy="41148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490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Alternatives considered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417320"/>
            <a:ext cx="3200400" cy="41148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90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Face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8288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9019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MediaPipe FaceMesh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828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9019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Haar, dlib HOG, MTCNN, RetinaFace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828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019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468 dense landmarks; CPU-realtime; pretrained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31720"/>
            <a:ext cx="22860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048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ROI 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331720"/>
            <a:ext cx="246888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404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Forehead + cheek polygons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33172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4048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Bounding box, full face, lower 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33172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4048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Highest capillary density; lowest motion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346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077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Pulse extraction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8346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2907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 (Wang 2017)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8346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907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GREEN, ICA, CHROM, PBV, deep-learning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8346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907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Strongest classical; interpretable waveform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37560"/>
            <a:ext cx="22860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4107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Bandpass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337560"/>
            <a:ext cx="246888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34107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Butterworth, order 3, filtfilt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333756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34107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Moving average, FIR, Chebyshev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33756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34107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Zero-phase, sharp roll-off, scipy-tested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84048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9136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HR estimation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8404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39136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FFT + peak in 60–210 BPM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38404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39136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Wavelets, autocorrelation, time-domain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8404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9136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Robust on 30-s clips; standard in field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343400"/>
            <a:ext cx="22860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165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HRV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343400"/>
            <a:ext cx="246888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4416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SDNN (time domain)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434340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44165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RMSSD, pNN50, triangular index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34340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44165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Most widely reported clinical metric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919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Stress index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48463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49194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LF/HF ratio → sigmoid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12080" y="48463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49194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Baevsky index, SDNN threshold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0" y="48463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49194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Frequency-domain ANS standard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4223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Confidence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0" y="5349240"/>
            <a:ext cx="246888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34640" y="54223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Peak prominence + beat count + IBI CV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534924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0" y="54223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Bayesian uncertainty, ensemble variance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5349240"/>
            <a:ext cx="3200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20" y="54223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Math-based, no second model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Data flow diagram — model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Deliverable 3: tensor-level data flow with shapes annotated at each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361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onsolas"/>
              </a:rPr>
              <a:t>(900 frames, 1080, 1920,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56362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uint8 RGB · 30 s @ 30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MediaPipe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30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onsolas"/>
              </a:rPr>
              <a:t>(900, 468, 3)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579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pretrained face-mesh landmarks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ROI polygon mask + mean RGB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249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onsolas"/>
              </a:rPr>
              <a:t>(900, 3)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7523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mean RGB averaged over forehead + cheeks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9F5EC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192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POS algorithm (1.6 s window)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192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4F"/>
                </a:solidFill>
                <a:latin typeface="Consolas"/>
              </a:rPr>
              <a:t>(900,)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3467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linear projection isolates pulse signal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9F5EC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136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Butterworth bandpass 0.7–4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913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4F"/>
                </a:solidFill>
                <a:latin typeface="Consolas"/>
              </a:rPr>
              <a:t>(900,)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9410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scipy.signal.filtfilt · zero-phase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5875">
            <a:solidFill>
              <a:srgbClr val="C07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FFT + peak (60–210 BPM)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507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31D"/>
                </a:solidFill>
                <a:latin typeface="Consolas"/>
              </a:rPr>
              <a:t>scalar BPM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53542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+ confidence from peak-to-mean ratio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8348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5875">
            <a:solidFill>
              <a:srgbClr val="C07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02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Peak detect → IBIs → SDNN, Welch LF/HF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02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31D"/>
                </a:solidFill>
                <a:latin typeface="Consolas"/>
              </a:rPr>
              <a:t>scalar ms · scalar [0,1]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297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+ confidence from beat-count + IBI plausibility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FA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96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F44"/>
                </a:solidFill>
                <a:latin typeface="Calibri"/>
              </a:rPr>
              <a:t>Biomarker JSON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696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onsolas"/>
              </a:rPr>
              <a:t>{value, confidence, unit} ×4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724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45C"/>
                </a:solidFill>
                <a:latin typeface="Calibri"/>
              </a:rPr>
              <a:t>shared output to Groups 3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A"/>
                </a:solidFill>
                <a:latin typeface="Calibri"/>
              </a:rPr>
              <a:t>Blue = ingest/preprocessing  ·  Green = pulse extraction  ·  Amber = biomarker derivation  ·  Red = packaged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Data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What the model needs at inference time, and what the ground-truth data must contain to evaluate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INFERENCE INPUT (per scan)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28800"/>
            <a:ext cx="36576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9019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Specification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Format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9456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2677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.mp4 / .webm / .mov / .avi / .mkv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334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Codec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56032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3347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H.264, VP8/9 (extension-permissive)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9923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92608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9992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30 s preferred (min 5 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364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Frame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9184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36499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30 fps (works 24–60)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307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65760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37307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≥360p; face must be detectable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965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Color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02336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0965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RGB (3 channels)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622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Subject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38912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46227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 cooperative face, mostly frontal, 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2803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Max upload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75488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100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884F"/>
                </a:solidFill>
                <a:latin typeface="Calibri"/>
              </a:rPr>
              <a:t>GROUND-TRUTH DATA (per evaluation subject)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828800"/>
            <a:ext cx="18288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9019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19019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Format / range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19456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267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Video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219456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22677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Same as inference 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256032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26334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PPG waveform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256032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0" y="263347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Sampled trace from finger pulse-oximeter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92608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299923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Per-frame HR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292608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29992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BPM, sample-synchronized with video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29184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3364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Timestamps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329184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0" y="336499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Seconds, scientific notation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65760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37307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Subject 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365760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37307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Integer (used for train/test split)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402336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40965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Lighting note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0" y="402336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60" y="40965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Recorded environment metadata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44622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UBFC schema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438912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60" y="446227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video.avi + ground_truth.txt (3 rows)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4754880"/>
            <a:ext cx="18288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482803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SCAMPS schema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6720" y="4754880"/>
            <a:ext cx="36576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3816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Simulated PPG (synthetic baseline)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DATASETS — already secured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UBFC-rPPG — 42 real human subjects · primary benchmark (Univ. de Bourgogne, via Google Drive)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SCAMPS — 10 synthetic avatar videos · secondary baseline (Microsoft Research, public subset)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Confidence scoring per biomarker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Model-development update — every output carries a {value, confidence, unit} object so downstream consumers can weight by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Heart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Confidence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conf = clip((peak/mean - 1.5) / 4, 0,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What it captures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Ratio of FFT-band peak magnitude to mean magnitude. Sharp dominant peak → high confidence; flat noisy spectrum → 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E9F5EC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884F"/>
                </a:solidFill>
                <a:latin typeface="Calibri"/>
              </a:rPr>
              <a:t>HRV (SDNN) + 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Confidence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231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conf = min(1, n_peaks/N) × ibi_penalty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37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What it captures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576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Beat count vs target N (20 for HRV, 25 for stress). IBI coefficient of variation &gt; 0.30 triggers a penalty for likely missed/extra beats.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5544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5875">
            <a:solidFill>
              <a:srgbClr val="C07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731D"/>
                </a:solidFill>
                <a:latin typeface="Calibri"/>
              </a:rPr>
              <a:t>Blood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Confidence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onsolas"/>
              </a:rPr>
              <a:t>conf = 0.10 (fixed)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667A"/>
                </a:solidFill>
                <a:latin typeface="Calibri"/>
              </a:rPr>
              <a:t>What it captures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576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Low floor by design. Classical rPPG physically cannot derive BP without per-subject cuff calibration; placeholder value carries a note flag.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Calibri"/>
              </a:rPr>
              <a:t>WHY THIS MATTERS FOR THE MODEL CONTRACT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Group 3 (risk classification) weights each biomarker contribution by its confidence — high-confidence reading drives risk more than low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Low confidence + note field communicates known limits (BP placeholder) without breaking the JSON contract or guessing a value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Confidence emerges from the math itself (signal SNR, beat count, IBI plausibility) — no second model to train, no additional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Validation plan &amp; early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Held-out evaluation against pulse-oximeter ground truth · classical method has no training step, so the whole UBFC set is held-out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VALIDATION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Primary benchmark — full UBFC-rPPG (n = 42 real subjects)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Metric 1 — MAE in BPM (primary, rubric target)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Metric 2 — RMSE in BPM (penalizes outliers)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Per-subject distribution reported (% within ±1, ±3, ±10)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Secondary — SCAMPS synthetic-data baseline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No training step in classical pipeline → whole UBFC = 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9F5EC"/>
          </a:solidFill>
          <a:ln w="15875">
            <a:solidFill>
              <a:srgbClr val="1E8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4F"/>
                </a:solidFill>
                <a:latin typeface="Calibri"/>
              </a:rPr>
              <a:t>EARLY RESULTS (already 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F44"/>
                </a:solidFill>
                <a:latin typeface="Calibri"/>
              </a:rPr>
              <a:t>4.06 BPM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45C"/>
                </a:solidFill>
                <a:latin typeface="Calibri"/>
              </a:rPr>
              <a:t>MAE on 42 UBFC real-human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A"/>
                </a:solidFill>
                <a:latin typeface="Calibri"/>
              </a:rPr>
              <a:t>Rubric target &lt; 10 BPM   ·   2.5× headroom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F44"/>
                </a:solidFill>
                <a:latin typeface="Calibri"/>
              </a:rPr>
              <a:t>ACCURACY COMPARISON — measured numbers (docs/evaluation_results.md)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22860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165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343400"/>
            <a:ext cx="237744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4165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343400"/>
            <a:ext cx="82296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41655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343400"/>
            <a:ext cx="146304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416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MAE (BPM)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343400"/>
            <a:ext cx="155448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44165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RMSE (BPM)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343400"/>
            <a:ext cx="2743200" cy="365760"/>
          </a:xfrm>
          <a:prstGeom prst="rect">
            <a:avLst/>
          </a:prstGeom>
          <a:solidFill>
            <a:srgbClr val="0F1F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4165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823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UBFC-rPPG (real)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70916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47823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 (ours)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470916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478231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70916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78231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4.06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7091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478231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7.78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70916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478231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PASS — rubric &lt;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22860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1480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UBFC-rPPG (real)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5074920"/>
            <a:ext cx="237744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514807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CHROM (baseline)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5074920"/>
            <a:ext cx="82296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14807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5074920"/>
            <a:ext cx="146304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514807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3.86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5074920"/>
            <a:ext cx="155448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514807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7.35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5074920"/>
            <a:ext cx="27432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51480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PASS — tied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4068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5138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SCAMPS (synthetic)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544068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551383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 (ours)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544068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551383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544068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5513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28.85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544068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55138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38.50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544068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0" y="551383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Synthetic-data limit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806440"/>
            <a:ext cx="22860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87959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SCAMPS (synthetic)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806440"/>
            <a:ext cx="237744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58795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CHROM (baseline)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5806440"/>
            <a:ext cx="82296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5806440"/>
            <a:ext cx="146304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5879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34.83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806440"/>
            <a:ext cx="155448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8795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44.05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20" y="5806440"/>
            <a:ext cx="2743200" cy="365760"/>
          </a:xfrm>
          <a:prstGeom prst="rect">
            <a:avLst/>
          </a:prstGeom>
          <a:solidFill>
            <a:srgbClr val="F6F8FB"/>
          </a:solidFill>
          <a:ln w="6350">
            <a:solidFill>
              <a:srgbClr val="D0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58795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Worse than POS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F44"/>
                </a:solidFill>
                <a:latin typeface="Calibri"/>
              </a:rPr>
              <a:t>Future model extensions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A"/>
                </a:solidFill>
                <a:latin typeface="Calibri"/>
              </a:rPr>
              <a:t>Stretch goals: trained-model artifacts and supporting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A"/>
                </a:solidFill>
                <a:latin typeface="Calibri"/>
              </a:rPr>
              <a:t>AIT 500 · Westcliff University · Group 1 · Week 4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PLANNED MODEL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Level 1 — sklearn regressor over POS-derived features
      Real train/test split (30/6/6 by subject); ~1 day effort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Level 2 — 1D CNN on the POS pulse waveform
      ~3 days; demonstrates end-to-end DL artifact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Level 3 — PhysNet / TS-CAN from raw frames
      ~1 week; GPU required; full deep rPPG model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Level 4 — Blood-pressure regressor on MCD-rPPG
      Replaces BP placeholder; requires cuff-paired training data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Bias evaluation — per-skin-tone MAE breakdown on UBFC
      Honest reporting of demographic performance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Bawack, R. E., et al. (2021). A framework for understanding AI research: insights from practice. J. Enterprise Info. Mgmt., 3(2), 645–678.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Wang, W., den Brinker, A. C., Stuijk, S., de Haan, G. (2017). Algorithmic principles of remote PPG. IEEE TBE 64(7).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de Haan, G., Jeanne, V. (2013). Robust pulse rate from chrominance-based rPPG. IEEE TBE 60(10).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Liu, X., et al. (2023). rPPG-Toolbox: deep remote PPG toolbox. NeurIPS Datasets and Benchmarks.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Bobbia, S., et al. (2019). UBFC-rPPG dataset. Pattern Recog. Letters.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McDuff, D., et al. (2022). SCAMPS synthetic dataset. Microsoft Research.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Lugaresi, C., et al. (2019). MediaPipe FaceMesh. arXiv:1906.08172.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Shaffer, F., Ginsberg, J. P. (2017). HRV metrics and norms. Frontiers in Public Health, 5, 258.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Group 1 Week 3 deliverable — full method-selection rationale.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